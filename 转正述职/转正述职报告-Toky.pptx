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算法整体进度</c:v>
                </c:pt>
              </c:strCache>
            </c:strRef>
          </c:tx>
          <c:spPr>
            <a:solidFill>
              <a:srgbClr val="6A51B7"/>
            </a:solidFill>
            <a:ln w="38100" cap="flat">
              <a:solidFill>
                <a:srgbClr val="6A51B7"/>
              </a:solidFill>
              <a:prstDash val="solid"/>
              <a:round/>
            </a:ln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452D8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6A51B7"/>
              </a:solidFill>
              <a:ln w="9525" cap="flat">
                <a:solidFill>
                  <a:srgbClr val="6A51B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5.18</c:v>
                  </c:pt>
                  <c:pt idx="1">
                    <c:v>5.25</c:v>
                  </c:pt>
                  <c:pt idx="2">
                    <c:v>7.27</c:v>
                  </c:pt>
                  <c:pt idx="3">
                    <c:v>8.03</c:v>
                  </c:pt>
                  <c:pt idx="4">
                    <c:v>8.10</c:v>
                  </c:pt>
                  <c:pt idx="5">
                    <c:v>8.17</c:v>
                  </c:pt>
                  <c:pt idx="6">
                    <c:v>8.24</c:v>
                  </c:pt>
                  <c:pt idx="7">
                    <c:v>8.31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45</c:v>
                </c:pt>
                <c:pt idx="1">
                  <c:v>55</c:v>
                </c:pt>
                <c:pt idx="2">
                  <c:v>70</c:v>
                </c:pt>
                <c:pt idx="3">
                  <c:v>75</c:v>
                </c:pt>
                <c:pt idx="4">
                  <c:v>76</c:v>
                </c:pt>
                <c:pt idx="5">
                  <c:v>83</c:v>
                </c:pt>
                <c:pt idx="6">
                  <c:v>85</c:v>
                </c:pt>
                <c:pt idx="7">
                  <c:v>87</c:v>
                </c:pt>
              </c:numCache>
            </c:numRef>
          </c:val>
          <c:smooth val="0"/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452D8D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8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30"/>
        </c:scaling>
        <c:delete val="0"/>
        <c:axPos val="l"/>
        <c:majorGridlines>
          <c:spPr>
            <a:ln w="12700" cap="flat">
              <a:solidFill>
                <a:srgbClr val="EEEBF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8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开场：各位领导、同事好，我是算法岗的朱业拓，英文名 Toky。今天向大家汇报我在试用期内的工作与成果。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汇报分五部分，重点是第二部分试用期关键成果。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我把算法岗理解为四件事的闭环：数据、模型、工程、协作。缺任何一环，算法都落不了地。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这一页是全篇的骨架。我想强调的不是某个具体分数，而是这六件事在我来之前都不存在，现在都跑通了，而且是彼此打通的一条链路。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先交代目标：8月31日要求抓挠识别准确率不低于 85%，已达成。然后讲验证方法。三只狗训出来的模型在训练个体上约 85%，换一只没见过的马尔济斯会掉到 75% 左右且误报变多；把它的数据补进去重训，四只又回到 85%。所以我的做法是分两条路：单只新增就单独精测，一次来一批就整批测，看具体情况定。狗场先加 6 只做批量验证。数字是算法侧数据集测的，还没经测试同事验收 —— 这点在待提升页会讲。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行为识别四分类已成型；皮肤评估采取规则版与ML版双线并行，在数据不充足时降低单线失败风险。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这四套系统是试用期最实在的产出。采集解决数据从哪来，平台解决数据怎么变成标注，训练解决模型怎么出来，服务解决模型怎么用起来。四套打通，算法才能自己转起来。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这里先说清楚起点：一开始没有可用模型，标注全靠人工。一只狗一天录 24 段、每段一小时，人要从头看到尾，根本看不完。现在 AI 先把候选片段标出来，还会把可能认错、可能漏掉的单独挑出来，人只看这些重点。平台是我认为试用期最有复用价值的产出。它把采集、标注、训练、测试、服务串成一条链路，三套算法都跑在上面。最关键的两个机制是 AI 预标注和疑似片段主动召回 —— 前者把人从重复劳动里解放出来，后者让人力集中在模型最不确定的地方。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现场点开视频播放，另外两项在浏览器里现场演示。重点讲两个机制：AI 预标注让人从「从头标」变成「审核修正」；疑似片段召回把模型最不确定的样本主动推给人工，这两条是标注效率和数据质量的关键。播放控制在 1-2 分钟。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数据资源不能被动等待。从模拟数据起步，到影棚落地，再到狗场合作谈成，这条线是我主动推动的。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算法虽然只有我一个人，但工作是高度依赖协作的。我也会主动提出自己的判断，而不只是执行。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持续产出不是靠某一次冲刺，而是稳定的节奏。16周周报、进度从45%到87%，每周都有实质推进。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这五条是我试用期最重要的方法论沉淀，也是我认为可以持续复用到后续工作中的东西。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这一页是我对自己短板的判断。泛化能力是当前最需要解决的问题，其他三项也都有明确路径。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下一步我最想解决的是泛化能力问题，这决定了产品能不能面向所有用户的狗。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感谢各位，欢迎提问。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6" Type="http://schemas.openxmlformats.org/officeDocument/2006/relationships/slide" Target="slide17.xml"/><Relationship Id="rId7" Type="http://schemas.openxmlformats.org/officeDocument/2006/relationships/slide" Target="slide17.xml"/><Relationship Id="rId9" Type="http://schemas.openxmlformats.org/officeDocument/2006/relationships/slide" Target="slide18.xml"/><Relationship Id="rId10" Type="http://schemas.openxmlformats.org/officeDocument/2006/relationships/slide" Target="slide18.xml"/><Relationship Id="rId1" Type="http://schemas.openxmlformats.org/officeDocument/2006/relationships/image" Target="../media/image-9-1.png"/><Relationship Id="rId2" Type="http://schemas.openxmlformats.org/officeDocument/2006/relationships/video" Target="../media/media-9-2.mp4"/><Relationship Id="rId3" Type="http://schemas.microsoft.com/office/2007/relationships/media" Target="../media/media-9-2.mp4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8" Type="http://schemas.openxmlformats.org/officeDocument/2006/relationships/image" Target="../media/image-9-6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1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" Target="slide9.xml"/><Relationship Id="rId2" Type="http://schemas.openxmlformats.org/officeDocument/2006/relationships/slide" Target="slide9.xml"/><Relationship Id="rId3" Type="http://schemas.openxmlformats.org/officeDocument/2006/relationships/image" Target="../media/image-17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" Target="slide9.xml"/><Relationship Id="rId2" Type="http://schemas.openxmlformats.org/officeDocument/2006/relationships/slide" Target="slide9.xml"/><Relationship Id="rId3" Type="http://schemas.openxmlformats.org/officeDocument/2006/relationships/image" Target="../media/image-18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206240" cy="4206240"/>
          </a:xfrm>
          <a:prstGeom prst="ellipse">
            <a:avLst/>
          </a:prstGeom>
          <a:solidFill>
            <a:srgbClr val="6A51B7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989320" y="5806440"/>
            <a:ext cx="1920240" cy="1920240"/>
          </a:xfrm>
          <a:prstGeom prst="ellipse">
            <a:avLst/>
          </a:prstGeom>
          <a:solidFill>
            <a:srgbClr val="846CCF">
              <a:alpha val="30000"/>
            </a:srgbClr>
          </a:solidFill>
          <a:ln/>
        </p:spPr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658368"/>
            <a:ext cx="1874520" cy="4846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" y="2084832"/>
            <a:ext cx="8595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转正述职报告</a:t>
            </a:r>
            <a:endParaRPr lang="en-US" sz="4200" dirty="0"/>
          </a:p>
        </p:txBody>
      </p:sp>
      <p:sp>
        <p:nvSpPr>
          <p:cNvPr id="6" name="Text 3"/>
          <p:cNvSpPr txBox="1"/>
          <p:nvPr/>
        </p:nvSpPr>
        <p:spPr>
          <a:xfrm>
            <a:off x="795528" y="3072384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Wardyn 项目 · 智能宠物项圈 · 犬只行为识别与皮肤健康评估算法研发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777240" y="3877056"/>
            <a:ext cx="5074920" cy="1115568"/>
          </a:xfrm>
          <a:prstGeom prst="roundRect">
            <a:avLst>
              <a:gd name="adj" fmla="val 8197"/>
            </a:avLst>
          </a:prstGeom>
          <a:solidFill>
            <a:srgbClr val="6A51B7">
              <a:alpha val="65000"/>
            </a:srgbClr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024128" y="4023360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Toky</a:t>
            </a:r>
            <a:pPr indent="0" marL="0">
              <a:buNone/>
            </a:pPr>
            <a:r>
              <a:rPr lang="en-US" sz="13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朱业拓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1042416" y="44805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算法工程师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224528" y="407822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述职日期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4206240" y="4352544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2026.10.08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95528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Innovation for a Clean &amp; Comfortable Life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918972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3400" dirty="0"/>
          </a:p>
        </p:txBody>
      </p:sp>
      <p:sp>
        <p:nvSpPr>
          <p:cNvPr id="14" name="Text 11"/>
          <p:cNvSpPr txBox="1"/>
          <p:nvPr/>
        </p:nvSpPr>
        <p:spPr>
          <a:xfrm>
            <a:off x="992124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↗</a:t>
            </a:r>
            <a:endParaRPr lang="en-US" sz="3400" dirty="0"/>
          </a:p>
        </p:txBody>
      </p:sp>
      <p:sp>
        <p:nvSpPr>
          <p:cNvPr id="15" name="Text 12"/>
          <p:cNvSpPr txBox="1"/>
          <p:nvPr/>
        </p:nvSpPr>
        <p:spPr>
          <a:xfrm>
            <a:off x="10652760" y="4864608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♥</a:t>
            </a:r>
            <a:endParaRPr lang="en-US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目录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72768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6" name="Shape 3"/>
          <p:cNvSpPr/>
          <p:nvPr/>
        </p:nvSpPr>
        <p:spPr>
          <a:xfrm>
            <a:off x="786384" y="1709928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86384" y="17099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517904" y="171907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自我介绍与岗位理解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536192" y="2029968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我是谁，以及我如何理解这个岗位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2514600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D5D0F7"/>
          </a:solidFill>
          <a:ln/>
        </p:spPr>
      </p:sp>
      <p:sp>
        <p:nvSpPr>
          <p:cNvPr id="11" name="Shape 8"/>
          <p:cNvSpPr/>
          <p:nvPr/>
        </p:nvSpPr>
        <p:spPr>
          <a:xfrm>
            <a:off x="786384" y="2651760"/>
            <a:ext cx="512064" cy="51206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86384" y="265176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517904" y="266090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试用期关键成果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536192" y="2971800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算法能力 · 系统平台 · 效果演示 · 数据资源 · 跨团队协作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48640" y="3456432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16" name="Shape 13"/>
          <p:cNvSpPr/>
          <p:nvPr/>
        </p:nvSpPr>
        <p:spPr>
          <a:xfrm>
            <a:off x="786384" y="3593592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86384" y="359359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517904" y="360273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持续产出的验证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536192" y="3913632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进度曲线与迭代节奏，证明可持续交付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48640" y="4398264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21" name="Shape 18"/>
          <p:cNvSpPr/>
          <p:nvPr/>
        </p:nvSpPr>
        <p:spPr>
          <a:xfrm>
            <a:off x="786384" y="4535424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86384" y="453542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1517904" y="454456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个人成长与沉淀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1536192" y="485546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方法论沉淀与认知提升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48640" y="5340096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26" name="Shape 23"/>
          <p:cNvSpPr/>
          <p:nvPr/>
        </p:nvSpPr>
        <p:spPr>
          <a:xfrm>
            <a:off x="786384" y="5477256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86384" y="547725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1517904" y="54864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待提升点与下一步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1536192" y="5797296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短板认知与后续规划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SELF INTRODUCTION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自我介绍与岗位职责理解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17904"/>
            <a:ext cx="4114800" cy="4480560"/>
          </a:xfrm>
          <a:prstGeom prst="roundRect">
            <a:avLst>
              <a:gd name="adj" fmla="val 2222"/>
            </a:avLst>
          </a:prstGeom>
          <a:solidFill>
            <a:srgbClr val="452D8D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41248" y="1773936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Toky</a:t>
            </a:r>
            <a:pPr indent="0" marL="0">
              <a:buNone/>
            </a:pPr>
            <a:r>
              <a:rPr lang="en-US" sz="14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朱业拓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59536" y="224942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算法工程师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859536" y="279806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所属部门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859536" y="301752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用户增长研发部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334670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入职时间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356616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年 4 月中旬（试用期至 10.12）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859536" y="389534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所属项目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859536" y="411480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Wardyn 项目 · 智能宠物项圈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859536" y="444398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负责方向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859536" y="4663440"/>
            <a:ext cx="3566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狗的行为识别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皮肤健康评估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算法工程与数据平台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4956048" y="1572768"/>
            <a:ext cx="6675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我如何理解这个岗位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4974336" y="1920240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把项圈采到的数据，变成主人能看懂、也能放心的健康结论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956048" y="23957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19" name="Shape 16"/>
          <p:cNvSpPr/>
          <p:nvPr/>
        </p:nvSpPr>
        <p:spPr>
          <a:xfrm>
            <a:off x="5175504" y="2542032"/>
            <a:ext cx="475488" cy="475488"/>
          </a:xfrm>
          <a:prstGeom prst="ellipse">
            <a:avLst/>
          </a:prstGeom>
          <a:solidFill>
            <a:srgbClr val="FCC279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175504" y="2542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815584" y="25237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从零建立采集与标注流程，数据质量决定算法上限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956048" y="33101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23" name="Shape 20"/>
          <p:cNvSpPr/>
          <p:nvPr/>
        </p:nvSpPr>
        <p:spPr>
          <a:xfrm>
            <a:off x="5175504" y="3456432"/>
            <a:ext cx="475488" cy="47548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5175504" y="34564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5815584" y="34381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教会算法识别狗的行为，并据此判断健康状况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956048" y="42245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27" name="Shape 24"/>
          <p:cNvSpPr/>
          <p:nvPr/>
        </p:nvSpPr>
        <p:spPr>
          <a:xfrm>
            <a:off x="5175504" y="4370832"/>
            <a:ext cx="475488" cy="475488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5175504" y="43708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工程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5815584" y="43525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把算法做成产品能直接调用的服务，能上线才算数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4956048" y="51389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31" name="Shape 28"/>
          <p:cNvSpPr/>
          <p:nvPr/>
        </p:nvSpPr>
        <p:spPr>
          <a:xfrm>
            <a:off x="5175504" y="5285232"/>
            <a:ext cx="475488" cy="475488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5175504" y="52852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协作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5815584" y="52669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对接产品、后端、硬件、兽医，推动资源到位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KEY RESULTS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试用期关键成果：从 0 到 1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入职时这六件事一件都没有，现在都跑通了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786384" y="17373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能力项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66744" y="17373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入职时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638544" y="1737360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现在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2084832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3F1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86384" y="223113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看懂狗在干什么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3657600" y="224942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没有模型，没有数据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272784" y="2304288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638544" y="2212848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能分辨抓挠、活动、睡觉、没戴项圈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48640" y="2761488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86384" y="2907792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判断皮肤健不健康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3657600" y="29260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没有方案，也没有判断标准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272784" y="2980944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638544" y="2889504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每天自动给出每只狗的健康评分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48640" y="3438144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3F1F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786384" y="3584448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把数据采回来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3657600" y="3602736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没有设备，没有场地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6272784" y="3657600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638544" y="356616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个摄像头 + 12 个项圈，无人值守自动采集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548640" y="4114800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86384" y="426110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把数据整理好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3657600" y="427939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没有工具，没有流程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6272784" y="4334256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6638544" y="4242816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自建标注平台，AI 先标、多人协同核对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548640" y="4791456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3F1F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86384" y="493776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让产品用起来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3657600" y="495604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无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6272784" y="5010912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6638544" y="4919472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已交付后端上线，App 里能看到算法结果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548640" y="5468112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786384" y="561441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有多少只狗可采</a:t>
            </a:r>
            <a:endParaRPr lang="en-US" sz="1250" dirty="0"/>
          </a:p>
        </p:txBody>
      </p:sp>
      <p:sp>
        <p:nvSpPr>
          <p:cNvPr id="36" name="Text 33"/>
          <p:cNvSpPr txBox="1"/>
          <p:nvPr/>
        </p:nvSpPr>
        <p:spPr>
          <a:xfrm>
            <a:off x="3657600" y="563270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只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6272784" y="5687568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6638544" y="5596128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 4 只，狗场 6 只待进场</a:t>
            </a:r>
            <a:endParaRPr 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61996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算法整体进度 45% → 87%，16 周无停滞。</a:t>
            </a:r>
            <a:endParaRPr lang="en-US" sz="1050" dirty="0"/>
          </a:p>
        </p:txBody>
      </p:sp>
      <p:sp>
        <p:nvSpPr>
          <p:cNvPr id="40" name="Text 3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02.1  CORE MODEL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成果一：让项圈看懂狗在干什么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2984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能分辨抓挠、活动、睡觉、没戴项圈，并建立了一套「换只狗还准不准」的检验方法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645920"/>
            <a:ext cx="11091672" cy="548640"/>
          </a:xfrm>
          <a:prstGeom prst="roundRect">
            <a:avLst>
              <a:gd name="adj" fmla="val 16667"/>
            </a:avLst>
          </a:prstGeom>
          <a:solidFill>
            <a:srgbClr val="452D8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4672" y="17739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8.31 目标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2286000" y="177393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抓挠识别准确率 ≥ 85%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358384" y="1773936"/>
            <a:ext cx="786384" cy="292608"/>
          </a:xfrm>
          <a:prstGeom prst="roundRect">
            <a:avLst>
              <a:gd name="adj" fmla="val 21875"/>
            </a:avLst>
          </a:prstGeom>
          <a:solidFill>
            <a:srgbClr val="FCC279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358384" y="1773936"/>
            <a:ext cx="786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已达成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6492240" y="1773936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EVT → DVT 阶段评审节点，算法侧均按期完成对接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48640" y="2359152"/>
            <a:ext cx="3575304" cy="2084832"/>
          </a:xfrm>
          <a:prstGeom prst="roundRect">
            <a:avLst>
              <a:gd name="adj" fmla="val 4386"/>
            </a:avLst>
          </a:prstGeom>
          <a:solidFill>
            <a:srgbClr val="F3F1FF"/>
          </a:solidFill>
          <a:ln/>
        </p:spPr>
      </p:sp>
      <p:sp>
        <p:nvSpPr>
          <p:cNvPr id="13" name="Shape 10"/>
          <p:cNvSpPr/>
          <p:nvPr/>
        </p:nvSpPr>
        <p:spPr>
          <a:xfrm>
            <a:off x="786384" y="2560320"/>
            <a:ext cx="420624" cy="42062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786384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335024" y="25968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第一版模型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822960" y="3108960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用影棚 3 只狗的数据训练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493008"/>
            <a:ext cx="303580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这 3 只狗准确率约 85%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306824" y="2359152"/>
            <a:ext cx="3575304" cy="2084832"/>
          </a:xfrm>
          <a:prstGeom prst="roundRect">
            <a:avLst>
              <a:gd name="adj" fmla="val 4386"/>
            </a:avLst>
          </a:prstGeom>
          <a:solidFill>
            <a:srgbClr val="F3F1FF"/>
          </a:solidFill>
          <a:ln/>
        </p:spPr>
      </p:sp>
      <p:sp>
        <p:nvSpPr>
          <p:cNvPr id="19" name="Shape 16"/>
          <p:cNvSpPr/>
          <p:nvPr/>
        </p:nvSpPr>
        <p:spPr>
          <a:xfrm>
            <a:off x="4544568" y="2560320"/>
            <a:ext cx="420624" cy="42062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544568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093208" y="25968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稳定版 v2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581144" y="3108960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把第 4 只狗的数据也补进去重训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4581144" y="3493008"/>
            <a:ext cx="303580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只狗准确率都到 85%，误报变少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8065008" y="2359152"/>
            <a:ext cx="3575304" cy="2084832"/>
          </a:xfrm>
          <a:prstGeom prst="roundRect">
            <a:avLst>
              <a:gd name="adj" fmla="val 4386"/>
            </a:avLst>
          </a:prstGeom>
          <a:solidFill>
            <a:srgbClr val="452D8D"/>
          </a:solidFill>
          <a:ln/>
        </p:spPr>
      </p:sp>
      <p:sp>
        <p:nvSpPr>
          <p:cNvPr id="25" name="Shape 22"/>
          <p:cNvSpPr/>
          <p:nvPr/>
        </p:nvSpPr>
        <p:spPr>
          <a:xfrm>
            <a:off x="8302752" y="2560320"/>
            <a:ext cx="420624" cy="420624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8302752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8851392" y="25968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怎么验证靠不靠谱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8339328" y="3108960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来一只就单独测，来一批就整批测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8339328" y="3493008"/>
            <a:ext cx="303580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换没见过的狗，看还准不准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548640" y="4645152"/>
            <a:ext cx="11091672" cy="969264"/>
          </a:xfrm>
          <a:prstGeom prst="roundRect">
            <a:avLst>
              <a:gd name="adj" fmla="val 9434"/>
            </a:avLst>
          </a:prstGeom>
          <a:solidFill>
            <a:srgbClr val="D5D0F7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804672" y="486460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下一步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2194560" y="4828032"/>
            <a:ext cx="9235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狗场先加 6 只（1-2 周）做一次批量验证，之后按批次逐步扩大；单只新增就单独测，看具体情况定。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581558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以上为算法自测结果，尚未经测试同事验收。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02.2  CAPABILITY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成果二：从「抓了多少次」到「皮肤健不健康」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48132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能识别的四种状态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1883664"/>
            <a:ext cx="5541264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4672" y="196596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231136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稳定版 v2，4 只狗验证可用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138928" y="2075688"/>
            <a:ext cx="713232" cy="256032"/>
          </a:xfrm>
          <a:prstGeom prst="roundRect">
            <a:avLst>
              <a:gd name="adj" fmla="val 25000"/>
            </a:avLst>
          </a:prstGeom>
          <a:solidFill>
            <a:srgbClr val="6A51B7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138928" y="2075688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可用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548640" y="2642616"/>
            <a:ext cx="5541264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04672" y="2724912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活动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822960" y="299008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基础可用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138928" y="2834640"/>
            <a:ext cx="713232" cy="256032"/>
          </a:xfrm>
          <a:prstGeom prst="roundRect">
            <a:avLst>
              <a:gd name="adj" fmla="val 25000"/>
            </a:avLst>
          </a:prstGeom>
          <a:solidFill>
            <a:srgbClr val="846CC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138928" y="2834640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可用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48640" y="3401568"/>
            <a:ext cx="5541264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04672" y="3483864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睡觉 / 休息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822960" y="374904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基础可用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138928" y="3593592"/>
            <a:ext cx="713232" cy="256032"/>
          </a:xfrm>
          <a:prstGeom prst="roundRect">
            <a:avLst>
              <a:gd name="adj" fmla="val 25000"/>
            </a:avLst>
          </a:prstGeom>
          <a:solidFill>
            <a:srgbClr val="846CC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138928" y="3593592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可用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548640" y="4160520"/>
            <a:ext cx="5541264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804672" y="4242816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没戴项圈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822960" y="4507992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基础可用，线上待接入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5138928" y="4352544"/>
            <a:ext cx="713232" cy="256032"/>
          </a:xfrm>
          <a:prstGeom prst="roundRect">
            <a:avLst>
              <a:gd name="adj" fmla="val 25000"/>
            </a:avLst>
          </a:prstGeom>
          <a:solidFill>
            <a:srgbClr val="846CCF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138928" y="4352544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可用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6345936" y="148132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两种打分方式，都已跑通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6327648" y="1883664"/>
            <a:ext cx="5312664" cy="1481328"/>
          </a:xfrm>
          <a:prstGeom prst="roundRect">
            <a:avLst>
              <a:gd name="adj" fmla="val 6173"/>
            </a:avLst>
          </a:prstGeom>
          <a:solidFill>
            <a:srgbClr val="F3F1FF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6565392" y="202996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规则版：按兽医定的规则打分</a:t>
            </a:r>
            <a:endParaRPr lang="en-US" sz="1250" dirty="0"/>
          </a:p>
        </p:txBody>
      </p:sp>
      <p:sp>
        <p:nvSpPr>
          <p:cNvPr id="29" name="Text 26"/>
          <p:cNvSpPr txBox="1"/>
          <p:nvPr/>
        </p:nvSpPr>
        <p:spPr>
          <a:xfrm>
            <a:off x="6583680" y="2340864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网页系统已完成，兽医可直接填写问诊记录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自动接入每天的抓挠统计，算出健康等级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每一分怎么来的都能说清楚，方便兽医核对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6327648" y="3511296"/>
            <a:ext cx="5312664" cy="1700784"/>
          </a:xfrm>
          <a:prstGeom prst="roundRect">
            <a:avLst>
              <a:gd name="adj" fmla="val 5376"/>
            </a:avLst>
          </a:prstGeom>
          <a:solidFill>
            <a:srgbClr val="452D8D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6565392" y="365760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学习版：让模型自己从数据里学</a:t>
            </a:r>
            <a:endParaRPr lang="en-US" sz="1250" dirty="0"/>
          </a:p>
        </p:txBody>
      </p:sp>
      <p:sp>
        <p:nvSpPr>
          <p:cNvPr id="32" name="Text 29"/>
          <p:cNvSpPr txBox="1"/>
          <p:nvPr/>
        </p:nvSpPr>
        <p:spPr>
          <a:xfrm>
            <a:off x="6583680" y="3968496"/>
            <a:ext cx="484632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第一步：由行为数据判断皮肤等级，每天自动跑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第二步：结合主人的问答，给出综合评估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方案已验证可行，等真实病例数据再训练一轮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每只狗有自己的「正常水平」作参照，已在内部每天运行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48640" y="5358384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D5D0F7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804672" y="554126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当前状态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2651760" y="5504688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整条路已经跑通，每天自动出结果，方向验证可行。</a:t>
            </a:r>
            <a:endParaRPr lang="en-US" sz="1250" dirty="0"/>
          </a:p>
        </p:txBody>
      </p:sp>
      <p:sp>
        <p:nvSpPr>
          <p:cNvPr id="36" name="Text 33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02.3  SYSTEMS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成果三：把整条流水线搭起来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采数据、理数据、练模型、上线用，四个环节都自己搭，而且是打通的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700784"/>
            <a:ext cx="5431536" cy="2048256"/>
          </a:xfrm>
          <a:prstGeom prst="roundRect">
            <a:avLst>
              <a:gd name="adj" fmla="val 4464"/>
            </a:avLst>
          </a:prstGeom>
          <a:solidFill>
            <a:srgbClr val="452D8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22960" y="188366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把数据采回来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4663440" y="1883664"/>
            <a:ext cx="1078992" cy="274320"/>
          </a:xfrm>
          <a:prstGeom prst="roundRect">
            <a:avLst>
              <a:gd name="adj" fmla="val 23333"/>
            </a:avLst>
          </a:prstGeom>
          <a:solidFill>
            <a:srgbClr val="FCC279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663440" y="1883664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数据入口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832104" y="217627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摄像头 + 项圈同步录制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2468880"/>
            <a:ext cx="4901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个摄像头 + 12 个项圈，开机自动录、每天自动归档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画面和项圈数据严丝合缝对上，这是能标注的前提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打通了自研项圈的数据读取，也兼容外购设备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208776" y="1700784"/>
            <a:ext cx="5431536" cy="2048256"/>
          </a:xfrm>
          <a:prstGeom prst="roundRect">
            <a:avLst>
              <a:gd name="adj" fmla="val 4464"/>
            </a:avLst>
          </a:prstGeom>
          <a:solidFill>
            <a:srgbClr val="F3F1F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483096" y="188366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把数据整理好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10323576" y="1883664"/>
            <a:ext cx="1078992" cy="274320"/>
          </a:xfrm>
          <a:prstGeom prst="roundRect">
            <a:avLst>
              <a:gd name="adj" fmla="val 23333"/>
            </a:avLst>
          </a:prstGeom>
          <a:solidFill>
            <a:srgbClr val="846CC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0323576" y="1883664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数据加工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492240" y="217627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自建标注平台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6483096" y="2468880"/>
            <a:ext cx="4901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任务分发、领取、审核、复核，多人可同时干活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自己搭的平台替换了原来的开源工具，老数据全部迁过来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先标 → 人工核对 → 训练模型 → 直接换上新模型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48640" y="3895344"/>
            <a:ext cx="5431536" cy="2048256"/>
          </a:xfrm>
          <a:prstGeom prst="roundRect">
            <a:avLst>
              <a:gd name="adj" fmla="val 4464"/>
            </a:avLst>
          </a:prstGeom>
          <a:solidFill>
            <a:srgbClr val="F3F1F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22960" y="407822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把模型练出来</a:t>
            </a:r>
            <a:endParaRPr lang="en-US" sz="1350" dirty="0"/>
          </a:p>
        </p:txBody>
      </p:sp>
      <p:sp>
        <p:nvSpPr>
          <p:cNvPr id="20" name="Shape 17"/>
          <p:cNvSpPr/>
          <p:nvPr/>
        </p:nvSpPr>
        <p:spPr>
          <a:xfrm>
            <a:off x="4663440" y="4078224"/>
            <a:ext cx="1078992" cy="274320"/>
          </a:xfrm>
          <a:prstGeom prst="roundRect">
            <a:avLst>
              <a:gd name="adj" fmla="val 23333"/>
            </a:avLst>
          </a:prstGeom>
          <a:solidFill>
            <a:srgbClr val="846CCF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663440" y="4078224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模型产出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832104" y="437083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多种方案横向比较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822960" y="4663440"/>
            <a:ext cx="4901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多种模型方案横向比较，挑效果最好的用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自己写了评测方法，能发现「一次抓挠被切成好几段」这类错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皮肤评分同时试了三条路线，避免押注单一方案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6208776" y="3895344"/>
            <a:ext cx="5431536" cy="2048256"/>
          </a:xfrm>
          <a:prstGeom prst="roundRect">
            <a:avLst>
              <a:gd name="adj" fmla="val 4464"/>
            </a:avLst>
          </a:prstGeom>
          <a:solidFill>
            <a:srgbClr val="F3F1FF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483096" y="407822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让产品用起来</a:t>
            </a:r>
            <a:endParaRPr lang="en-US" sz="1350" dirty="0"/>
          </a:p>
        </p:txBody>
      </p:sp>
      <p:sp>
        <p:nvSpPr>
          <p:cNvPr id="26" name="Shape 23"/>
          <p:cNvSpPr/>
          <p:nvPr/>
        </p:nvSpPr>
        <p:spPr>
          <a:xfrm>
            <a:off x="10323576" y="4078224"/>
            <a:ext cx="1078992" cy="274320"/>
          </a:xfrm>
          <a:prstGeom prst="roundRect">
            <a:avLst>
              <a:gd name="adj" fmla="val 23333"/>
            </a:avLst>
          </a:prstGeom>
          <a:solidFill>
            <a:srgbClr val="846CC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10323576" y="4078224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线上落地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6492240" y="437083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每天自动出结果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6483096" y="4663440"/>
            <a:ext cx="4901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 15 秒处理一批新数据，每天凌晨自动出评估结果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按用户所在时区切分「一天」，避免时差算错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核心逻辑都有自动化测试兜底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已交付后端并完成外网部署，App 里能看到结果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608990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四套系统均配有完整设计文档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02.4  PLATFORM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成果四：AI 先干粗活，人只做把关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早期没有可用模型，只能纯人工标注 —— 一只狗一天录 24 段、每段 1 小时，靠人从头看到尾，费时又费人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D5D0F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48640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采集数据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2240280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404872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6A51B7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2404872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先标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4096512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261104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6A51B7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261104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人工核对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5952744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117336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D5D0F7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117336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训练模型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7808976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7973568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D5D0F7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973568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测试效果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9665208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9829800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D5D0F7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9829800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上线使用</a:t>
            </a:r>
            <a:endParaRPr lang="en-US" sz="1150" dirty="0"/>
          </a:p>
        </p:txBody>
      </p:sp>
      <p:pic>
        <p:nvPicPr>
          <p:cNvPr id="23" name="Image 1" descr="media/revi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450592"/>
            <a:ext cx="6035040" cy="2862072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548640" y="5385816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标注核对界面：三路画面与项圈数据同步回看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6803136" y="2450592"/>
            <a:ext cx="4837176" cy="868680"/>
          </a:xfrm>
          <a:prstGeom prst="roundRect">
            <a:avLst>
              <a:gd name="adj" fmla="val 10526"/>
            </a:avLst>
          </a:prstGeom>
          <a:solidFill>
            <a:srgbClr val="F3F1FF"/>
          </a:solidFill>
          <a:ln/>
        </p:spPr>
      </p:sp>
      <p:sp>
        <p:nvSpPr>
          <p:cNvPr id="26" name="Shape 22"/>
          <p:cNvSpPr/>
          <p:nvPr/>
        </p:nvSpPr>
        <p:spPr>
          <a:xfrm>
            <a:off x="7004304" y="2688336"/>
            <a:ext cx="384048" cy="38404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7004304" y="2688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7498080" y="256032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先标，人只做核对</a:t>
            </a:r>
            <a:endParaRPr lang="en-US" sz="1200" dirty="0"/>
          </a:p>
        </p:txBody>
      </p:sp>
      <p:sp>
        <p:nvSpPr>
          <p:cNvPr id="29" name="Text 25"/>
          <p:cNvSpPr txBox="1"/>
          <p:nvPr/>
        </p:nvSpPr>
        <p:spPr>
          <a:xfrm>
            <a:off x="7498080" y="2834640"/>
            <a:ext cx="3986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模型先给出候选片段，人从「一帧帧从头标」变成「核对和修正」</a:t>
            </a:r>
            <a:endParaRPr lang="en-US" sz="950" dirty="0"/>
          </a:p>
        </p:txBody>
      </p:sp>
      <p:sp>
        <p:nvSpPr>
          <p:cNvPr id="30" name="Shape 26"/>
          <p:cNvSpPr/>
          <p:nvPr/>
        </p:nvSpPr>
        <p:spPr>
          <a:xfrm>
            <a:off x="6803136" y="3447288"/>
            <a:ext cx="4837176" cy="868680"/>
          </a:xfrm>
          <a:prstGeom prst="roundRect">
            <a:avLst>
              <a:gd name="adj" fmla="val 10526"/>
            </a:avLst>
          </a:prstGeom>
          <a:solidFill>
            <a:srgbClr val="F3F1FF"/>
          </a:solidFill>
          <a:ln/>
        </p:spPr>
      </p:sp>
      <p:sp>
        <p:nvSpPr>
          <p:cNvPr id="31" name="Shape 27"/>
          <p:cNvSpPr/>
          <p:nvPr/>
        </p:nvSpPr>
        <p:spPr>
          <a:xfrm>
            <a:off x="7004304" y="3685032"/>
            <a:ext cx="384048" cy="38404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32" name="Text 28"/>
          <p:cNvSpPr txBox="1"/>
          <p:nvPr/>
        </p:nvSpPr>
        <p:spPr>
          <a:xfrm>
            <a:off x="7004304" y="36850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33" name="Text 29"/>
          <p:cNvSpPr txBox="1"/>
          <p:nvPr/>
        </p:nvSpPr>
        <p:spPr>
          <a:xfrm>
            <a:off x="7498080" y="3557016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可疑的也一并挑出来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7498080" y="3831336"/>
            <a:ext cx="3986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可能认错的、可能漏掉的都单独列出，人重点看这些，不用整段翻</a:t>
            </a:r>
            <a:endParaRPr lang="en-US" sz="950" dirty="0"/>
          </a:p>
        </p:txBody>
      </p:sp>
      <p:sp>
        <p:nvSpPr>
          <p:cNvPr id="35" name="Shape 31"/>
          <p:cNvSpPr/>
          <p:nvPr/>
        </p:nvSpPr>
        <p:spPr>
          <a:xfrm>
            <a:off x="6803136" y="4443984"/>
            <a:ext cx="4837176" cy="868680"/>
          </a:xfrm>
          <a:prstGeom prst="roundRect">
            <a:avLst>
              <a:gd name="adj" fmla="val 10526"/>
            </a:avLst>
          </a:prstGeom>
          <a:solidFill>
            <a:srgbClr val="F3F1FF"/>
          </a:solidFill>
          <a:ln/>
        </p:spPr>
      </p:sp>
      <p:sp>
        <p:nvSpPr>
          <p:cNvPr id="36" name="Shape 32"/>
          <p:cNvSpPr/>
          <p:nvPr/>
        </p:nvSpPr>
        <p:spPr>
          <a:xfrm>
            <a:off x="7004304" y="4681728"/>
            <a:ext cx="384048" cy="38404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37" name="Text 33"/>
          <p:cNvSpPr txBox="1"/>
          <p:nvPr/>
        </p:nvSpPr>
        <p:spPr>
          <a:xfrm>
            <a:off x="7004304" y="4681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38" name="Text 34"/>
          <p:cNvSpPr txBox="1"/>
          <p:nvPr/>
        </p:nvSpPr>
        <p:spPr>
          <a:xfrm>
            <a:off x="7498080" y="4553712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多人可以一起干</a:t>
            </a:r>
            <a:endParaRPr lang="en-US" sz="1200" dirty="0"/>
          </a:p>
        </p:txBody>
      </p:sp>
      <p:sp>
        <p:nvSpPr>
          <p:cNvPr id="39" name="Text 35"/>
          <p:cNvSpPr txBox="1"/>
          <p:nvPr/>
        </p:nvSpPr>
        <p:spPr>
          <a:xfrm>
            <a:off x="7498080" y="4828032"/>
            <a:ext cx="3986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任务分发领取、逐条或整份通过，不同角色只看该看的数据</a:t>
            </a:r>
            <a:endParaRPr lang="en-US" sz="950" dirty="0"/>
          </a:p>
        </p:txBody>
      </p:sp>
      <p:sp>
        <p:nvSpPr>
          <p:cNvPr id="40" name="Shape 36"/>
          <p:cNvSpPr/>
          <p:nvPr/>
        </p:nvSpPr>
        <p:spPr>
          <a:xfrm>
            <a:off x="548640" y="5760720"/>
            <a:ext cx="11091672" cy="658368"/>
          </a:xfrm>
          <a:prstGeom prst="roundRect">
            <a:avLst>
              <a:gd name="adj" fmla="val 13889"/>
            </a:avLst>
          </a:prstGeom>
          <a:solidFill>
            <a:srgbClr val="452D8D"/>
          </a:solidFill>
          <a:ln/>
        </p:spPr>
      </p:sp>
      <p:sp>
        <p:nvSpPr>
          <p:cNvPr id="41" name="Text 37"/>
          <p:cNvSpPr txBox="1"/>
          <p:nvPr/>
        </p:nvSpPr>
        <p:spPr>
          <a:xfrm>
            <a:off x="804672" y="596188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平台承载的算法</a:t>
            </a:r>
            <a:endParaRPr lang="en-US" sz="1100" dirty="0"/>
          </a:p>
        </p:txBody>
      </p:sp>
      <p:sp>
        <p:nvSpPr>
          <p:cNvPr id="42" name="Text 38"/>
          <p:cNvSpPr txBox="1"/>
          <p:nvPr/>
        </p:nvSpPr>
        <p:spPr>
          <a:xfrm>
            <a:off x="2743200" y="594360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平台上同时跑着：行为识别　·　皮肤健康评估　·　口腔牙齿检测</a:t>
            </a:r>
            <a:endParaRPr lang="en-US" sz="1100" dirty="0"/>
          </a:p>
        </p:txBody>
      </p:sp>
      <p:sp>
        <p:nvSpPr>
          <p:cNvPr id="43" name="Text 39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02.5  LIVE DEMO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算法效果演示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93776" y="1591056"/>
            <a:ext cx="6830568" cy="3294960"/>
          </a:xfrm>
          <a:prstGeom prst="roundRect">
            <a:avLst>
              <a:gd name="adj" fmla="val 2220"/>
            </a:avLst>
          </a:prstGeom>
          <a:solidFill>
            <a:srgbClr val="452D8D"/>
          </a:solidFill>
          <a:ln/>
        </p:spPr>
      </p:sp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48640" y="1645920"/>
            <a:ext cx="6720840" cy="31852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4977456"/>
            <a:ext cx="672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放映时点击画面播放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7571232" y="16459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抓挠检出与人工核对  —  请看四处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7552944" y="2011680"/>
            <a:ext cx="4087368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10" name="Shape 6"/>
          <p:cNvSpPr/>
          <p:nvPr/>
        </p:nvSpPr>
        <p:spPr>
          <a:xfrm>
            <a:off x="7735824" y="2157984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7735824" y="21579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8193024" y="205740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三路画面同步</a:t>
            </a:r>
            <a:endParaRPr 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8193024" y="231343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三个摄像头与项圈数据共用一条时间轴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7552944" y="2734056"/>
            <a:ext cx="4087368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15" name="Shape 11"/>
          <p:cNvSpPr/>
          <p:nvPr/>
        </p:nvSpPr>
        <p:spPr>
          <a:xfrm>
            <a:off x="7735824" y="2880360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7735824" y="28803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8193024" y="2779776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标出的片段</a:t>
            </a:r>
            <a:endParaRPr lang="en-US" sz="1150" dirty="0"/>
          </a:p>
        </p:txBody>
      </p:sp>
      <p:sp>
        <p:nvSpPr>
          <p:cNvPr id="18" name="Text 14"/>
          <p:cNvSpPr txBox="1"/>
          <p:nvPr/>
        </p:nvSpPr>
        <p:spPr>
          <a:xfrm>
            <a:off x="8193024" y="30358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模型标出 11.7 秒抓挠，把握 88%</a:t>
            </a:r>
            <a:endParaRPr lang="en-US" sz="950" dirty="0"/>
          </a:p>
        </p:txBody>
      </p:sp>
      <p:sp>
        <p:nvSpPr>
          <p:cNvPr id="19" name="Shape 15"/>
          <p:cNvSpPr/>
          <p:nvPr/>
        </p:nvSpPr>
        <p:spPr>
          <a:xfrm>
            <a:off x="7552944" y="3456432"/>
            <a:ext cx="4087368" cy="640080"/>
          </a:xfrm>
          <a:prstGeom prst="roundRect">
            <a:avLst>
              <a:gd name="adj" fmla="val 14286"/>
            </a:avLst>
          </a:prstGeom>
          <a:solidFill>
            <a:srgbClr val="D5D0F7"/>
          </a:solidFill>
          <a:ln/>
        </p:spPr>
      </p:sp>
      <p:sp>
        <p:nvSpPr>
          <p:cNvPr id="20" name="Shape 16"/>
          <p:cNvSpPr/>
          <p:nvPr/>
        </p:nvSpPr>
        <p:spPr>
          <a:xfrm>
            <a:off x="7735824" y="3602736"/>
            <a:ext cx="347472" cy="347472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7735824" y="36027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18"/>
          <p:cNvSpPr txBox="1"/>
          <p:nvPr/>
        </p:nvSpPr>
        <p:spPr>
          <a:xfrm>
            <a:off x="8193024" y="3502152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拿不准的片段</a:t>
            </a:r>
            <a:endParaRPr lang="en-US" sz="1150" dirty="0"/>
          </a:p>
        </p:txBody>
      </p:sp>
      <p:sp>
        <p:nvSpPr>
          <p:cNvPr id="23" name="Text 19"/>
          <p:cNvSpPr txBox="1"/>
          <p:nvPr/>
        </p:nvSpPr>
        <p:spPr>
          <a:xfrm>
            <a:off x="8193024" y="375818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没把握的地方单独挑出，等人判断</a:t>
            </a:r>
            <a:endParaRPr lang="en-US" sz="950" dirty="0"/>
          </a:p>
        </p:txBody>
      </p:sp>
      <p:sp>
        <p:nvSpPr>
          <p:cNvPr id="24" name="Shape 20"/>
          <p:cNvSpPr/>
          <p:nvPr/>
        </p:nvSpPr>
        <p:spPr>
          <a:xfrm>
            <a:off x="7552944" y="4178808"/>
            <a:ext cx="4087368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25" name="Shape 21"/>
          <p:cNvSpPr/>
          <p:nvPr/>
        </p:nvSpPr>
        <p:spPr>
          <a:xfrm>
            <a:off x="7735824" y="4325112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6" name="Text 22"/>
          <p:cNvSpPr txBox="1"/>
          <p:nvPr/>
        </p:nvSpPr>
        <p:spPr>
          <a:xfrm>
            <a:off x="7735824" y="43251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Text 23"/>
          <p:cNvSpPr txBox="1"/>
          <p:nvPr/>
        </p:nvSpPr>
        <p:spPr>
          <a:xfrm>
            <a:off x="8193024" y="4224528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人工核对</a:t>
            </a:r>
            <a:endParaRPr lang="en-US" sz="1150" dirty="0"/>
          </a:p>
        </p:txBody>
      </p:sp>
      <p:sp>
        <p:nvSpPr>
          <p:cNvPr id="28" name="Text 24"/>
          <p:cNvSpPr txBox="1"/>
          <p:nvPr/>
        </p:nvSpPr>
        <p:spPr>
          <a:xfrm>
            <a:off x="8193024" y="44805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认领修改 / 整份通过，多人可同时进行</a:t>
            </a:r>
            <a:endParaRPr 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548640" y="5010912"/>
            <a:ext cx="5431536" cy="1298448"/>
          </a:xfrm>
          <a:prstGeom prst="roundRect">
            <a:avLst>
              <a:gd name="adj" fmla="val 7042"/>
            </a:avLst>
          </a:prstGeom>
          <a:solidFill>
            <a:srgbClr val="F3F1FF"/>
          </a:solidFill>
          <a:ln/>
        </p:spPr>
      </p:sp>
      <p:sp>
        <p:nvSpPr>
          <p:cNvPr id="30" name="Shape 26"/>
          <p:cNvSpPr/>
          <p:nvPr/>
        </p:nvSpPr>
        <p:spPr>
          <a:xfrm>
            <a:off x="713232" y="5120640"/>
            <a:ext cx="1883664" cy="1078992"/>
          </a:xfrm>
          <a:prstGeom prst="roundRect">
            <a:avLst>
              <a:gd name="adj" fmla="val 5085"/>
            </a:avLst>
          </a:prstGeom>
          <a:solidFill>
            <a:srgbClr val="452D8D"/>
          </a:solidFill>
          <a:ln/>
        </p:spPr>
      </p:sp>
      <p:pic>
        <p:nvPicPr>
          <p:cNvPr id="31" name="Image 1" descr="media/platform.png">
            <a:hlinkClick r:id="rId6" tooltip="点击放大" action="ppaction://hlinksldjump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32" y="5213256"/>
            <a:ext cx="1883664" cy="893759"/>
          </a:xfrm>
          <a:prstGeom prst="rect">
            <a:avLst/>
          </a:prstGeom>
        </p:spPr>
      </p:pic>
      <p:sp>
        <p:nvSpPr>
          <p:cNvPr id="32" name="Shape 27">
            <a:hlinkClick r:id="rId7" tooltip="点击放大" action="ppaction://hlinksldjump"/>
          </p:cNvPr>
          <p:cNvSpPr/>
          <p:nvPr/>
        </p:nvSpPr>
        <p:spPr>
          <a:xfrm>
            <a:off x="713232" y="5120640"/>
            <a:ext cx="1883664" cy="1078992"/>
          </a:xfrm>
          <a:prstGeom prst="roundRect">
            <a:avLst>
              <a:gd name="adj" fmla="val 5085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2761488" y="6016752"/>
            <a:ext cx="3072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点击放大</a:t>
            </a:r>
            <a:endParaRPr lang="en-US" sz="900" dirty="0"/>
          </a:p>
        </p:txBody>
      </p:sp>
      <p:sp>
        <p:nvSpPr>
          <p:cNvPr id="34" name="Text 29"/>
          <p:cNvSpPr txBox="1"/>
          <p:nvPr/>
        </p:nvSpPr>
        <p:spPr>
          <a:xfrm>
            <a:off x="2761488" y="5266944"/>
            <a:ext cx="3072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皮肤评估每日跟踪</a:t>
            </a:r>
            <a:endParaRPr lang="en-US" sz="1250" dirty="0"/>
          </a:p>
        </p:txBody>
      </p:sp>
      <p:sp>
        <p:nvSpPr>
          <p:cNvPr id="35" name="Text 30"/>
          <p:cNvSpPr txBox="1"/>
          <p:nvPr/>
        </p:nvSpPr>
        <p:spPr>
          <a:xfrm>
            <a:off x="2761488" y="5577840"/>
            <a:ext cx="3072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每只狗每天自动出佩戴时长、抓挠统计与健康评分</a:t>
            </a:r>
            <a:endParaRPr lang="en-US" sz="1000" dirty="0"/>
          </a:p>
        </p:txBody>
      </p:sp>
      <p:sp>
        <p:nvSpPr>
          <p:cNvPr id="36" name="Shape 31"/>
          <p:cNvSpPr/>
          <p:nvPr/>
        </p:nvSpPr>
        <p:spPr>
          <a:xfrm>
            <a:off x="6208776" y="5010912"/>
            <a:ext cx="5431536" cy="1298448"/>
          </a:xfrm>
          <a:prstGeom prst="roundRect">
            <a:avLst>
              <a:gd name="adj" fmla="val 7042"/>
            </a:avLst>
          </a:prstGeom>
          <a:solidFill>
            <a:srgbClr val="F3F1FF"/>
          </a:solidFill>
          <a:ln/>
        </p:spPr>
      </p:sp>
      <p:sp>
        <p:nvSpPr>
          <p:cNvPr id="37" name="Shape 32"/>
          <p:cNvSpPr/>
          <p:nvPr/>
        </p:nvSpPr>
        <p:spPr>
          <a:xfrm>
            <a:off x="6373368" y="5120640"/>
            <a:ext cx="1883664" cy="1078992"/>
          </a:xfrm>
          <a:prstGeom prst="roundRect">
            <a:avLst>
              <a:gd name="adj" fmla="val 5085"/>
            </a:avLst>
          </a:prstGeom>
          <a:solidFill>
            <a:srgbClr val="452D8D"/>
          </a:solidFill>
          <a:ln/>
        </p:spPr>
      </p:sp>
      <p:pic>
        <p:nvPicPr>
          <p:cNvPr id="38" name="Image 2" descr="media/tartar.png">
            <a:hlinkClick r:id="rId9" tooltip="点击放大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16121" y="5120640"/>
            <a:ext cx="1198158" cy="1078992"/>
          </a:xfrm>
          <a:prstGeom prst="rect">
            <a:avLst/>
          </a:prstGeom>
        </p:spPr>
      </p:pic>
      <p:sp>
        <p:nvSpPr>
          <p:cNvPr id="39" name="Shape 33">
            <a:hlinkClick r:id="rId10" tooltip="点击放大" action="ppaction://hlinksldjump"/>
          </p:cNvPr>
          <p:cNvSpPr/>
          <p:nvPr/>
        </p:nvSpPr>
        <p:spPr>
          <a:xfrm>
            <a:off x="6373368" y="5120640"/>
            <a:ext cx="1883664" cy="1078992"/>
          </a:xfrm>
          <a:prstGeom prst="roundRect">
            <a:avLst>
              <a:gd name="adj" fmla="val 5085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4"/>
          <p:cNvSpPr txBox="1"/>
          <p:nvPr/>
        </p:nvSpPr>
        <p:spPr>
          <a:xfrm>
            <a:off x="8421624" y="6016752"/>
            <a:ext cx="3072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点击放大</a:t>
            </a:r>
            <a:endParaRPr lang="en-US" sz="900" dirty="0"/>
          </a:p>
        </p:txBody>
      </p:sp>
      <p:sp>
        <p:nvSpPr>
          <p:cNvPr id="41" name="Text 35"/>
          <p:cNvSpPr txBox="1"/>
          <p:nvPr/>
        </p:nvSpPr>
        <p:spPr>
          <a:xfrm>
            <a:off x="8421624" y="5266944"/>
            <a:ext cx="3072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口腔牙齿检测</a:t>
            </a:r>
            <a:endParaRPr lang="en-US" sz="1250" dirty="0"/>
          </a:p>
        </p:txBody>
      </p:sp>
      <p:sp>
        <p:nvSpPr>
          <p:cNvPr id="42" name="Text 36"/>
          <p:cNvSpPr txBox="1"/>
          <p:nvPr/>
        </p:nvSpPr>
        <p:spPr>
          <a:xfrm>
            <a:off x="8421624" y="5577840"/>
            <a:ext cx="3072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上传照片即可判断正常或异常</a:t>
            </a:r>
            <a:endParaRPr lang="en-US" sz="1000" dirty="0"/>
          </a:p>
        </p:txBody>
      </p:sp>
      <p:sp>
        <p:nvSpPr>
          <p:cNvPr id="43" name="Text 3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/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fullScrn="1">
                <p:cTn id="3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02.6  DATA ASSETS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成果五：从没有一只狗，到 10 只狗可采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从没有一条数据可用，到每天都有稳定的数据进来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2121408" cy="246888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2029968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846CC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68096" y="2029968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月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68096" y="2487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先用模拟数据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768096" y="2962656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真实数据还没有，自己造数据把流程跑通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798064" y="1828800"/>
            <a:ext cx="2121408" cy="246888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12" name="Shape 9"/>
          <p:cNvSpPr/>
          <p:nvPr/>
        </p:nvSpPr>
        <p:spPr>
          <a:xfrm>
            <a:off x="3017520" y="2029968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6A51B7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017520" y="2029968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月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3017520" y="2487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拿到第一批真数据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3017520" y="2962656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影棚开始采集，解决了画面与数据对不齐的老问题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047488" y="1828800"/>
            <a:ext cx="2121408" cy="246888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17" name="Shape 14"/>
          <p:cNvSpPr/>
          <p:nvPr/>
        </p:nvSpPr>
        <p:spPr>
          <a:xfrm>
            <a:off x="5266944" y="2029968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6A51B7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266944" y="2029968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月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266944" y="2487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采集流程定型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5266944" y="2962656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方案固定下来，狗增加到 3 只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296912" y="1828800"/>
            <a:ext cx="2121408" cy="246888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22" name="Shape 19"/>
          <p:cNvSpPr/>
          <p:nvPr/>
        </p:nvSpPr>
        <p:spPr>
          <a:xfrm>
            <a:off x="7516368" y="2029968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F7BA59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516368" y="2029968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月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516368" y="2487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为规模化铺路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7516368" y="2962656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输出采集方案供商务谈合作，转向龙岗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9546336" y="1828800"/>
            <a:ext cx="2121408" cy="246888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27" name="Shape 24"/>
          <p:cNvSpPr/>
          <p:nvPr/>
        </p:nvSpPr>
        <p:spPr>
          <a:xfrm>
            <a:off x="9765792" y="2029968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F7BA59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9765792" y="2029968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月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9765792" y="2487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狗场谈成</a:t>
            </a:r>
            <a:endParaRPr lang="en-US" sz="1250" dirty="0"/>
          </a:p>
        </p:txBody>
      </p:sp>
      <p:sp>
        <p:nvSpPr>
          <p:cNvPr id="30" name="Text 27"/>
          <p:cNvSpPr txBox="1"/>
          <p:nvPr/>
        </p:nvSpPr>
        <p:spPr>
          <a:xfrm>
            <a:off x="9765792" y="2962656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龙岗实地考察通过，6 间犬舍 6 只狗可采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548640" y="4498848"/>
            <a:ext cx="5431536" cy="1481328"/>
          </a:xfrm>
          <a:prstGeom prst="roundRect">
            <a:avLst>
              <a:gd name="adj" fmla="val 6173"/>
            </a:avLst>
          </a:prstGeom>
          <a:solidFill>
            <a:srgbClr val="452D8D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804672" y="466344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可采集犬只资源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822960" y="4974336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 0 → 4 只　·　龙岗狗场 6 只已谈妥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822960" y="53035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长远按 30 → 50 → 70 → 100 → 150 只分阶段扩大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6208776" y="4498848"/>
            <a:ext cx="5431536" cy="1481328"/>
          </a:xfrm>
          <a:prstGeom prst="roundRect">
            <a:avLst>
              <a:gd name="adj" fmla="val 6173"/>
            </a:avLst>
          </a:prstGeom>
          <a:solidFill>
            <a:srgbClr val="D5D0F7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6464808" y="466344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主动推动的关键判断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6483096" y="4974336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沙井狗场报价 1000 元一只一天，判断不划算果断放弃，转向龙岗并推动谈成。</a:t>
            </a:r>
            <a:endParaRPr lang="en-US" sz="1050" dirty="0"/>
          </a:p>
        </p:txBody>
      </p:sp>
      <p:sp>
        <p:nvSpPr>
          <p:cNvPr id="38" name="Text 35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02.7  COLLABORATION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成果六：推动跨团队把事情落地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54480"/>
            <a:ext cx="7223760" cy="676656"/>
          </a:xfrm>
          <a:prstGeom prst="roundRect">
            <a:avLst>
              <a:gd name="adj" fmla="val 13514"/>
            </a:avLst>
          </a:prstGeom>
          <a:solidFill>
            <a:srgbClr val="F3F1FF"/>
          </a:solidFill>
          <a:ln/>
        </p:spPr>
      </p:sp>
      <p:sp>
        <p:nvSpPr>
          <p:cNvPr id="6" name="Shape 3"/>
          <p:cNvSpPr/>
          <p:nvPr/>
        </p:nvSpPr>
        <p:spPr>
          <a:xfrm>
            <a:off x="768096" y="1737360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6A51B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68096" y="1737360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后端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2084832" y="1645920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配合调整数据存储方式；交付算法服务，后端完成部署，全链路跑通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2340864"/>
            <a:ext cx="7223760" cy="676656"/>
          </a:xfrm>
          <a:prstGeom prst="roundRect">
            <a:avLst>
              <a:gd name="adj" fmla="val 13514"/>
            </a:avLst>
          </a:prstGeom>
          <a:solidFill>
            <a:srgbClr val="F3F1FF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523744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846CC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2523744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产品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2084832" y="2432304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PRD 对接、明确算法边界、皮肤评估方案共同推敲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48640" y="3127248"/>
            <a:ext cx="7223760" cy="676656"/>
          </a:xfrm>
          <a:prstGeom prst="roundRect">
            <a:avLst>
              <a:gd name="adj" fmla="val 13514"/>
            </a:avLst>
          </a:prstGeom>
          <a:solidFill>
            <a:srgbClr val="F3F1FF"/>
          </a:solidFill>
          <a:ln/>
        </p:spPr>
      </p:sp>
      <p:sp>
        <p:nvSpPr>
          <p:cNvPr id="14" name="Shape 11"/>
          <p:cNvSpPr/>
          <p:nvPr/>
        </p:nvSpPr>
        <p:spPr>
          <a:xfrm>
            <a:off x="768096" y="3310128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F7BA5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68096" y="3310128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硬件厂商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2084832" y="3218688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查出并反馈设备丢数据、蓝牙断连的问题，推动修复与交付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48640" y="3913632"/>
            <a:ext cx="7223760" cy="676656"/>
          </a:xfrm>
          <a:prstGeom prst="roundRect">
            <a:avLst>
              <a:gd name="adj" fmla="val 13514"/>
            </a:avLst>
          </a:prstGeom>
          <a:solidFill>
            <a:srgbClr val="F3F1FF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4096512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846CC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68096" y="4096512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兽医 / 产品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2084832" y="4005072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示范标注工具，建立协同分工，推动兽医参与评估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48640" y="4700016"/>
            <a:ext cx="7223760" cy="676656"/>
          </a:xfrm>
          <a:prstGeom prst="roundRect">
            <a:avLst>
              <a:gd name="adj" fmla="val 13514"/>
            </a:avLst>
          </a:prstGeom>
          <a:solidFill>
            <a:srgbClr val="F3F1FF"/>
          </a:solidFill>
          <a:ln/>
        </p:spPr>
      </p:sp>
      <p:sp>
        <p:nvSpPr>
          <p:cNvPr id="22" name="Shape 19"/>
          <p:cNvSpPr/>
          <p:nvPr/>
        </p:nvSpPr>
        <p:spPr>
          <a:xfrm>
            <a:off x="768096" y="4882896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6A51B7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68096" y="4882896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测试 / 项目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2084832" y="4791456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预留测试接口；推动算法在 ONES 单独立项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10144" y="1554480"/>
            <a:ext cx="3630168" cy="3931920"/>
          </a:xfrm>
          <a:prstGeom prst="roundRect">
            <a:avLst>
              <a:gd name="adj" fmla="val 2519"/>
            </a:avLst>
          </a:prstGeom>
          <a:solidFill>
            <a:srgbClr val="452D8D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8247888" y="17373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主动响应与建议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8247888" y="212140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天做出口腔识别原型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266176" y="2377440"/>
            <a:ext cx="3163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产品提出这个方向后，当天做出可用原型，验证了这条路走不走得通</a:t>
            </a:r>
            <a:endParaRPr lang="en-US" sz="900" dirty="0"/>
          </a:p>
        </p:txBody>
      </p:sp>
      <p:sp>
        <p:nvSpPr>
          <p:cNvPr id="29" name="Text 26"/>
          <p:cNvSpPr txBox="1"/>
          <p:nvPr/>
        </p:nvSpPr>
        <p:spPr>
          <a:xfrm>
            <a:off x="8247888" y="2980944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质疑现有判断标准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8266176" y="3236976"/>
            <a:ext cx="3163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实测一晚抓挠 10-20 次但皮肤没问题，提出标准需要重新调研</a:t>
            </a:r>
            <a:endParaRPr lang="en-US" sz="900" dirty="0"/>
          </a:p>
        </p:txBody>
      </p:sp>
      <p:sp>
        <p:nvSpPr>
          <p:cNvPr id="31" name="Text 28"/>
          <p:cNvSpPr txBox="1"/>
          <p:nvPr/>
        </p:nvSpPr>
        <p:spPr>
          <a:xfrm>
            <a:off x="8247888" y="384048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建议对标竞品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8266176" y="4096512"/>
            <a:ext cx="3163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建议买竞品实测，让狗同时戴上对比效果</a:t>
            </a:r>
            <a:endParaRPr lang="en-US" sz="900" dirty="0"/>
          </a:p>
        </p:txBody>
      </p:sp>
      <p:sp>
        <p:nvSpPr>
          <p:cNvPr id="33" name="Text 30"/>
          <p:cNvSpPr txBox="1"/>
          <p:nvPr/>
        </p:nvSpPr>
        <p:spPr>
          <a:xfrm>
            <a:off x="8247888" y="47000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推动规范立项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8266176" y="4956048"/>
            <a:ext cx="3163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算法只有一人也应正式立项，明确目标与验收标准</a:t>
            </a:r>
            <a:endParaRPr lang="en-US" sz="900" dirty="0"/>
          </a:p>
        </p:txBody>
      </p:sp>
      <p:sp>
        <p:nvSpPr>
          <p:cNvPr id="35" name="Text 32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CONSISTENCY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我如何证明能够持续产出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graphicFrame>
        <p:nvGraphicFramePr>
          <p:cNvPr id="5" name="Chart 0" descr=""/>
          <p:cNvGraphicFramePr/>
          <p:nvPr/>
        </p:nvGraphicFramePr>
        <p:xfrm>
          <a:off x="548640" y="1572768"/>
          <a:ext cx="68122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66928" y="4626864"/>
            <a:ext cx="6766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算法整体进度：45% → 87%（16 周持续推进，无停滞周）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7607808" y="1572768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7827264" y="168249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篇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9710928" y="172821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连续周报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7845552" y="2029968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每周写完成了什么、卡在哪、下周做什么，从没断过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7607808" y="2633472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7827264" y="274320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51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每项有结论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9710928" y="2788920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汇报习惯</a:t>
            </a:r>
            <a:endParaRPr lang="en-US" sz="1050" dirty="0"/>
          </a:p>
        </p:txBody>
      </p:sp>
      <p:sp>
        <p:nvSpPr>
          <p:cNvPr id="14" name="Text 10"/>
          <p:cNvSpPr txBox="1"/>
          <p:nvPr/>
        </p:nvSpPr>
        <p:spPr>
          <a:xfrm>
            <a:off x="7845552" y="3090672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每件事都给一句明确结论，不只罗列过程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7607808" y="3694176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7827264" y="380390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51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问题必闭环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9710928" y="384962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工作方式</a:t>
            </a:r>
            <a:endParaRPr lang="en-US" sz="1050" dirty="0"/>
          </a:p>
        </p:txBody>
      </p:sp>
      <p:sp>
        <p:nvSpPr>
          <p:cNvPr id="18" name="Text 14"/>
          <p:cNvSpPr txBox="1"/>
          <p:nvPr/>
        </p:nvSpPr>
        <p:spPr>
          <a:xfrm>
            <a:off x="7845552" y="4151376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卡住的地方一定找到根本原因再解决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548640" y="5029200"/>
            <a:ext cx="11091672" cy="896112"/>
          </a:xfrm>
          <a:prstGeom prst="roundRect">
            <a:avLst>
              <a:gd name="adj" fmla="val 10204"/>
            </a:avLst>
          </a:prstGeom>
          <a:solidFill>
            <a:srgbClr val="452D8D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804672" y="519379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交付节奏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2194560" y="5157216"/>
            <a:ext cx="9235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第一版模型 6 周、皮肤评估网页系统 3 周、标注平台可多人协同 4 周 —— 每块都有明确的开始和交付。</a:t>
            </a:r>
            <a:endParaRPr lang="en-US" sz="1150" dirty="0"/>
          </a:p>
        </p:txBody>
      </p:sp>
      <p:sp>
        <p:nvSpPr>
          <p:cNvPr id="22" name="Text 18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GROWTH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个人成长：这几个月我想明白的五件事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17904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6" name="Shape 3"/>
          <p:cNvSpPr/>
          <p:nvPr/>
        </p:nvSpPr>
        <p:spPr>
          <a:xfrm>
            <a:off x="786384" y="1719072"/>
            <a:ext cx="420624" cy="420624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86384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335024" y="1755648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数据质量比数量更重要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194560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把标注时拿不准的片段先剔掉再拿去训练 —— 留着反而会教错模型，比没这条数据更糟。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208776" y="1517904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11" name="Shape 8"/>
          <p:cNvSpPr/>
          <p:nvPr/>
        </p:nvSpPr>
        <p:spPr>
          <a:xfrm>
            <a:off x="6446520" y="1719072"/>
            <a:ext cx="420624" cy="42062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46520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995160" y="1755648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让模型告诉我该补什么数据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6483096" y="2194560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 AI 没把握的片段挑给人看：人说「是」的是它漏掉的，人说「不是」的是它认错的，两种都最值得再训练。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48640" y="3090672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16" name="Shape 13"/>
          <p:cNvSpPr/>
          <p:nvPr/>
        </p:nvSpPr>
        <p:spPr>
          <a:xfrm>
            <a:off x="786384" y="3291840"/>
            <a:ext cx="420624" cy="42062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86384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335024" y="3328416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先分清是技术问题还是定义问题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822960" y="3767328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「活动」和「睡觉」老是混，根子在于这两件事本身就没定义清楚，不是模型不行。得先把标准对齐。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208776" y="3090672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21" name="Shape 18"/>
          <p:cNvSpPr/>
          <p:nvPr/>
        </p:nvSpPr>
        <p:spPr>
          <a:xfrm>
            <a:off x="6446520" y="3291840"/>
            <a:ext cx="420624" cy="42062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446520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995160" y="3328416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自己发现的问题要主动说</a:t>
            </a:r>
            <a:endParaRPr lang="en-US" sz="1350" dirty="0"/>
          </a:p>
        </p:txBody>
      </p:sp>
      <p:sp>
        <p:nvSpPr>
          <p:cNvPr id="24" name="Text 21"/>
          <p:cNvSpPr txBox="1"/>
          <p:nvPr/>
        </p:nvSpPr>
        <p:spPr>
          <a:xfrm>
            <a:off x="6483096" y="3767328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自查时发现造的测试数据有漏洞，会让分数虚高。主动把分数改低并写进文档 —— 宁可报低，不留隐患。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48640" y="4663440"/>
            <a:ext cx="11091672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26" name="Shape 23"/>
          <p:cNvSpPr/>
          <p:nvPr/>
        </p:nvSpPr>
        <p:spPr>
          <a:xfrm>
            <a:off x="786384" y="4864608"/>
            <a:ext cx="420624" cy="420624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86384" y="48646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1335024" y="4901184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该放弃的要早点放弃</a:t>
            </a:r>
            <a:endParaRPr lang="en-US" sz="1350" dirty="0"/>
          </a:p>
        </p:txBody>
      </p:sp>
      <p:sp>
        <p:nvSpPr>
          <p:cNvPr id="29" name="Text 26"/>
          <p:cNvSpPr txBox="1"/>
          <p:nvPr/>
        </p:nvSpPr>
        <p:spPr>
          <a:xfrm>
            <a:off x="822960" y="5340096"/>
            <a:ext cx="105430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网络传视频方案验证下来延迟不稳定，果断改回本地录制；有争议的地方靠实测下结论，不靠猜。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GAPS &amp; PLAN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待提升点与改进计划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每一项都有明确的改进路径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768096" y="17373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待提升点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785616" y="17373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现状与原因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808976" y="1737360"/>
            <a:ext cx="3685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改进计划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2048256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3F1FF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249424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22494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1225296" y="226771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用来训练的狗太少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3931920" y="2267712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只用了 4 只狗训练，换只没见过的狗准确率会下降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7882128" y="226771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狗场先加 6 只，逐步扩大，每轮拿新狗重新检验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48640" y="2889504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68096" y="3090672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68096" y="30906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225296" y="310896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还没经过测试和线上验证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3931920" y="3108960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目前都是我自己测出来的结果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7882128" y="310896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推动测试同事介入，进入线上验证流程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548640" y="3730752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3F1FF"/>
          </a:solidFill>
          <a:ln/>
        </p:spPr>
      </p:sp>
      <p:sp>
        <p:nvSpPr>
          <p:cNvPr id="22" name="Shape 19"/>
          <p:cNvSpPr/>
          <p:nvPr/>
        </p:nvSpPr>
        <p:spPr>
          <a:xfrm>
            <a:off x="768096" y="3931920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68096" y="3931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1225296" y="3950208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皮肤评分标准还要校准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3931920" y="395020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有的狗抓得多但皮肤其实没问题，会误报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7882128" y="3950208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请兽医标注真实病例，用临床数据校准标准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548640" y="4572000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4773168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768096" y="47731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225296" y="4791456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项圈松动检测还没做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3931920" y="4791456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优先级往后排，判定标准也要先和产品、兽医对齐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7882128" y="4791456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标准定了就启动，补齐有效佩戴时长统计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48640" y="5413248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3F1FF"/>
          </a:solidFill>
          <a:ln/>
        </p:spPr>
      </p:sp>
      <p:sp>
        <p:nvSpPr>
          <p:cNvPr id="34" name="Shape 31"/>
          <p:cNvSpPr/>
          <p:nvPr/>
        </p:nvSpPr>
        <p:spPr>
          <a:xfrm>
            <a:off x="768096" y="5614416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768096" y="56144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1225296" y="5632704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业务理解还不够深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3931920" y="5632704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兽医怎么判断皮肤问题，我还主要靠别人告诉我</a:t>
            </a:r>
            <a:endParaRPr lang="en-US" sz="1050" dirty="0"/>
          </a:p>
        </p:txBody>
      </p:sp>
      <p:sp>
        <p:nvSpPr>
          <p:cNvPr id="38" name="Text 35"/>
          <p:cNvSpPr txBox="1"/>
          <p:nvPr/>
        </p:nvSpPr>
        <p:spPr>
          <a:xfrm>
            <a:off x="7882128" y="563270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系统补充宠物皮肤健康方面的知识</a:t>
            </a:r>
            <a:endParaRPr 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NEXT STEPS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下一步：与团队共同达成目标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54480"/>
            <a:ext cx="3575304" cy="3054096"/>
          </a:xfrm>
          <a:prstGeom prst="roundRect">
            <a:avLst>
              <a:gd name="adj" fmla="val 2994"/>
            </a:avLst>
          </a:prstGeom>
          <a:solidFill>
            <a:srgbClr val="452D8D"/>
          </a:solidFill>
          <a:ln/>
        </p:spPr>
      </p:sp>
      <p:sp>
        <p:nvSpPr>
          <p:cNvPr id="6" name="Shape 3"/>
          <p:cNvSpPr/>
          <p:nvPr/>
        </p:nvSpPr>
        <p:spPr>
          <a:xfrm>
            <a:off x="804672" y="1792224"/>
            <a:ext cx="914400" cy="329184"/>
          </a:xfrm>
          <a:prstGeom prst="roundRect">
            <a:avLst>
              <a:gd name="adj" fmla="val 22222"/>
            </a:avLst>
          </a:prstGeom>
          <a:solidFill>
            <a:srgbClr val="6A51B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4672" y="1792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近期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847088" y="18470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1-2 个月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286000"/>
            <a:ext cx="30358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推动龙岗狗场正式采集，先补 6 只狗并完成一轮检验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标注平台上线 AI 自动标注，进一步提高核对效率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皮肤评分标准持续校准并推上线，解决误报问题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和产品、兽医对齐行为定义与松动判定标准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306824" y="1554480"/>
            <a:ext cx="3575304" cy="3054096"/>
          </a:xfrm>
          <a:prstGeom prst="roundRect">
            <a:avLst>
              <a:gd name="adj" fmla="val 2994"/>
            </a:avLst>
          </a:prstGeom>
          <a:solidFill>
            <a:srgbClr val="F3F1FF"/>
          </a:solidFill>
          <a:ln/>
        </p:spPr>
      </p:sp>
      <p:sp>
        <p:nvSpPr>
          <p:cNvPr id="11" name="Shape 8"/>
          <p:cNvSpPr/>
          <p:nvPr/>
        </p:nvSpPr>
        <p:spPr>
          <a:xfrm>
            <a:off x="4562856" y="1792224"/>
            <a:ext cx="914400" cy="329184"/>
          </a:xfrm>
          <a:prstGeom prst="roundRect">
            <a:avLst>
              <a:gd name="adj" fmla="val 22222"/>
            </a:avLst>
          </a:prstGeom>
          <a:solidFill>
            <a:srgbClr val="846CC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62856" y="1792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中期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605272" y="18470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3-6 个月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4581144" y="2286000"/>
            <a:ext cx="30358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狗的数量上来后，模型换新狗也稳定，具备推给用户的条件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皮肤评估用真实病例再训练一轮，并上线验证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补齐松动检测，形成完整的全天佩戴时长统计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采集规模按 30 → 50 → 70 只分阶段扩大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065008" y="1554480"/>
            <a:ext cx="3575304" cy="3054096"/>
          </a:xfrm>
          <a:prstGeom prst="roundRect">
            <a:avLst>
              <a:gd name="adj" fmla="val 2994"/>
            </a:avLst>
          </a:prstGeom>
          <a:solidFill>
            <a:srgbClr val="F3F1FF"/>
          </a:solidFill>
          <a:ln/>
        </p:spPr>
      </p:sp>
      <p:sp>
        <p:nvSpPr>
          <p:cNvPr id="16" name="Shape 13"/>
          <p:cNvSpPr/>
          <p:nvPr/>
        </p:nvSpPr>
        <p:spPr>
          <a:xfrm>
            <a:off x="8321040" y="1792224"/>
            <a:ext cx="914400" cy="329184"/>
          </a:xfrm>
          <a:prstGeom prst="roundRect">
            <a:avLst>
              <a:gd name="adj" fmla="val 22222"/>
            </a:avLst>
          </a:prstGeom>
          <a:solidFill>
            <a:srgbClr val="F7BA5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321040" y="1792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长期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9363456" y="18470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持续投入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8339328" y="2286000"/>
            <a:ext cx="30358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把采集、标注、训练、上线这套流程固化成标准做法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让算法从「能认出行为」走向「能给出可信的健康结论」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建立竞品对标，摸清我们的能力边界和优势在哪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团队变大后，把算法工作做到可协同、可交接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548640" y="4864608"/>
            <a:ext cx="11091672" cy="1225296"/>
          </a:xfrm>
          <a:prstGeom prst="roundRect">
            <a:avLst>
              <a:gd name="adj" fmla="val 7463"/>
            </a:avLst>
          </a:prstGeom>
          <a:solidFill>
            <a:srgbClr val="452D8D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22960" y="502920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共同目标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41248" y="53035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让算法从「跑得通」走向「靠得住」—— 成为产品可以放心依赖的健康判断能力</a:t>
            </a:r>
            <a:endParaRPr lang="en-US" sz="1550" dirty="0"/>
          </a:p>
        </p:txBody>
      </p:sp>
      <p:sp>
        <p:nvSpPr>
          <p:cNvPr id="23" name="Text 20"/>
          <p:cNvSpPr txBox="1"/>
          <p:nvPr/>
        </p:nvSpPr>
        <p:spPr>
          <a:xfrm>
            <a:off x="841248" y="5687568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这需要数据、算法、业务定义三件事同步推进，也需要产品、兽医、后端、硬件持续配合，我会主动担起推动这条链路的责任。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206240" cy="4206240"/>
          </a:xfrm>
          <a:prstGeom prst="ellipse">
            <a:avLst/>
          </a:prstGeom>
          <a:solidFill>
            <a:srgbClr val="6A51B7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989320" y="5806440"/>
            <a:ext cx="1920240" cy="1920240"/>
          </a:xfrm>
          <a:prstGeom prst="ellipse">
            <a:avLst/>
          </a:prstGeom>
          <a:solidFill>
            <a:srgbClr val="846CCF">
              <a:alpha val="30000"/>
            </a:srgbClr>
          </a:solidFill>
          <a:ln/>
        </p:spPr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658368"/>
            <a:ext cx="1874520" cy="4846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" y="2487168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感谢聆听 · 恳请指正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795528" y="3291840"/>
            <a:ext cx="640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spc="500" kern="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402336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Toky</a:t>
            </a:r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朱业拓</a:t>
            </a:r>
            <a:pPr indent="0" marL="0">
              <a:buNone/>
            </a:pPr>
            <a:r>
              <a:rPr lang="en-US" sz="11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　　用户增长研发部 · 算法工程师　　2026.10.08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Innovation for a Clean &amp; Comfortable Life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918972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992124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↗</a:t>
            </a:r>
            <a:endParaRPr lang="en-US" sz="3400" dirty="0"/>
          </a:p>
        </p:txBody>
      </p:sp>
      <p:sp>
        <p:nvSpPr>
          <p:cNvPr id="11" name="Text 8"/>
          <p:cNvSpPr txBox="1"/>
          <p:nvPr/>
        </p:nvSpPr>
        <p:spPr>
          <a:xfrm>
            <a:off x="10652760" y="4864608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♥</a:t>
            </a:r>
            <a:endParaRPr lang="en-US" sz="3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7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皮肤评估每日跟踪</a:t>
            </a:r>
            <a:endParaRPr lang="en-US" sz="1500" dirty="0"/>
          </a:p>
        </p:txBody>
      </p:sp>
      <p:sp>
        <p:nvSpPr>
          <p:cNvPr id="3" name="Shape 1">
            <a:hlinkClick r:id="rId1" tooltip="返回演示页" action="ppaction://hlinksldjump"/>
          </p:cNvPr>
          <p:cNvSpPr/>
          <p:nvPr/>
        </p:nvSpPr>
        <p:spPr>
          <a:xfrm>
            <a:off x="10698480" y="237744"/>
            <a:ext cx="1033272" cy="329184"/>
          </a:xfrm>
          <a:prstGeom prst="roundRect">
            <a:avLst>
              <a:gd name="adj" fmla="val 22222"/>
            </a:avLst>
          </a:prstGeom>
          <a:solidFill>
            <a:srgbClr val="6A51B7"/>
          </a:solidFill>
          <a:ln/>
        </p:spPr>
      </p:sp>
      <p:sp>
        <p:nvSpPr>
          <p:cNvPr id="4" name="Text 2">
            <a:hlinkClick r:id="rId2" tooltip="返回演示页" action="ppaction://hlinksldjump"/>
          </p:cNvPr>
          <p:cNvSpPr txBox="1"/>
          <p:nvPr/>
        </p:nvSpPr>
        <p:spPr>
          <a:xfrm>
            <a:off x="10698480" y="237744"/>
            <a:ext cx="1033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action="ppaction://hlinksldjump" tooltip="返回演示页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返回</a:t>
            </a:r>
            <a:endParaRPr lang="en-US" sz="1100" dirty="0"/>
          </a:p>
        </p:txBody>
      </p:sp>
      <p:pic>
        <p:nvPicPr>
          <p:cNvPr id="5" name="Image 0" descr="media/platfor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957732"/>
            <a:ext cx="11457432" cy="5436313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8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口腔牙齿检测</a:t>
            </a:r>
            <a:endParaRPr lang="en-US" sz="1500" dirty="0"/>
          </a:p>
        </p:txBody>
      </p:sp>
      <p:sp>
        <p:nvSpPr>
          <p:cNvPr id="3" name="Shape 1">
            <a:hlinkClick r:id="rId1" tooltip="返回演示页" action="ppaction://hlinksldjump"/>
          </p:cNvPr>
          <p:cNvSpPr/>
          <p:nvPr/>
        </p:nvSpPr>
        <p:spPr>
          <a:xfrm>
            <a:off x="10698480" y="237744"/>
            <a:ext cx="1033272" cy="329184"/>
          </a:xfrm>
          <a:prstGeom prst="roundRect">
            <a:avLst>
              <a:gd name="adj" fmla="val 22222"/>
            </a:avLst>
          </a:prstGeom>
          <a:solidFill>
            <a:srgbClr val="6A51B7"/>
          </a:solidFill>
          <a:ln/>
        </p:spPr>
      </p:sp>
      <p:sp>
        <p:nvSpPr>
          <p:cNvPr id="4" name="Text 2">
            <a:hlinkClick r:id="rId2" tooltip="返回演示页" action="ppaction://hlinksldjump"/>
          </p:cNvPr>
          <p:cNvSpPr txBox="1"/>
          <p:nvPr/>
        </p:nvSpPr>
        <p:spPr>
          <a:xfrm>
            <a:off x="10698480" y="237744"/>
            <a:ext cx="1033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action="ppaction://hlinksldjump" tooltip="返回演示页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返回</a:t>
            </a:r>
            <a:endParaRPr lang="en-US" sz="1100" dirty="0"/>
          </a:p>
        </p:txBody>
      </p:sp>
      <p:pic>
        <p:nvPicPr>
          <p:cNvPr id="5" name="Image 0" descr="media/tarta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5235" y="749808"/>
            <a:ext cx="6498483" cy="58521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HICC Pet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转正述职报告</dc:title>
  <dc:subject>PptxGenJS Presentation</dc:subject>
  <dc:creator>Toky 朱业拓</dc:creator>
  <cp:lastModifiedBy>Toky 朱业拓</cp:lastModifiedBy>
  <cp:revision>1</cp:revision>
  <dcterms:created xsi:type="dcterms:W3CDTF">2026-09-10T06:40:41Z</dcterms:created>
  <dcterms:modified xsi:type="dcterms:W3CDTF">2026-09-10T06:40:41Z</dcterms:modified>
</cp:coreProperties>
</file>