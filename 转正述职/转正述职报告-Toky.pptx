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1.xml" ContentType="application/vnd.openxmlformats-officedocument.drawingml.chart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算法整体进度</c:v>
                </c:pt>
              </c:strCache>
            </c:strRef>
          </c:tx>
          <c:spPr>
            <a:solidFill>
              <a:srgbClr val="6A51B7"/>
            </a:solidFill>
            <a:ln w="38100" cap="flat">
              <a:solidFill>
                <a:srgbClr val="6A51B7"/>
              </a:solidFill>
              <a:prstDash val="solid"/>
              <a:round/>
            </a:ln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452D8D"/>
                    </a:solidFill>
                    <a:latin typeface="Arial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6A51B7"/>
              </a:solidFill>
              <a:ln w="9525" cap="flat">
                <a:solidFill>
                  <a:srgbClr val="6A51B7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</c:f>
              <c:multiLvlStrCache>
                <c:ptCount val="8"/>
                <c:lvl>
                  <c:pt idx="0">
                    <c:v>5.18</c:v>
                  </c:pt>
                  <c:pt idx="1">
                    <c:v>5.25</c:v>
                  </c:pt>
                  <c:pt idx="2">
                    <c:v>7.27</c:v>
                  </c:pt>
                  <c:pt idx="3">
                    <c:v>8.03</c:v>
                  </c:pt>
                  <c:pt idx="4">
                    <c:v>8.10</c:v>
                  </c:pt>
                  <c:pt idx="5">
                    <c:v>8.17</c:v>
                  </c:pt>
                  <c:pt idx="6">
                    <c:v>8.24</c:v>
                  </c:pt>
                  <c:pt idx="7">
                    <c:v>8.31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45</c:v>
                </c:pt>
                <c:pt idx="1">
                  <c:v>55</c:v>
                </c:pt>
                <c:pt idx="2">
                  <c:v>70</c:v>
                </c:pt>
                <c:pt idx="3">
                  <c:v>75</c:v>
                </c:pt>
                <c:pt idx="4">
                  <c:v>76</c:v>
                </c:pt>
                <c:pt idx="5">
                  <c:v>83</c:v>
                </c:pt>
                <c:pt idx="6">
                  <c:v>85</c:v>
                </c:pt>
                <c:pt idx="7">
                  <c:v>87</c:v>
                </c:pt>
              </c:numCache>
            </c:numRef>
          </c:val>
          <c:smooth val="0"/>
        </c:ser>
        <c:dLbls>
          <c:numFmt formatCode="0&quot;%&quot;" sourceLinked="0"/>
          <c:txPr>
            <a:bodyPr/>
            <a:lstStyle/>
            <a:p>
              <a:pPr>
                <a:defRPr b="0" i="0" strike="noStrike" sz="1000" u="none">
                  <a:solidFill>
                    <a:srgbClr val="452D8D"/>
                  </a:solidFill>
                  <a:latin typeface="Arial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E6883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30"/>
        </c:scaling>
        <c:delete val="0"/>
        <c:axPos val="l"/>
        <c:majorGridlines>
          <c:spPr>
            <a:ln w="12700" cap="flat">
              <a:solidFill>
                <a:srgbClr val="EEEBF7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E688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开场：各位领导、同事好，我是算法岗的朱业拓，英文名 Toky。今天向大家汇报我在试用期内的工作与成果。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汇报分五部分，重点是第二部分试用期关键成果。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我把算法岗理解为四件事的闭环：数据、模型、工程、协作。缺任何一环，算法都落不了地。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这一页是全篇的骨架。我想强调的不是某个具体分数，而是这六件事在我来之前都不存在，现在都跑通了，而且是彼此打通的一条链路。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这一页先把范围说清楚：我负责的是两大块 —— 行为识别和皮肤健康评估，行为识别的结果是皮肤评估的输入。图像识别是延伸出来的一块，用户上传照片时作为补充，口腔牙齿检测是额外做的可行性验证。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先交代目标：8月31日要求抓挠识别准确率不低于 85%，已达成。然后讲验证方法。三只狗训出来的模型在训练个体上约 85%，换一只没见过的马尔济斯会掉到 75% 左右且误报变多；把它的数据补进去重训，四只又回到 85%。所以我的做法是分两条路：单只新增就单独精测，一次来一批就整批测，看具体情况定。狗场先加 6 只做批量验证。数字是算法侧数据集测的，还没经测试同事验收 —— 这点在待提升页会讲。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两条路一起走的原因：规则版是 PM 和兽医定的，解释性好，兽医愿意核对，但上限受限于人能想到的规则；AI 版是把业务规则和兽医临床经验提炼成特征让模型学，上限更高，但要真实病例数据才能训好，现在只用合成数据验证了方案可行。AI 版分两阶段：先用行为数据出一个皮肤等级，如果用户回答了问题、上传了照片，第二阶段再综合判断。但用户互动默认没有，所以多数时候是第一阶段在起作用。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这一页讲的是怎么继续把它做好。三件事是互相咬合的：样本个体不够，模型换新狗就不稳；标注要人工审核，但模型越准 AI 预标越准，人工只做核对，投入会越来越省；省下来的人力能标更多数据，数据够了就能换更好的模型，上限更高。现在数据量还不适合上深度学习，传统方法反而更稳。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这里先说清楚起点：一开始没有可用模型，标注全靠人工。一只狗一天录 24 段、每段一小时，人要从头看到尾，根本看不完。现在 AI 先把候选片段标出来，还会把可能认错、可能漏掉的单独挑出来，人只看这些重点。平台是我认为试用期最有复用价值的产出。它把采集、标注、训练、测试、服务串成一条链路，三套算法都跑在上面。最关键的两个机制是 AI 预标注和疑似片段主动召回 —— 前者把人从重复劳动里解放出来，后者让人力集中在模型最不确定的地方。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现场点开视频播放，另外两项在浏览器里现场演示。重点讲两个机制：AI 预标注让人从「从头标」变成「审核修正」；疑似片段召回把模型最不确定的样本主动推给人工，这两条是标注效率和数据质量的关键。播放控制在 1-2 分钟。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这条线讲数据是怎么从没有到稳定进来的。设备一直不给力，自研项圈没成品，老款问题多，中间换了几轮设备和摄像头才把采集跑稳 —— 这部分口头补充，片子上不展开。狗场是商务谈的，我出的采集方案并到现场确认可行。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一页想说的是我怎么对待这个项目。算法岗只有我一人，没有人会来推着我做，所以很多事我是当成自己的事在推：设备不行就自己去找设备，判断标准存疑就提出来重新调研，需要别人配合就主动去谈。同样重要的是主动开口求助 —— 16 篇周报每篇都写了资源诉求，需要什么就明确提，不闷头硬扛。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持续产出不是靠某一次冲刺，而是稳定的节奏。16周周报、进度从45%到87%，每周都有实质推进。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这五条是我试用期最重要的方法论沉淀，也是我认为可以持续复用到后续工作中的东西。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这一页是我对自己短板的判断。泛化能力是当前最需要解决的问题，其他三项也都有明确路径。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下一步我最想解决的是泛化能力问题，这决定了产品能不能面向所有用户的狗。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感谢各位，欢迎提问。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6" Type="http://schemas.openxmlformats.org/officeDocument/2006/relationships/slide" Target="slide18.xml"/><Relationship Id="rId7" Type="http://schemas.openxmlformats.org/officeDocument/2006/relationships/slide" Target="slide18.xml"/><Relationship Id="rId9" Type="http://schemas.openxmlformats.org/officeDocument/2006/relationships/slide" Target="slide19.xml"/><Relationship Id="rId10" Type="http://schemas.openxmlformats.org/officeDocument/2006/relationships/slide" Target="slide19.xml"/><Relationship Id="rId1" Type="http://schemas.openxmlformats.org/officeDocument/2006/relationships/image" Target="../media/image-10-1.png"/><Relationship Id="rId2" Type="http://schemas.openxmlformats.org/officeDocument/2006/relationships/video" Target="../media/media-10-2.mp4"/><Relationship Id="rId3" Type="http://schemas.microsoft.com/office/2007/relationships/media" Target="../media/media-10-2.mp4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8" Type="http://schemas.openxmlformats.org/officeDocument/2006/relationships/image" Target="../media/image-10-6.pn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.xml"/><Relationship Id="rId1" Type="http://schemas.openxmlformats.org/officeDocument/2006/relationships/image" Target="../media/image-13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" Target="slide10.xml"/><Relationship Id="rId2" Type="http://schemas.openxmlformats.org/officeDocument/2006/relationships/slide" Target="slide10.xml"/><Relationship Id="rId3" Type="http://schemas.openxmlformats.org/officeDocument/2006/relationships/image" Target="../media/image-18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" Target="slide10.xml"/><Relationship Id="rId2" Type="http://schemas.openxmlformats.org/officeDocument/2006/relationships/slide" Target="slide10.xml"/><Relationship Id="rId3" Type="http://schemas.openxmlformats.org/officeDocument/2006/relationships/image" Target="../media/image-19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52D8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371600"/>
            <a:ext cx="4206240" cy="4206240"/>
          </a:xfrm>
          <a:prstGeom prst="ellipse">
            <a:avLst/>
          </a:prstGeom>
          <a:solidFill>
            <a:srgbClr val="6A51B7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5989320" y="5806440"/>
            <a:ext cx="1920240" cy="1920240"/>
          </a:xfrm>
          <a:prstGeom prst="ellipse">
            <a:avLst/>
          </a:prstGeom>
          <a:solidFill>
            <a:srgbClr val="846CCF">
              <a:alpha val="30000"/>
            </a:srgbClr>
          </a:solidFill>
          <a:ln/>
        </p:spPr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658368"/>
            <a:ext cx="1874520" cy="484632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77240" y="2084832"/>
            <a:ext cx="8595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转正述职报告</a:t>
            </a:r>
            <a:endParaRPr lang="en-US" sz="4200" dirty="0"/>
          </a:p>
        </p:txBody>
      </p:sp>
      <p:sp>
        <p:nvSpPr>
          <p:cNvPr id="6" name="Text 3"/>
          <p:cNvSpPr txBox="1"/>
          <p:nvPr/>
        </p:nvSpPr>
        <p:spPr>
          <a:xfrm>
            <a:off x="795528" y="3072384"/>
            <a:ext cx="8778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Wardyn 项目 · 智能宠物项圈 · 犬只行为识别与皮肤健康评估算法研发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777240" y="3877056"/>
            <a:ext cx="5074920" cy="1115568"/>
          </a:xfrm>
          <a:prstGeom prst="roundRect">
            <a:avLst>
              <a:gd name="adj" fmla="val 8197"/>
            </a:avLst>
          </a:prstGeom>
          <a:solidFill>
            <a:srgbClr val="6A51B7">
              <a:alpha val="65000"/>
            </a:srgbClr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1024128" y="4023360"/>
            <a:ext cx="3108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Toky</a:t>
            </a:r>
            <a:pPr indent="0" marL="0">
              <a:buNone/>
            </a:pPr>
            <a:r>
              <a:rPr lang="en-US" sz="13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朱业拓</a:t>
            </a:r>
            <a:endParaRPr lang="en-US" sz="2000" dirty="0"/>
          </a:p>
        </p:txBody>
      </p:sp>
      <p:sp>
        <p:nvSpPr>
          <p:cNvPr id="9" name="Text 6"/>
          <p:cNvSpPr txBox="1"/>
          <p:nvPr/>
        </p:nvSpPr>
        <p:spPr>
          <a:xfrm>
            <a:off x="1042416" y="448056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算法工程师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4224528" y="4078224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述职日期</a:t>
            </a:r>
            <a:endParaRPr lang="en-US" sz="1000" dirty="0"/>
          </a:p>
        </p:txBody>
      </p:sp>
      <p:sp>
        <p:nvSpPr>
          <p:cNvPr id="11" name="Text 8"/>
          <p:cNvSpPr txBox="1"/>
          <p:nvPr/>
        </p:nvSpPr>
        <p:spPr>
          <a:xfrm>
            <a:off x="4206240" y="4352544"/>
            <a:ext cx="155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2026.10.08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795528" y="59436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Health Innovation for a Clean &amp; Comfortable Life</a:t>
            </a:r>
            <a:endParaRPr lang="en-US" sz="1050" dirty="0"/>
          </a:p>
        </p:txBody>
      </p:sp>
      <p:sp>
        <p:nvSpPr>
          <p:cNvPr id="13" name="Text 10"/>
          <p:cNvSpPr txBox="1"/>
          <p:nvPr/>
        </p:nvSpPr>
        <p:spPr>
          <a:xfrm>
            <a:off x="9189720" y="4828032"/>
            <a:ext cx="7315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3400" dirty="0"/>
          </a:p>
        </p:txBody>
      </p:sp>
      <p:sp>
        <p:nvSpPr>
          <p:cNvPr id="14" name="Text 11"/>
          <p:cNvSpPr txBox="1"/>
          <p:nvPr/>
        </p:nvSpPr>
        <p:spPr>
          <a:xfrm>
            <a:off x="9921240" y="4828032"/>
            <a:ext cx="7315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↗</a:t>
            </a:r>
            <a:endParaRPr lang="en-US" sz="3400" dirty="0"/>
          </a:p>
        </p:txBody>
      </p:sp>
      <p:sp>
        <p:nvSpPr>
          <p:cNvPr id="15" name="Text 12"/>
          <p:cNvSpPr txBox="1"/>
          <p:nvPr/>
        </p:nvSpPr>
        <p:spPr>
          <a:xfrm>
            <a:off x="10652760" y="4864608"/>
            <a:ext cx="7315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♥</a:t>
            </a:r>
            <a:endParaRPr lang="en-US" sz="3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CONTENTS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目录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572768"/>
            <a:ext cx="11091672" cy="786384"/>
          </a:xfrm>
          <a:prstGeom prst="roundRect">
            <a:avLst>
              <a:gd name="adj" fmla="val 11628"/>
            </a:avLst>
          </a:prstGeom>
          <a:solidFill>
            <a:srgbClr val="F3F1FF"/>
          </a:solidFill>
          <a:ln/>
        </p:spPr>
      </p:sp>
      <p:sp>
        <p:nvSpPr>
          <p:cNvPr id="6" name="Shape 3"/>
          <p:cNvSpPr/>
          <p:nvPr/>
        </p:nvSpPr>
        <p:spPr>
          <a:xfrm>
            <a:off x="786384" y="1709928"/>
            <a:ext cx="512064" cy="512064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86384" y="170992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1517904" y="1719072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自我介绍与岗位理解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1536192" y="2029968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我是谁，以及我如何理解这个岗位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548640" y="2514600"/>
            <a:ext cx="11091672" cy="786384"/>
          </a:xfrm>
          <a:prstGeom prst="roundRect">
            <a:avLst>
              <a:gd name="adj" fmla="val 11628"/>
            </a:avLst>
          </a:prstGeom>
          <a:solidFill>
            <a:srgbClr val="D5D0F7"/>
          </a:solidFill>
          <a:ln/>
        </p:spPr>
      </p:sp>
      <p:sp>
        <p:nvSpPr>
          <p:cNvPr id="11" name="Shape 8"/>
          <p:cNvSpPr/>
          <p:nvPr/>
        </p:nvSpPr>
        <p:spPr>
          <a:xfrm>
            <a:off x="786384" y="2651760"/>
            <a:ext cx="512064" cy="512064"/>
          </a:xfrm>
          <a:prstGeom prst="ellipse">
            <a:avLst/>
          </a:prstGeom>
          <a:solidFill>
            <a:srgbClr val="6A51B7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786384" y="265176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1517904" y="2660904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试用期关键成果</a:t>
            </a:r>
            <a:endParaRPr lang="en-US" sz="1500" dirty="0"/>
          </a:p>
        </p:txBody>
      </p:sp>
      <p:sp>
        <p:nvSpPr>
          <p:cNvPr id="14" name="Text 11"/>
          <p:cNvSpPr txBox="1"/>
          <p:nvPr/>
        </p:nvSpPr>
        <p:spPr>
          <a:xfrm>
            <a:off x="1536192" y="2971800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算法能力 · 系统平台 · 效果演示 · 数据资源 · 跨团队协作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548640" y="3456432"/>
            <a:ext cx="11091672" cy="786384"/>
          </a:xfrm>
          <a:prstGeom prst="roundRect">
            <a:avLst>
              <a:gd name="adj" fmla="val 11628"/>
            </a:avLst>
          </a:prstGeom>
          <a:solidFill>
            <a:srgbClr val="F3F1FF"/>
          </a:solidFill>
          <a:ln/>
        </p:spPr>
      </p:sp>
      <p:sp>
        <p:nvSpPr>
          <p:cNvPr id="16" name="Shape 13"/>
          <p:cNvSpPr/>
          <p:nvPr/>
        </p:nvSpPr>
        <p:spPr>
          <a:xfrm>
            <a:off x="786384" y="3593592"/>
            <a:ext cx="512064" cy="512064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786384" y="3593592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1517904" y="3602736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持续产出的验证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1536192" y="3913632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进度曲线与迭代节奏，证明可持续交付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548640" y="4398264"/>
            <a:ext cx="11091672" cy="786384"/>
          </a:xfrm>
          <a:prstGeom prst="roundRect">
            <a:avLst>
              <a:gd name="adj" fmla="val 11628"/>
            </a:avLst>
          </a:prstGeom>
          <a:solidFill>
            <a:srgbClr val="F3F1FF"/>
          </a:solidFill>
          <a:ln/>
        </p:spPr>
      </p:sp>
      <p:sp>
        <p:nvSpPr>
          <p:cNvPr id="21" name="Shape 18"/>
          <p:cNvSpPr/>
          <p:nvPr/>
        </p:nvSpPr>
        <p:spPr>
          <a:xfrm>
            <a:off x="786384" y="4535424"/>
            <a:ext cx="512064" cy="512064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786384" y="4535424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1517904" y="4544568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个人成长与沉淀</a:t>
            </a:r>
            <a:endParaRPr lang="en-US" sz="1500" dirty="0"/>
          </a:p>
        </p:txBody>
      </p:sp>
      <p:sp>
        <p:nvSpPr>
          <p:cNvPr id="24" name="Text 21"/>
          <p:cNvSpPr txBox="1"/>
          <p:nvPr/>
        </p:nvSpPr>
        <p:spPr>
          <a:xfrm>
            <a:off x="1536192" y="4855464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方法论沉淀与认知提升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548640" y="5340096"/>
            <a:ext cx="11091672" cy="786384"/>
          </a:xfrm>
          <a:prstGeom prst="roundRect">
            <a:avLst>
              <a:gd name="adj" fmla="val 11628"/>
            </a:avLst>
          </a:prstGeom>
          <a:solidFill>
            <a:srgbClr val="F3F1FF"/>
          </a:solidFill>
          <a:ln/>
        </p:spPr>
      </p:sp>
      <p:sp>
        <p:nvSpPr>
          <p:cNvPr id="26" name="Shape 23"/>
          <p:cNvSpPr/>
          <p:nvPr/>
        </p:nvSpPr>
        <p:spPr>
          <a:xfrm>
            <a:off x="786384" y="5477256"/>
            <a:ext cx="512064" cy="512064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786384" y="547725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1517904" y="5486400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待提升点与下一步</a:t>
            </a:r>
            <a:endParaRPr lang="en-US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1536192" y="5797296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短板认知与后续规划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 SELF INTRODUCTION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自我介绍与岗位职责理解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517904"/>
            <a:ext cx="4114800" cy="4480560"/>
          </a:xfrm>
          <a:prstGeom prst="roundRect">
            <a:avLst>
              <a:gd name="adj" fmla="val 2222"/>
            </a:avLst>
          </a:prstGeom>
          <a:solidFill>
            <a:srgbClr val="452D8D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841248" y="1773936"/>
            <a:ext cx="3566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Toky</a:t>
            </a:r>
            <a:pPr indent="0" marL="0">
              <a:buNone/>
            </a:pPr>
            <a:r>
              <a:rPr lang="en-US" sz="14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朱业拓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859536" y="2249424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算法工程师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859536" y="2798064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所属部门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859536" y="3017520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用户增长研发部</a:t>
            </a:r>
            <a:endParaRPr lang="en-US" sz="1250" dirty="0"/>
          </a:p>
        </p:txBody>
      </p:sp>
      <p:sp>
        <p:nvSpPr>
          <p:cNvPr id="10" name="Text 7"/>
          <p:cNvSpPr txBox="1"/>
          <p:nvPr/>
        </p:nvSpPr>
        <p:spPr>
          <a:xfrm>
            <a:off x="859536" y="3346704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入职时间</a:t>
            </a:r>
            <a:endParaRPr lang="en-US" sz="1000" dirty="0"/>
          </a:p>
        </p:txBody>
      </p:sp>
      <p:sp>
        <p:nvSpPr>
          <p:cNvPr id="11" name="Text 8"/>
          <p:cNvSpPr txBox="1"/>
          <p:nvPr/>
        </p:nvSpPr>
        <p:spPr>
          <a:xfrm>
            <a:off x="859536" y="3566160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 年 4 月中旬</a:t>
            </a:r>
            <a:endParaRPr lang="en-US" sz="1250" dirty="0"/>
          </a:p>
        </p:txBody>
      </p:sp>
      <p:sp>
        <p:nvSpPr>
          <p:cNvPr id="12" name="Text 9"/>
          <p:cNvSpPr txBox="1"/>
          <p:nvPr/>
        </p:nvSpPr>
        <p:spPr>
          <a:xfrm>
            <a:off x="859536" y="3895344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所属项目</a:t>
            </a:r>
            <a:endParaRPr lang="en-US" sz="1000" dirty="0"/>
          </a:p>
        </p:txBody>
      </p:sp>
      <p:sp>
        <p:nvSpPr>
          <p:cNvPr id="13" name="Text 10"/>
          <p:cNvSpPr txBox="1"/>
          <p:nvPr/>
        </p:nvSpPr>
        <p:spPr>
          <a:xfrm>
            <a:off x="859536" y="4114800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Wardyn 项目 · 智能宠物项圈</a:t>
            </a:r>
            <a:endParaRPr lang="en-US" sz="1250" dirty="0"/>
          </a:p>
        </p:txBody>
      </p:sp>
      <p:sp>
        <p:nvSpPr>
          <p:cNvPr id="14" name="Text 11"/>
          <p:cNvSpPr txBox="1"/>
          <p:nvPr/>
        </p:nvSpPr>
        <p:spPr>
          <a:xfrm>
            <a:off x="859536" y="4443984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负责方向</a:t>
            </a:r>
            <a:endParaRPr lang="en-US" sz="1000" dirty="0"/>
          </a:p>
        </p:txBody>
      </p:sp>
      <p:sp>
        <p:nvSpPr>
          <p:cNvPr id="15" name="Text 12"/>
          <p:cNvSpPr txBox="1"/>
          <p:nvPr/>
        </p:nvSpPr>
        <p:spPr>
          <a:xfrm>
            <a:off x="859536" y="4663440"/>
            <a:ext cx="356616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狗的行为识别</a:t>
            </a: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皮肤健康评估</a:t>
            </a: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算法工程与数据平台</a:t>
            </a:r>
            <a:endParaRPr lang="en-US" sz="1250" dirty="0"/>
          </a:p>
        </p:txBody>
      </p:sp>
      <p:sp>
        <p:nvSpPr>
          <p:cNvPr id="16" name="Text 13"/>
          <p:cNvSpPr txBox="1"/>
          <p:nvPr/>
        </p:nvSpPr>
        <p:spPr>
          <a:xfrm>
            <a:off x="4956048" y="1572768"/>
            <a:ext cx="6675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我如何理解这个岗位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4974336" y="1920240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把项圈采到的数据，变成主人能看懂、也能放心的健康结论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4956048" y="2395728"/>
            <a:ext cx="6684264" cy="768096"/>
          </a:xfrm>
          <a:prstGeom prst="roundRect">
            <a:avLst>
              <a:gd name="adj" fmla="val 11905"/>
            </a:avLst>
          </a:prstGeom>
          <a:solidFill>
            <a:srgbClr val="F3F1FF"/>
          </a:solidFill>
          <a:ln/>
        </p:spPr>
      </p:sp>
      <p:sp>
        <p:nvSpPr>
          <p:cNvPr id="19" name="Shape 16"/>
          <p:cNvSpPr/>
          <p:nvPr/>
        </p:nvSpPr>
        <p:spPr>
          <a:xfrm>
            <a:off x="5175504" y="2542032"/>
            <a:ext cx="475488" cy="475488"/>
          </a:xfrm>
          <a:prstGeom prst="ellipse">
            <a:avLst/>
          </a:prstGeom>
          <a:solidFill>
            <a:srgbClr val="FCC279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5175504" y="2542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数据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5815584" y="2523744"/>
            <a:ext cx="5669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从零建立采集与标注流程，数据质量决定算法上限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4956048" y="3310128"/>
            <a:ext cx="6684264" cy="768096"/>
          </a:xfrm>
          <a:prstGeom prst="roundRect">
            <a:avLst>
              <a:gd name="adj" fmla="val 11905"/>
            </a:avLst>
          </a:prstGeom>
          <a:solidFill>
            <a:srgbClr val="F3F1FF"/>
          </a:solidFill>
          <a:ln/>
        </p:spPr>
      </p:sp>
      <p:sp>
        <p:nvSpPr>
          <p:cNvPr id="23" name="Shape 20"/>
          <p:cNvSpPr/>
          <p:nvPr/>
        </p:nvSpPr>
        <p:spPr>
          <a:xfrm>
            <a:off x="5175504" y="3456432"/>
            <a:ext cx="475488" cy="475488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5175504" y="34564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模型</a:t>
            </a:r>
            <a:endParaRPr lang="en-US" sz="1200" dirty="0"/>
          </a:p>
        </p:txBody>
      </p:sp>
      <p:sp>
        <p:nvSpPr>
          <p:cNvPr id="25" name="Text 22"/>
          <p:cNvSpPr txBox="1"/>
          <p:nvPr/>
        </p:nvSpPr>
        <p:spPr>
          <a:xfrm>
            <a:off x="5815584" y="3438144"/>
            <a:ext cx="5669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教会算法识别狗的行为，并据此判断健康状况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4956048" y="4224528"/>
            <a:ext cx="6684264" cy="768096"/>
          </a:xfrm>
          <a:prstGeom prst="roundRect">
            <a:avLst>
              <a:gd name="adj" fmla="val 11905"/>
            </a:avLst>
          </a:prstGeom>
          <a:solidFill>
            <a:srgbClr val="F3F1FF"/>
          </a:solidFill>
          <a:ln/>
        </p:spPr>
      </p:sp>
      <p:sp>
        <p:nvSpPr>
          <p:cNvPr id="27" name="Shape 24"/>
          <p:cNvSpPr/>
          <p:nvPr/>
        </p:nvSpPr>
        <p:spPr>
          <a:xfrm>
            <a:off x="5175504" y="4370832"/>
            <a:ext cx="475488" cy="475488"/>
          </a:xfrm>
          <a:prstGeom prst="ellipse">
            <a:avLst/>
          </a:prstGeom>
          <a:solidFill>
            <a:srgbClr val="6A51B7"/>
          </a:solidFill>
          <a:ln/>
        </p:spPr>
      </p:sp>
      <p:sp>
        <p:nvSpPr>
          <p:cNvPr id="28" name="Text 25"/>
          <p:cNvSpPr txBox="1"/>
          <p:nvPr/>
        </p:nvSpPr>
        <p:spPr>
          <a:xfrm>
            <a:off x="5175504" y="43708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工程</a:t>
            </a:r>
            <a:endParaRPr lang="en-US" sz="1200" dirty="0"/>
          </a:p>
        </p:txBody>
      </p:sp>
      <p:sp>
        <p:nvSpPr>
          <p:cNvPr id="29" name="Text 26"/>
          <p:cNvSpPr txBox="1"/>
          <p:nvPr/>
        </p:nvSpPr>
        <p:spPr>
          <a:xfrm>
            <a:off x="5815584" y="4352544"/>
            <a:ext cx="5669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把算法做成产品能直接调用的服务，能上线才算数</a:t>
            </a:r>
            <a:endParaRPr lang="en-US" sz="1200" dirty="0"/>
          </a:p>
        </p:txBody>
      </p:sp>
      <p:sp>
        <p:nvSpPr>
          <p:cNvPr id="30" name="Shape 27"/>
          <p:cNvSpPr/>
          <p:nvPr/>
        </p:nvSpPr>
        <p:spPr>
          <a:xfrm>
            <a:off x="4956048" y="5138928"/>
            <a:ext cx="6684264" cy="768096"/>
          </a:xfrm>
          <a:prstGeom prst="roundRect">
            <a:avLst>
              <a:gd name="adj" fmla="val 11905"/>
            </a:avLst>
          </a:prstGeom>
          <a:solidFill>
            <a:srgbClr val="F3F1FF"/>
          </a:solidFill>
          <a:ln/>
        </p:spPr>
      </p:sp>
      <p:sp>
        <p:nvSpPr>
          <p:cNvPr id="31" name="Shape 28"/>
          <p:cNvSpPr/>
          <p:nvPr/>
        </p:nvSpPr>
        <p:spPr>
          <a:xfrm>
            <a:off x="5175504" y="5285232"/>
            <a:ext cx="475488" cy="475488"/>
          </a:xfrm>
          <a:prstGeom prst="ellipse">
            <a:avLst/>
          </a:prstGeom>
          <a:solidFill>
            <a:srgbClr val="F7BA59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5175504" y="52852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协作</a:t>
            </a:r>
            <a:endParaRPr lang="en-US" sz="1200" dirty="0"/>
          </a:p>
        </p:txBody>
      </p:sp>
      <p:sp>
        <p:nvSpPr>
          <p:cNvPr id="33" name="Text 30"/>
          <p:cNvSpPr txBox="1"/>
          <p:nvPr/>
        </p:nvSpPr>
        <p:spPr>
          <a:xfrm>
            <a:off x="5815584" y="5266944"/>
            <a:ext cx="5669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对接产品、后端、硬件、兽医，推动资源到位</a:t>
            </a:r>
            <a:endParaRPr lang="en-US" sz="1200" dirty="0"/>
          </a:p>
        </p:txBody>
      </p:sp>
      <p:sp>
        <p:nvSpPr>
          <p:cNvPr id="34" name="Text 31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 KEY RESULTS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试用期关键成果：从 0 到 1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66928" y="1316736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入职时这六件事一件都没有，现在都跑通了</a:t>
            </a:r>
            <a:endParaRPr lang="en-US" sz="1150" dirty="0"/>
          </a:p>
        </p:txBody>
      </p:sp>
      <p:sp>
        <p:nvSpPr>
          <p:cNvPr id="6" name="Text 3"/>
          <p:cNvSpPr txBox="1"/>
          <p:nvPr/>
        </p:nvSpPr>
        <p:spPr>
          <a:xfrm>
            <a:off x="786384" y="1737360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能力项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3666744" y="173736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入职时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6638544" y="1737360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现在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548640" y="2084832"/>
            <a:ext cx="11091672" cy="585216"/>
          </a:xfrm>
          <a:prstGeom prst="roundRect">
            <a:avLst>
              <a:gd name="adj" fmla="val 15625"/>
            </a:avLst>
          </a:prstGeom>
          <a:solidFill>
            <a:srgbClr val="F3F1FF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786384" y="2231136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看懂狗在干什么</a:t>
            </a:r>
            <a:endParaRPr lang="en-US" sz="1250" dirty="0"/>
          </a:p>
        </p:txBody>
      </p:sp>
      <p:sp>
        <p:nvSpPr>
          <p:cNvPr id="11" name="Text 8"/>
          <p:cNvSpPr txBox="1"/>
          <p:nvPr/>
        </p:nvSpPr>
        <p:spPr>
          <a:xfrm>
            <a:off x="3657600" y="2249424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没有模型，没有数据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6272784" y="2304288"/>
            <a:ext cx="219456" cy="146304"/>
          </a:xfrm>
          <a:prstGeom prst="roundRect">
            <a:avLst>
              <a:gd name="adj" fmla="val 25000"/>
            </a:avLst>
          </a:prstGeom>
          <a:solidFill>
            <a:srgbClr val="FCC279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6638544" y="2212848"/>
            <a:ext cx="4846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能分辨抓挠、活动、睡觉、没戴项圈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548640" y="2761488"/>
            <a:ext cx="11091672" cy="585216"/>
          </a:xfrm>
          <a:prstGeom prst="roundRect">
            <a:avLst>
              <a:gd name="adj" fmla="val 15625"/>
            </a:avLst>
          </a:prstGeom>
          <a:solidFill>
            <a:srgbClr val="FFFFFF"/>
          </a:solidFill>
          <a:ln w="12700">
            <a:solidFill>
              <a:srgbClr val="D5D0F7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86384" y="2907792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判断皮肤健不健康</a:t>
            </a:r>
            <a:endParaRPr lang="en-US" sz="1250" dirty="0"/>
          </a:p>
        </p:txBody>
      </p:sp>
      <p:sp>
        <p:nvSpPr>
          <p:cNvPr id="16" name="Text 13"/>
          <p:cNvSpPr txBox="1"/>
          <p:nvPr/>
        </p:nvSpPr>
        <p:spPr>
          <a:xfrm>
            <a:off x="3657600" y="292608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没有方案，也没有判断标准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6272784" y="2980944"/>
            <a:ext cx="219456" cy="146304"/>
          </a:xfrm>
          <a:prstGeom prst="roundRect">
            <a:avLst>
              <a:gd name="adj" fmla="val 25000"/>
            </a:avLst>
          </a:prstGeom>
          <a:solidFill>
            <a:srgbClr val="FCC279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6638544" y="2889504"/>
            <a:ext cx="4846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每天自动给出每只狗的健康评分</a:t>
            </a:r>
            <a:endParaRPr lang="en-US" sz="1050" dirty="0"/>
          </a:p>
        </p:txBody>
      </p:sp>
      <p:sp>
        <p:nvSpPr>
          <p:cNvPr id="19" name="Shape 16"/>
          <p:cNvSpPr/>
          <p:nvPr/>
        </p:nvSpPr>
        <p:spPr>
          <a:xfrm>
            <a:off x="548640" y="3438144"/>
            <a:ext cx="11091672" cy="585216"/>
          </a:xfrm>
          <a:prstGeom prst="roundRect">
            <a:avLst>
              <a:gd name="adj" fmla="val 15625"/>
            </a:avLst>
          </a:prstGeom>
          <a:solidFill>
            <a:srgbClr val="F3F1FF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786384" y="3584448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把数据采回来</a:t>
            </a:r>
            <a:endParaRPr lang="en-US" sz="1250" dirty="0"/>
          </a:p>
        </p:txBody>
      </p:sp>
      <p:sp>
        <p:nvSpPr>
          <p:cNvPr id="21" name="Text 18"/>
          <p:cNvSpPr txBox="1"/>
          <p:nvPr/>
        </p:nvSpPr>
        <p:spPr>
          <a:xfrm>
            <a:off x="3657600" y="3602736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没有设备，没有场地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6272784" y="3657600"/>
            <a:ext cx="219456" cy="146304"/>
          </a:xfrm>
          <a:prstGeom prst="roundRect">
            <a:avLst>
              <a:gd name="adj" fmla="val 25000"/>
            </a:avLst>
          </a:prstGeom>
          <a:solidFill>
            <a:srgbClr val="FCC279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6638544" y="3566160"/>
            <a:ext cx="4846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个摄像头 + 12 个项圈，无人值守自动采集</a:t>
            </a:r>
            <a:endParaRPr lang="en-US" sz="1050" dirty="0"/>
          </a:p>
        </p:txBody>
      </p:sp>
      <p:sp>
        <p:nvSpPr>
          <p:cNvPr id="24" name="Shape 21"/>
          <p:cNvSpPr/>
          <p:nvPr/>
        </p:nvSpPr>
        <p:spPr>
          <a:xfrm>
            <a:off x="548640" y="4114800"/>
            <a:ext cx="11091672" cy="585216"/>
          </a:xfrm>
          <a:prstGeom prst="roundRect">
            <a:avLst>
              <a:gd name="adj" fmla="val 15625"/>
            </a:avLst>
          </a:prstGeom>
          <a:solidFill>
            <a:srgbClr val="FFFFFF"/>
          </a:solidFill>
          <a:ln w="12700">
            <a:solidFill>
              <a:srgbClr val="D5D0F7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786384" y="4261104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把数据整理好</a:t>
            </a:r>
            <a:endParaRPr lang="en-US" sz="1250" dirty="0"/>
          </a:p>
        </p:txBody>
      </p:sp>
      <p:sp>
        <p:nvSpPr>
          <p:cNvPr id="26" name="Text 23"/>
          <p:cNvSpPr txBox="1"/>
          <p:nvPr/>
        </p:nvSpPr>
        <p:spPr>
          <a:xfrm>
            <a:off x="3657600" y="4279392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没有工具，没有流程</a:t>
            </a:r>
            <a:endParaRPr lang="en-US" sz="1050" dirty="0"/>
          </a:p>
        </p:txBody>
      </p:sp>
      <p:sp>
        <p:nvSpPr>
          <p:cNvPr id="27" name="Shape 24"/>
          <p:cNvSpPr/>
          <p:nvPr/>
        </p:nvSpPr>
        <p:spPr>
          <a:xfrm>
            <a:off x="6272784" y="4334256"/>
            <a:ext cx="219456" cy="146304"/>
          </a:xfrm>
          <a:prstGeom prst="roundRect">
            <a:avLst>
              <a:gd name="adj" fmla="val 25000"/>
            </a:avLst>
          </a:prstGeom>
          <a:solidFill>
            <a:srgbClr val="FCC279"/>
          </a:solidFill>
          <a:ln/>
        </p:spPr>
      </p:sp>
      <p:sp>
        <p:nvSpPr>
          <p:cNvPr id="28" name="Text 25"/>
          <p:cNvSpPr txBox="1"/>
          <p:nvPr/>
        </p:nvSpPr>
        <p:spPr>
          <a:xfrm>
            <a:off x="6638544" y="4242816"/>
            <a:ext cx="4846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自建标注平台，AI 先标、多人协同核对</a:t>
            </a:r>
            <a:endParaRPr lang="en-US" sz="1050" dirty="0"/>
          </a:p>
        </p:txBody>
      </p:sp>
      <p:sp>
        <p:nvSpPr>
          <p:cNvPr id="29" name="Shape 26"/>
          <p:cNvSpPr/>
          <p:nvPr/>
        </p:nvSpPr>
        <p:spPr>
          <a:xfrm>
            <a:off x="548640" y="4791456"/>
            <a:ext cx="11091672" cy="585216"/>
          </a:xfrm>
          <a:prstGeom prst="roundRect">
            <a:avLst>
              <a:gd name="adj" fmla="val 15625"/>
            </a:avLst>
          </a:prstGeom>
          <a:solidFill>
            <a:srgbClr val="F3F1FF"/>
          </a:solidFill>
          <a:ln/>
        </p:spPr>
      </p:sp>
      <p:sp>
        <p:nvSpPr>
          <p:cNvPr id="30" name="Text 27"/>
          <p:cNvSpPr txBox="1"/>
          <p:nvPr/>
        </p:nvSpPr>
        <p:spPr>
          <a:xfrm>
            <a:off x="786384" y="4937760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让产品用起来</a:t>
            </a:r>
            <a:endParaRPr lang="en-US" sz="1250" dirty="0"/>
          </a:p>
        </p:txBody>
      </p:sp>
      <p:sp>
        <p:nvSpPr>
          <p:cNvPr id="31" name="Text 28"/>
          <p:cNvSpPr txBox="1"/>
          <p:nvPr/>
        </p:nvSpPr>
        <p:spPr>
          <a:xfrm>
            <a:off x="3657600" y="4956048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无</a:t>
            </a:r>
            <a:endParaRPr lang="en-US" sz="1050" dirty="0"/>
          </a:p>
        </p:txBody>
      </p:sp>
      <p:sp>
        <p:nvSpPr>
          <p:cNvPr id="32" name="Shape 29"/>
          <p:cNvSpPr/>
          <p:nvPr/>
        </p:nvSpPr>
        <p:spPr>
          <a:xfrm>
            <a:off x="6272784" y="5010912"/>
            <a:ext cx="219456" cy="146304"/>
          </a:xfrm>
          <a:prstGeom prst="roundRect">
            <a:avLst>
              <a:gd name="adj" fmla="val 25000"/>
            </a:avLst>
          </a:prstGeom>
          <a:solidFill>
            <a:srgbClr val="FCC279"/>
          </a:solidFill>
          <a:ln/>
        </p:spPr>
      </p:sp>
      <p:sp>
        <p:nvSpPr>
          <p:cNvPr id="33" name="Text 30"/>
          <p:cNvSpPr txBox="1"/>
          <p:nvPr/>
        </p:nvSpPr>
        <p:spPr>
          <a:xfrm>
            <a:off x="6638544" y="4919472"/>
            <a:ext cx="4846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已交付后端上线，App 里能看到算法结果</a:t>
            </a:r>
            <a:endParaRPr lang="en-US" sz="1050" dirty="0"/>
          </a:p>
        </p:txBody>
      </p:sp>
      <p:sp>
        <p:nvSpPr>
          <p:cNvPr id="34" name="Shape 31"/>
          <p:cNvSpPr/>
          <p:nvPr/>
        </p:nvSpPr>
        <p:spPr>
          <a:xfrm>
            <a:off x="548640" y="5468112"/>
            <a:ext cx="11091672" cy="585216"/>
          </a:xfrm>
          <a:prstGeom prst="roundRect">
            <a:avLst>
              <a:gd name="adj" fmla="val 15625"/>
            </a:avLst>
          </a:prstGeom>
          <a:solidFill>
            <a:srgbClr val="FFFFFF"/>
          </a:solidFill>
          <a:ln w="12700">
            <a:solidFill>
              <a:srgbClr val="D5D0F7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786384" y="5614416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可采集的狗</a:t>
            </a:r>
            <a:endParaRPr lang="en-US" sz="1250" dirty="0"/>
          </a:p>
        </p:txBody>
      </p:sp>
      <p:sp>
        <p:nvSpPr>
          <p:cNvPr id="36" name="Text 33"/>
          <p:cNvSpPr txBox="1"/>
          <p:nvPr/>
        </p:nvSpPr>
        <p:spPr>
          <a:xfrm>
            <a:off x="3657600" y="5632704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影棚 2 只，但没有采集流程</a:t>
            </a:r>
            <a:endParaRPr lang="en-US" sz="1050" dirty="0"/>
          </a:p>
        </p:txBody>
      </p:sp>
      <p:sp>
        <p:nvSpPr>
          <p:cNvPr id="37" name="Shape 34"/>
          <p:cNvSpPr/>
          <p:nvPr/>
        </p:nvSpPr>
        <p:spPr>
          <a:xfrm>
            <a:off x="6272784" y="5687568"/>
            <a:ext cx="219456" cy="146304"/>
          </a:xfrm>
          <a:prstGeom prst="roundRect">
            <a:avLst>
              <a:gd name="adj" fmla="val 25000"/>
            </a:avLst>
          </a:prstGeom>
          <a:solidFill>
            <a:srgbClr val="FCC279"/>
          </a:solidFill>
          <a:ln/>
        </p:spPr>
      </p:sp>
      <p:sp>
        <p:nvSpPr>
          <p:cNvPr id="38" name="Text 35"/>
          <p:cNvSpPr txBox="1"/>
          <p:nvPr/>
        </p:nvSpPr>
        <p:spPr>
          <a:xfrm>
            <a:off x="6638544" y="5596128"/>
            <a:ext cx="4846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影棚 4 只，狗场 6 只待进场</a:t>
            </a:r>
            <a:endParaRPr lang="en-US" sz="1050" dirty="0"/>
          </a:p>
        </p:txBody>
      </p:sp>
      <p:sp>
        <p:nvSpPr>
          <p:cNvPr id="39" name="Text 36"/>
          <p:cNvSpPr txBox="1"/>
          <p:nvPr/>
        </p:nvSpPr>
        <p:spPr>
          <a:xfrm>
            <a:off x="566928" y="619963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算法整体进度 45% → 87%，16 周无停滞。</a:t>
            </a:r>
            <a:endParaRPr lang="en-US" sz="1050" dirty="0"/>
          </a:p>
        </p:txBody>
      </p:sp>
      <p:sp>
        <p:nvSpPr>
          <p:cNvPr id="40" name="Text 37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02.1  OVERVIEW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我负责的算法：两大块，一块延伸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572768"/>
            <a:ext cx="3575304" cy="3200400"/>
          </a:xfrm>
          <a:prstGeom prst="roundRect">
            <a:avLst>
              <a:gd name="adj" fmla="val 2857"/>
            </a:avLst>
          </a:prstGeom>
          <a:solidFill>
            <a:srgbClr val="452D8D"/>
          </a:solidFill>
          <a:ln/>
        </p:spPr>
      </p:sp>
      <p:sp>
        <p:nvSpPr>
          <p:cNvPr id="6" name="Shape 3"/>
          <p:cNvSpPr/>
          <p:nvPr/>
        </p:nvSpPr>
        <p:spPr>
          <a:xfrm>
            <a:off x="3163824" y="1773936"/>
            <a:ext cx="749808" cy="274320"/>
          </a:xfrm>
          <a:prstGeom prst="roundRect">
            <a:avLst>
              <a:gd name="adj" fmla="val 23333"/>
            </a:avLst>
          </a:prstGeom>
          <a:solidFill>
            <a:srgbClr val="FCC279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3163824" y="1773936"/>
            <a:ext cx="749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主线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1755648"/>
            <a:ext cx="2286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行为识别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822960" y="2286000"/>
            <a:ext cx="3035808" cy="365760"/>
          </a:xfrm>
          <a:prstGeom prst="roundRect">
            <a:avLst>
              <a:gd name="adj" fmla="val 17500"/>
            </a:avLst>
          </a:prstGeom>
          <a:solidFill>
            <a:srgbClr val="6A51B7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822960" y="2286000"/>
            <a:ext cx="30358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抓挠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822960" y="2743200"/>
            <a:ext cx="3035808" cy="365760"/>
          </a:xfrm>
          <a:prstGeom prst="roundRect">
            <a:avLst>
              <a:gd name="adj" fmla="val 17500"/>
            </a:avLst>
          </a:prstGeom>
          <a:solidFill>
            <a:srgbClr val="6A51B7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822960" y="2743200"/>
            <a:ext cx="30358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活动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822960" y="3200400"/>
            <a:ext cx="3035808" cy="365760"/>
          </a:xfrm>
          <a:prstGeom prst="roundRect">
            <a:avLst>
              <a:gd name="adj" fmla="val 17500"/>
            </a:avLst>
          </a:prstGeom>
          <a:solidFill>
            <a:srgbClr val="6A51B7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822960" y="3200400"/>
            <a:ext cx="30358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睡觉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822960" y="3657600"/>
            <a:ext cx="3035808" cy="365760"/>
          </a:xfrm>
          <a:prstGeom prst="roundRect">
            <a:avLst>
              <a:gd name="adj" fmla="val 17500"/>
            </a:avLst>
          </a:prstGeom>
          <a:solidFill>
            <a:srgbClr val="6A51B7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822960" y="3657600"/>
            <a:ext cx="30358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没戴项圈</a:t>
            </a:r>
            <a:endParaRPr lang="en-US" sz="1250" dirty="0"/>
          </a:p>
        </p:txBody>
      </p:sp>
      <p:sp>
        <p:nvSpPr>
          <p:cNvPr id="17" name="Text 14"/>
          <p:cNvSpPr txBox="1"/>
          <p:nvPr/>
        </p:nvSpPr>
        <p:spPr>
          <a:xfrm>
            <a:off x="822960" y="4242816"/>
            <a:ext cx="30358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从项圈传感器数据判断狗在干什么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4306824" y="1572768"/>
            <a:ext cx="3575304" cy="3200400"/>
          </a:xfrm>
          <a:prstGeom prst="roundRect">
            <a:avLst>
              <a:gd name="adj" fmla="val 2857"/>
            </a:avLst>
          </a:prstGeom>
          <a:solidFill>
            <a:srgbClr val="452D8D"/>
          </a:solidFill>
          <a:ln/>
        </p:spPr>
      </p:sp>
      <p:sp>
        <p:nvSpPr>
          <p:cNvPr id="19" name="Shape 16"/>
          <p:cNvSpPr/>
          <p:nvPr/>
        </p:nvSpPr>
        <p:spPr>
          <a:xfrm>
            <a:off x="6922008" y="1773936"/>
            <a:ext cx="749808" cy="274320"/>
          </a:xfrm>
          <a:prstGeom prst="roundRect">
            <a:avLst>
              <a:gd name="adj" fmla="val 23333"/>
            </a:avLst>
          </a:prstGeom>
          <a:solidFill>
            <a:srgbClr val="FCC279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6922008" y="1773936"/>
            <a:ext cx="749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主线</a:t>
            </a:r>
            <a:endParaRPr lang="en-US" sz="1000" dirty="0"/>
          </a:p>
        </p:txBody>
      </p:sp>
      <p:sp>
        <p:nvSpPr>
          <p:cNvPr id="21" name="Text 18"/>
          <p:cNvSpPr txBox="1"/>
          <p:nvPr/>
        </p:nvSpPr>
        <p:spPr>
          <a:xfrm>
            <a:off x="4581144" y="1755648"/>
            <a:ext cx="2286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皮肤健康评估</a:t>
            </a:r>
            <a:endParaRPr lang="en-US" sz="1600" dirty="0"/>
          </a:p>
        </p:txBody>
      </p:sp>
      <p:sp>
        <p:nvSpPr>
          <p:cNvPr id="22" name="Shape 19"/>
          <p:cNvSpPr/>
          <p:nvPr/>
        </p:nvSpPr>
        <p:spPr>
          <a:xfrm>
            <a:off x="4581144" y="2286000"/>
            <a:ext cx="3035808" cy="365760"/>
          </a:xfrm>
          <a:prstGeom prst="roundRect">
            <a:avLst>
              <a:gd name="adj" fmla="val 17500"/>
            </a:avLst>
          </a:prstGeom>
          <a:solidFill>
            <a:srgbClr val="6A51B7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4581144" y="2286000"/>
            <a:ext cx="30358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规则版</a:t>
            </a:r>
            <a:endParaRPr lang="en-US" sz="1250" dirty="0"/>
          </a:p>
        </p:txBody>
      </p:sp>
      <p:sp>
        <p:nvSpPr>
          <p:cNvPr id="24" name="Shape 21"/>
          <p:cNvSpPr/>
          <p:nvPr/>
        </p:nvSpPr>
        <p:spPr>
          <a:xfrm>
            <a:off x="4581144" y="2743200"/>
            <a:ext cx="3035808" cy="365760"/>
          </a:xfrm>
          <a:prstGeom prst="roundRect">
            <a:avLst>
              <a:gd name="adj" fmla="val 17500"/>
            </a:avLst>
          </a:prstGeom>
          <a:solidFill>
            <a:srgbClr val="6A51B7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4581144" y="2743200"/>
            <a:ext cx="30358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版</a:t>
            </a:r>
            <a:endParaRPr lang="en-US" sz="1250" dirty="0"/>
          </a:p>
        </p:txBody>
      </p:sp>
      <p:sp>
        <p:nvSpPr>
          <p:cNvPr id="26" name="Text 23"/>
          <p:cNvSpPr txBox="1"/>
          <p:nvPr/>
        </p:nvSpPr>
        <p:spPr>
          <a:xfrm>
            <a:off x="4581144" y="4242816"/>
            <a:ext cx="30358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用行为数据判断皮肤状况，是产品最终要的结论</a:t>
            </a:r>
            <a:endParaRPr 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8065008" y="1572768"/>
            <a:ext cx="3575304" cy="3200400"/>
          </a:xfrm>
          <a:prstGeom prst="roundRect">
            <a:avLst>
              <a:gd name="adj" fmla="val 2857"/>
            </a:avLst>
          </a:prstGeom>
          <a:solidFill>
            <a:srgbClr val="F3F1FF"/>
          </a:solidFill>
          <a:ln/>
        </p:spPr>
      </p:sp>
      <p:sp>
        <p:nvSpPr>
          <p:cNvPr id="28" name="Shape 25"/>
          <p:cNvSpPr/>
          <p:nvPr/>
        </p:nvSpPr>
        <p:spPr>
          <a:xfrm>
            <a:off x="10680192" y="1773936"/>
            <a:ext cx="749808" cy="274320"/>
          </a:xfrm>
          <a:prstGeom prst="roundRect">
            <a:avLst>
              <a:gd name="adj" fmla="val 23333"/>
            </a:avLst>
          </a:prstGeom>
          <a:solidFill>
            <a:srgbClr val="846CCF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10680192" y="1773936"/>
            <a:ext cx="749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延伸</a:t>
            </a:r>
            <a:endParaRPr lang="en-US" sz="1000" dirty="0"/>
          </a:p>
        </p:txBody>
      </p:sp>
      <p:sp>
        <p:nvSpPr>
          <p:cNvPr id="30" name="Text 27"/>
          <p:cNvSpPr txBox="1"/>
          <p:nvPr/>
        </p:nvSpPr>
        <p:spPr>
          <a:xfrm>
            <a:off x="8339328" y="1755648"/>
            <a:ext cx="2286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图像识别</a:t>
            </a:r>
            <a:endParaRPr lang="en-US" sz="1600" dirty="0"/>
          </a:p>
        </p:txBody>
      </p:sp>
      <p:sp>
        <p:nvSpPr>
          <p:cNvPr id="31" name="Shape 28"/>
          <p:cNvSpPr/>
          <p:nvPr/>
        </p:nvSpPr>
        <p:spPr>
          <a:xfrm>
            <a:off x="8339328" y="2286000"/>
            <a:ext cx="3035808" cy="36576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8339328" y="2286000"/>
            <a:ext cx="30358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皮肤照片</a:t>
            </a:r>
            <a:endParaRPr lang="en-US" sz="1250" dirty="0"/>
          </a:p>
        </p:txBody>
      </p:sp>
      <p:sp>
        <p:nvSpPr>
          <p:cNvPr id="33" name="Shape 30"/>
          <p:cNvSpPr/>
          <p:nvPr/>
        </p:nvSpPr>
        <p:spPr>
          <a:xfrm>
            <a:off x="8339328" y="2743200"/>
            <a:ext cx="3035808" cy="36576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/>
        </p:spPr>
      </p:sp>
      <p:sp>
        <p:nvSpPr>
          <p:cNvPr id="34" name="Text 31"/>
          <p:cNvSpPr txBox="1"/>
          <p:nvPr/>
        </p:nvSpPr>
        <p:spPr>
          <a:xfrm>
            <a:off x="8339328" y="2743200"/>
            <a:ext cx="30358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口腔牙齿</a:t>
            </a:r>
            <a:endParaRPr lang="en-US" sz="1250" dirty="0"/>
          </a:p>
        </p:txBody>
      </p:sp>
      <p:sp>
        <p:nvSpPr>
          <p:cNvPr id="35" name="Text 32"/>
          <p:cNvSpPr txBox="1"/>
          <p:nvPr/>
        </p:nvSpPr>
        <p:spPr>
          <a:xfrm>
            <a:off x="8339328" y="4242816"/>
            <a:ext cx="30358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用户上传照片时作为补充；口腔牙齿检测是额外做的验证</a:t>
            </a:r>
            <a:endParaRPr lang="en-US" sz="1000" dirty="0"/>
          </a:p>
        </p:txBody>
      </p:sp>
      <p:sp>
        <p:nvSpPr>
          <p:cNvPr id="36" name="Shape 33"/>
          <p:cNvSpPr/>
          <p:nvPr/>
        </p:nvSpPr>
        <p:spPr>
          <a:xfrm>
            <a:off x="548640" y="4992624"/>
            <a:ext cx="11091672" cy="969264"/>
          </a:xfrm>
          <a:prstGeom prst="roundRect">
            <a:avLst>
              <a:gd name="adj" fmla="val 9434"/>
            </a:avLst>
          </a:prstGeom>
          <a:solidFill>
            <a:srgbClr val="D5D0F7"/>
          </a:solidFill>
          <a:ln/>
        </p:spPr>
      </p:sp>
      <p:sp>
        <p:nvSpPr>
          <p:cNvPr id="37" name="Shape 34"/>
          <p:cNvSpPr/>
          <p:nvPr/>
        </p:nvSpPr>
        <p:spPr>
          <a:xfrm>
            <a:off x="914400" y="5230368"/>
            <a:ext cx="1554480" cy="457200"/>
          </a:xfrm>
          <a:prstGeom prst="roundRect">
            <a:avLst>
              <a:gd name="adj" fmla="val 16000"/>
            </a:avLst>
          </a:prstGeom>
          <a:solidFill>
            <a:srgbClr val="6A51B7"/>
          </a:solidFill>
          <a:ln/>
        </p:spPr>
      </p:sp>
      <p:sp>
        <p:nvSpPr>
          <p:cNvPr id="38" name="Text 35"/>
          <p:cNvSpPr txBox="1"/>
          <p:nvPr/>
        </p:nvSpPr>
        <p:spPr>
          <a:xfrm>
            <a:off x="914400" y="5230368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项圈数据</a:t>
            </a:r>
            <a:endParaRPr lang="en-US" sz="1150" dirty="0"/>
          </a:p>
        </p:txBody>
      </p:sp>
      <p:sp>
        <p:nvSpPr>
          <p:cNvPr id="39" name="Text 36"/>
          <p:cNvSpPr txBox="1"/>
          <p:nvPr/>
        </p:nvSpPr>
        <p:spPr>
          <a:xfrm>
            <a:off x="2468880" y="5230368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300" dirty="0"/>
          </a:p>
        </p:txBody>
      </p:sp>
      <p:sp>
        <p:nvSpPr>
          <p:cNvPr id="40" name="Shape 37"/>
          <p:cNvSpPr/>
          <p:nvPr/>
        </p:nvSpPr>
        <p:spPr>
          <a:xfrm>
            <a:off x="2834640" y="5230368"/>
            <a:ext cx="1554480" cy="457200"/>
          </a:xfrm>
          <a:prstGeom prst="roundRect">
            <a:avLst>
              <a:gd name="adj" fmla="val 16000"/>
            </a:avLst>
          </a:prstGeom>
          <a:solidFill>
            <a:srgbClr val="6A51B7"/>
          </a:solidFill>
          <a:ln/>
        </p:spPr>
      </p:sp>
      <p:sp>
        <p:nvSpPr>
          <p:cNvPr id="41" name="Text 38"/>
          <p:cNvSpPr txBox="1"/>
          <p:nvPr/>
        </p:nvSpPr>
        <p:spPr>
          <a:xfrm>
            <a:off x="2834640" y="5230368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行为识别</a:t>
            </a:r>
            <a:endParaRPr lang="en-US" sz="1150" dirty="0"/>
          </a:p>
        </p:txBody>
      </p:sp>
      <p:sp>
        <p:nvSpPr>
          <p:cNvPr id="42" name="Text 39"/>
          <p:cNvSpPr txBox="1"/>
          <p:nvPr/>
        </p:nvSpPr>
        <p:spPr>
          <a:xfrm>
            <a:off x="4389120" y="5230368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300" dirty="0"/>
          </a:p>
        </p:txBody>
      </p:sp>
      <p:sp>
        <p:nvSpPr>
          <p:cNvPr id="43" name="Shape 40"/>
          <p:cNvSpPr/>
          <p:nvPr/>
        </p:nvSpPr>
        <p:spPr>
          <a:xfrm>
            <a:off x="4754880" y="5230368"/>
            <a:ext cx="1554480" cy="457200"/>
          </a:xfrm>
          <a:prstGeom prst="roundRect">
            <a:avLst>
              <a:gd name="adj" fmla="val 16000"/>
            </a:avLst>
          </a:prstGeom>
          <a:solidFill>
            <a:srgbClr val="6A51B7"/>
          </a:solidFill>
          <a:ln/>
        </p:spPr>
      </p:sp>
      <p:sp>
        <p:nvSpPr>
          <p:cNvPr id="44" name="Text 41"/>
          <p:cNvSpPr txBox="1"/>
          <p:nvPr/>
        </p:nvSpPr>
        <p:spPr>
          <a:xfrm>
            <a:off x="4754880" y="5230368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皮肤评估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6675120" y="5138928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用户问答、用户上传照片可以加进来一起判断，</a:t>
            </a:r>
            <a:endParaRPr lang="en-US" sz="10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但默认没有 —— 多数情况只靠行为数据</a:t>
            </a:r>
            <a:endParaRPr lang="en-US" sz="1050" dirty="0"/>
          </a:p>
        </p:txBody>
      </p:sp>
      <p:sp>
        <p:nvSpPr>
          <p:cNvPr id="46" name="Text 43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02.2  BEHAVIOUR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成果一：让项圈看懂狗在干什么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66928" y="1298448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能分辨抓挠、活动、睡觉、没戴项圈，并建立了一套「换只狗还准不准」的检验方法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548640" y="1645920"/>
            <a:ext cx="11091672" cy="548640"/>
          </a:xfrm>
          <a:prstGeom prst="roundRect">
            <a:avLst>
              <a:gd name="adj" fmla="val 16667"/>
            </a:avLst>
          </a:prstGeom>
          <a:solidFill>
            <a:srgbClr val="452D8D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804672" y="1773936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8.31 目标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2286000" y="1773936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抓挠识别准确率 ≥ 85%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5358384" y="1773936"/>
            <a:ext cx="786384" cy="292608"/>
          </a:xfrm>
          <a:prstGeom prst="roundRect">
            <a:avLst>
              <a:gd name="adj" fmla="val 21875"/>
            </a:avLst>
          </a:prstGeom>
          <a:solidFill>
            <a:srgbClr val="FCC279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5358384" y="1773936"/>
            <a:ext cx="7863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已达成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6492240" y="1773936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EVT → DVT 阶段评审节点，算法侧均按期完成对接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548640" y="2359152"/>
            <a:ext cx="3575304" cy="2084832"/>
          </a:xfrm>
          <a:prstGeom prst="roundRect">
            <a:avLst>
              <a:gd name="adj" fmla="val 4386"/>
            </a:avLst>
          </a:prstGeom>
          <a:solidFill>
            <a:srgbClr val="F3F1FF"/>
          </a:solidFill>
          <a:ln/>
        </p:spPr>
      </p:sp>
      <p:sp>
        <p:nvSpPr>
          <p:cNvPr id="13" name="Shape 10"/>
          <p:cNvSpPr/>
          <p:nvPr/>
        </p:nvSpPr>
        <p:spPr>
          <a:xfrm>
            <a:off x="786384" y="2560320"/>
            <a:ext cx="420624" cy="420624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786384" y="256032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1335024" y="259689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第一版模型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822960" y="3108960"/>
            <a:ext cx="3035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用影棚 3 只狗的数据训练</a:t>
            </a:r>
            <a:endParaRPr lang="en-US" sz="1050" dirty="0"/>
          </a:p>
        </p:txBody>
      </p:sp>
      <p:sp>
        <p:nvSpPr>
          <p:cNvPr id="17" name="Text 14"/>
          <p:cNvSpPr txBox="1"/>
          <p:nvPr/>
        </p:nvSpPr>
        <p:spPr>
          <a:xfrm>
            <a:off x="822960" y="3493008"/>
            <a:ext cx="3035808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这 3 只狗准确率约 85%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4306824" y="2359152"/>
            <a:ext cx="3575304" cy="2084832"/>
          </a:xfrm>
          <a:prstGeom prst="roundRect">
            <a:avLst>
              <a:gd name="adj" fmla="val 4386"/>
            </a:avLst>
          </a:prstGeom>
          <a:solidFill>
            <a:srgbClr val="F3F1FF"/>
          </a:solidFill>
          <a:ln/>
        </p:spPr>
      </p:sp>
      <p:sp>
        <p:nvSpPr>
          <p:cNvPr id="19" name="Shape 16"/>
          <p:cNvSpPr/>
          <p:nvPr/>
        </p:nvSpPr>
        <p:spPr>
          <a:xfrm>
            <a:off x="4544568" y="2560320"/>
            <a:ext cx="420624" cy="420624"/>
          </a:xfrm>
          <a:prstGeom prst="ellipse">
            <a:avLst/>
          </a:prstGeom>
          <a:solidFill>
            <a:srgbClr val="6A51B7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4544568" y="256032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5093208" y="259689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稳定版 v2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4581144" y="3108960"/>
            <a:ext cx="3035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把第 4 只狗的数据也补进去重训</a:t>
            </a:r>
            <a:endParaRPr lang="en-US" sz="1050" dirty="0"/>
          </a:p>
        </p:txBody>
      </p:sp>
      <p:sp>
        <p:nvSpPr>
          <p:cNvPr id="23" name="Text 20"/>
          <p:cNvSpPr txBox="1"/>
          <p:nvPr/>
        </p:nvSpPr>
        <p:spPr>
          <a:xfrm>
            <a:off x="4581144" y="3493008"/>
            <a:ext cx="3035808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只狗准确率都到 85%，误报变少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8065008" y="2359152"/>
            <a:ext cx="3575304" cy="2084832"/>
          </a:xfrm>
          <a:prstGeom prst="roundRect">
            <a:avLst>
              <a:gd name="adj" fmla="val 4386"/>
            </a:avLst>
          </a:prstGeom>
          <a:solidFill>
            <a:srgbClr val="452D8D"/>
          </a:solidFill>
          <a:ln/>
        </p:spPr>
      </p:sp>
      <p:sp>
        <p:nvSpPr>
          <p:cNvPr id="25" name="Shape 22"/>
          <p:cNvSpPr/>
          <p:nvPr/>
        </p:nvSpPr>
        <p:spPr>
          <a:xfrm>
            <a:off x="8302752" y="2560320"/>
            <a:ext cx="420624" cy="420624"/>
          </a:xfrm>
          <a:prstGeom prst="ellipse">
            <a:avLst/>
          </a:prstGeom>
          <a:solidFill>
            <a:srgbClr val="F7BA59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8302752" y="256032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200" dirty="0"/>
          </a:p>
        </p:txBody>
      </p:sp>
      <p:sp>
        <p:nvSpPr>
          <p:cNvPr id="27" name="Text 24"/>
          <p:cNvSpPr txBox="1"/>
          <p:nvPr/>
        </p:nvSpPr>
        <p:spPr>
          <a:xfrm>
            <a:off x="8851392" y="259689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怎么验证靠不靠谱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8339328" y="3108960"/>
            <a:ext cx="3035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来一只就单独测，来一批就整批测</a:t>
            </a:r>
            <a:endParaRPr lang="en-US" sz="1050" dirty="0"/>
          </a:p>
        </p:txBody>
      </p:sp>
      <p:sp>
        <p:nvSpPr>
          <p:cNvPr id="29" name="Text 26"/>
          <p:cNvSpPr txBox="1"/>
          <p:nvPr/>
        </p:nvSpPr>
        <p:spPr>
          <a:xfrm>
            <a:off x="8339328" y="3493008"/>
            <a:ext cx="3035808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换没见过的狗，看还准不准</a:t>
            </a:r>
            <a:endParaRPr lang="en-US" sz="1200" dirty="0"/>
          </a:p>
        </p:txBody>
      </p:sp>
      <p:sp>
        <p:nvSpPr>
          <p:cNvPr id="30" name="Shape 27"/>
          <p:cNvSpPr/>
          <p:nvPr/>
        </p:nvSpPr>
        <p:spPr>
          <a:xfrm>
            <a:off x="548640" y="4645152"/>
            <a:ext cx="11091672" cy="969264"/>
          </a:xfrm>
          <a:prstGeom prst="roundRect">
            <a:avLst>
              <a:gd name="adj" fmla="val 9434"/>
            </a:avLst>
          </a:prstGeom>
          <a:solidFill>
            <a:srgbClr val="D5D0F7"/>
          </a:solidFill>
          <a:ln/>
        </p:spPr>
      </p:sp>
      <p:sp>
        <p:nvSpPr>
          <p:cNvPr id="31" name="Text 28"/>
          <p:cNvSpPr txBox="1"/>
          <p:nvPr/>
        </p:nvSpPr>
        <p:spPr>
          <a:xfrm>
            <a:off x="804672" y="4864608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下一步</a:t>
            </a:r>
            <a:endParaRPr lang="en-US" sz="1100" dirty="0"/>
          </a:p>
        </p:txBody>
      </p:sp>
      <p:sp>
        <p:nvSpPr>
          <p:cNvPr id="32" name="Text 29"/>
          <p:cNvSpPr txBox="1"/>
          <p:nvPr/>
        </p:nvSpPr>
        <p:spPr>
          <a:xfrm>
            <a:off x="2194560" y="4828032"/>
            <a:ext cx="9235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狗场先加 6 只（1-2 周）做一次批量验证，之后按批次逐步扩大；单只新增就单独测，看具体情况定。</a:t>
            </a:r>
            <a:endParaRPr lang="en-US" sz="13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5815584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以上为算法自测结果，尚未经测试同事验收。</a:t>
            </a:r>
            <a:endParaRPr lang="en-US" sz="1000" dirty="0"/>
          </a:p>
        </p:txBody>
      </p:sp>
      <p:sp>
        <p:nvSpPr>
          <p:cNvPr id="34" name="Text 31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02.3  SKIN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成果二：皮肤评估，两条路一起走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517904"/>
            <a:ext cx="5431536" cy="1975104"/>
          </a:xfrm>
          <a:prstGeom prst="roundRect">
            <a:avLst>
              <a:gd name="adj" fmla="val 4630"/>
            </a:avLst>
          </a:prstGeom>
          <a:solidFill>
            <a:srgbClr val="F3F1FF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822960" y="1682496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规则版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832104" y="2011680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PM 与兽医主导</a:t>
            </a:r>
            <a:endParaRPr lang="en-US" sz="105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340864"/>
            <a:ext cx="488289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5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每一分怎么来的都能说清楚</a:t>
            </a:r>
            <a:endParaRPr lang="en-US" sz="1100" dirty="0"/>
          </a:p>
          <a:p>
            <a:pPr marL="342900" indent="-342900">
              <a:lnSpc>
                <a:spcPct val="115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兽医好核对、好调整</a:t>
            </a:r>
            <a:endParaRPr lang="en-US" sz="1100" dirty="0"/>
          </a:p>
          <a:p>
            <a:pPr marL="342900" indent="-342900">
              <a:lnSpc>
                <a:spcPct val="115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上限不高，靠人定规则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208776" y="1517904"/>
            <a:ext cx="5431536" cy="1975104"/>
          </a:xfrm>
          <a:prstGeom prst="roundRect">
            <a:avLst>
              <a:gd name="adj" fmla="val 4630"/>
            </a:avLst>
          </a:prstGeom>
          <a:solidFill>
            <a:srgbClr val="452D8D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6483096" y="1682496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版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6492240" y="2011680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把业务规则和兽医临床经验变成特征，让模型学</a:t>
            </a:r>
            <a:endParaRPr lang="en-US" sz="1050" dirty="0"/>
          </a:p>
        </p:txBody>
      </p:sp>
      <p:sp>
        <p:nvSpPr>
          <p:cNvPr id="12" name="Text 9"/>
          <p:cNvSpPr txBox="1"/>
          <p:nvPr/>
        </p:nvSpPr>
        <p:spPr>
          <a:xfrm>
            <a:off x="6483096" y="2340864"/>
            <a:ext cx="488289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5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上限更高，能自己找规律</a:t>
            </a:r>
            <a:endParaRPr lang="en-US" sz="1100" dirty="0"/>
          </a:p>
          <a:p>
            <a:pPr marL="342900" indent="-342900">
              <a:lnSpc>
                <a:spcPct val="115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已用合成数据验证方案可行</a:t>
            </a:r>
            <a:endParaRPr lang="en-US" sz="1100" dirty="0"/>
          </a:p>
          <a:p>
            <a:pPr marL="342900" indent="-342900">
              <a:lnSpc>
                <a:spcPct val="115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要真实病例数据才能真正训好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566928" y="3675888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版怎么判断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548640" y="4078224"/>
            <a:ext cx="11091672" cy="713232"/>
          </a:xfrm>
          <a:prstGeom prst="roundRect">
            <a:avLst>
              <a:gd name="adj" fmla="val 12821"/>
            </a:avLst>
          </a:prstGeom>
          <a:solidFill>
            <a:srgbClr val="F3F1FF"/>
          </a:solidFill>
          <a:ln/>
        </p:spPr>
      </p:sp>
      <p:sp>
        <p:nvSpPr>
          <p:cNvPr id="15" name="Shape 12"/>
          <p:cNvSpPr/>
          <p:nvPr/>
        </p:nvSpPr>
        <p:spPr>
          <a:xfrm>
            <a:off x="768096" y="4261104"/>
            <a:ext cx="1060704" cy="347472"/>
          </a:xfrm>
          <a:prstGeom prst="roundRect">
            <a:avLst>
              <a:gd name="adj" fmla="val 21053"/>
            </a:avLst>
          </a:prstGeom>
          <a:solidFill>
            <a:srgbClr val="6A51B7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768096" y="4261104"/>
            <a:ext cx="10607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第一阶段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2103120" y="4261104"/>
            <a:ext cx="4754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行为数据</a:t>
            </a:r>
            <a:endParaRPr lang="en-US" sz="1250" dirty="0"/>
          </a:p>
        </p:txBody>
      </p:sp>
      <p:sp>
        <p:nvSpPr>
          <p:cNvPr id="18" name="Text 15"/>
          <p:cNvSpPr txBox="1"/>
          <p:nvPr/>
        </p:nvSpPr>
        <p:spPr>
          <a:xfrm>
            <a:off x="6949440" y="4261104"/>
            <a:ext cx="457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7498080" y="4261104"/>
            <a:ext cx="3931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皮肤等级</a:t>
            </a:r>
            <a:endParaRPr lang="en-US" sz="1250" dirty="0"/>
          </a:p>
        </p:txBody>
      </p:sp>
      <p:sp>
        <p:nvSpPr>
          <p:cNvPr id="20" name="Shape 17"/>
          <p:cNvSpPr/>
          <p:nvPr/>
        </p:nvSpPr>
        <p:spPr>
          <a:xfrm>
            <a:off x="548640" y="4901184"/>
            <a:ext cx="11091672" cy="713232"/>
          </a:xfrm>
          <a:prstGeom prst="roundRect">
            <a:avLst>
              <a:gd name="adj" fmla="val 12821"/>
            </a:avLst>
          </a:prstGeom>
          <a:solidFill>
            <a:srgbClr val="D5D0F7"/>
          </a:solidFill>
          <a:ln/>
        </p:spPr>
      </p:sp>
      <p:sp>
        <p:nvSpPr>
          <p:cNvPr id="21" name="Shape 18"/>
          <p:cNvSpPr/>
          <p:nvPr/>
        </p:nvSpPr>
        <p:spPr>
          <a:xfrm>
            <a:off x="768096" y="5084064"/>
            <a:ext cx="1060704" cy="347472"/>
          </a:xfrm>
          <a:prstGeom prst="roundRect">
            <a:avLst>
              <a:gd name="adj" fmla="val 21053"/>
            </a:avLst>
          </a:prstGeom>
          <a:solidFill>
            <a:srgbClr val="F7BA59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768096" y="5084064"/>
            <a:ext cx="10607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第二阶段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2103120" y="5084064"/>
            <a:ext cx="4754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 用户问答（可选 ＋ 用户照片）</a:t>
            </a:r>
            <a:endParaRPr lang="en-US" sz="1250" dirty="0"/>
          </a:p>
        </p:txBody>
      </p:sp>
      <p:sp>
        <p:nvSpPr>
          <p:cNvPr id="24" name="Text 21"/>
          <p:cNvSpPr txBox="1"/>
          <p:nvPr/>
        </p:nvSpPr>
        <p:spPr>
          <a:xfrm>
            <a:off x="6949440" y="5084064"/>
            <a:ext cx="457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300" dirty="0"/>
          </a:p>
        </p:txBody>
      </p:sp>
      <p:sp>
        <p:nvSpPr>
          <p:cNvPr id="25" name="Text 22"/>
          <p:cNvSpPr txBox="1"/>
          <p:nvPr/>
        </p:nvSpPr>
        <p:spPr>
          <a:xfrm>
            <a:off x="7498080" y="5084064"/>
            <a:ext cx="3931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综合评估</a:t>
            </a:r>
            <a:endParaRPr lang="en-US" sz="1250" dirty="0"/>
          </a:p>
        </p:txBody>
      </p:sp>
      <p:sp>
        <p:nvSpPr>
          <p:cNvPr id="26" name="Text 23"/>
          <p:cNvSpPr txBox="1"/>
          <p:nvPr/>
        </p:nvSpPr>
        <p:spPr>
          <a:xfrm>
            <a:off x="566928" y="5815584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用户问答和照片默认是没有的，所以多数情况只靠第一阶段的行为数据判断。</a:t>
            </a:r>
            <a:endParaRPr lang="en-US" sz="1050" dirty="0"/>
          </a:p>
        </p:txBody>
      </p:sp>
      <p:sp>
        <p:nvSpPr>
          <p:cNvPr id="27" name="Text 24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02.4  HOW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成果三：要做得更好，关键是这三件事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554480"/>
            <a:ext cx="3575304" cy="2962656"/>
          </a:xfrm>
          <a:prstGeom prst="roundRect">
            <a:avLst>
              <a:gd name="adj" fmla="val 3086"/>
            </a:avLst>
          </a:prstGeom>
          <a:solidFill>
            <a:srgbClr val="452D8D"/>
          </a:solidFill>
          <a:ln/>
        </p:spPr>
      </p:sp>
      <p:sp>
        <p:nvSpPr>
          <p:cNvPr id="6" name="Shape 3"/>
          <p:cNvSpPr/>
          <p:nvPr/>
        </p:nvSpPr>
        <p:spPr>
          <a:xfrm>
            <a:off x="804672" y="1773936"/>
            <a:ext cx="457200" cy="457200"/>
          </a:xfrm>
          <a:prstGeom prst="ellipse">
            <a:avLst/>
          </a:prstGeom>
          <a:solidFill>
            <a:srgbClr val="FCC279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804672" y="17739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1371600" y="1810512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样本要更多</a:t>
            </a:r>
            <a:endParaRPr lang="en-US" sz="1450" dirty="0"/>
          </a:p>
        </p:txBody>
      </p:sp>
      <p:sp>
        <p:nvSpPr>
          <p:cNvPr id="9" name="Text 6"/>
          <p:cNvSpPr txBox="1"/>
          <p:nvPr/>
        </p:nvSpPr>
        <p:spPr>
          <a:xfrm>
            <a:off x="822960" y="2359152"/>
            <a:ext cx="3035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现在只有 4 只狗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822960" y="2743200"/>
            <a:ext cx="303580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个体越多，模型换一只没见过的狗才稳</a:t>
            </a:r>
            <a:endParaRPr lang="en-US" sz="1100" dirty="0"/>
          </a:p>
          <a:p>
            <a:pPr marL="342900" indent="-3429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狗场先加 6 只，之后按批次继续扩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4306824" y="1554480"/>
            <a:ext cx="3575304" cy="2962656"/>
          </a:xfrm>
          <a:prstGeom prst="roundRect">
            <a:avLst>
              <a:gd name="adj" fmla="val 3086"/>
            </a:avLst>
          </a:prstGeom>
          <a:solidFill>
            <a:srgbClr val="F3F1FF"/>
          </a:solidFill>
          <a:ln/>
        </p:spPr>
      </p:sp>
      <p:sp>
        <p:nvSpPr>
          <p:cNvPr id="12" name="Shape 9"/>
          <p:cNvSpPr/>
          <p:nvPr/>
        </p:nvSpPr>
        <p:spPr>
          <a:xfrm>
            <a:off x="4562856" y="1773936"/>
            <a:ext cx="457200" cy="457200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4562856" y="17739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5129784" y="1810512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标注要人工审核</a:t>
            </a:r>
            <a:endParaRPr lang="en-US" sz="1450" dirty="0"/>
          </a:p>
        </p:txBody>
      </p:sp>
      <p:sp>
        <p:nvSpPr>
          <p:cNvPr id="15" name="Text 12"/>
          <p:cNvSpPr txBox="1"/>
          <p:nvPr/>
        </p:nvSpPr>
        <p:spPr>
          <a:xfrm>
            <a:off x="4581144" y="2359152"/>
            <a:ext cx="3035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但会越来越省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4581144" y="2743200"/>
            <a:ext cx="303580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模型越准，AI 预标越准，人只需核对</a:t>
            </a:r>
            <a:endParaRPr lang="en-US" sz="1100" dirty="0"/>
          </a:p>
          <a:p>
            <a:pPr marL="342900" indent="-3429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同样的数据量，人工投入随时间下降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8065008" y="1554480"/>
            <a:ext cx="3575304" cy="2962656"/>
          </a:xfrm>
          <a:prstGeom prst="roundRect">
            <a:avLst>
              <a:gd name="adj" fmla="val 3086"/>
            </a:avLst>
          </a:prstGeom>
          <a:solidFill>
            <a:srgbClr val="F3F1FF"/>
          </a:solidFill>
          <a:ln/>
        </p:spPr>
      </p:sp>
      <p:sp>
        <p:nvSpPr>
          <p:cNvPr id="18" name="Shape 15"/>
          <p:cNvSpPr/>
          <p:nvPr/>
        </p:nvSpPr>
        <p:spPr>
          <a:xfrm>
            <a:off x="8321040" y="1773936"/>
            <a:ext cx="457200" cy="457200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8321040" y="17739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8887968" y="1810512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数据够了换更好的模型</a:t>
            </a:r>
            <a:endParaRPr lang="en-US" sz="1450" dirty="0"/>
          </a:p>
        </p:txBody>
      </p:sp>
      <p:sp>
        <p:nvSpPr>
          <p:cNvPr id="21" name="Text 18"/>
          <p:cNvSpPr txBox="1"/>
          <p:nvPr/>
        </p:nvSpPr>
        <p:spPr>
          <a:xfrm>
            <a:off x="8339328" y="2359152"/>
            <a:ext cx="3035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现在的数据量还不够</a:t>
            </a: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8339328" y="2743200"/>
            <a:ext cx="303580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数据量少，传统方法更稳、更省</a:t>
            </a:r>
            <a:endParaRPr lang="en-US" sz="1100" dirty="0"/>
          </a:p>
          <a:p>
            <a:pPr marL="342900" indent="-3429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数据上来后可以上深度学习，上限更高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548640" y="4754880"/>
            <a:ext cx="11091672" cy="914400"/>
          </a:xfrm>
          <a:prstGeom prst="roundRect">
            <a:avLst>
              <a:gd name="adj" fmla="val 10000"/>
            </a:avLst>
          </a:prstGeom>
          <a:solidFill>
            <a:srgbClr val="D5D0F7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822960" y="4956048"/>
            <a:ext cx="10515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三件事是连着的：狗多了数据才够，AI 预标准了人工才省，省下来的人力才能标更多数据、支撑更好的模型。</a:t>
            </a:r>
            <a:endParaRPr lang="en-US" sz="1250" dirty="0"/>
          </a:p>
        </p:txBody>
      </p:sp>
      <p:sp>
        <p:nvSpPr>
          <p:cNvPr id="25" name="Text 22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02.5  PLATFORM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成果四：AI 先干粗活，人只做把关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66928" y="1316736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早期没有可用模型，只能纯人工标注 —— 一只狗一天录 24 段、每段 1 小时，靠人从头看到尾，费时又费人</a:t>
            </a:r>
            <a:endParaRPr lang="en-US" sz="1150" dirty="0"/>
          </a:p>
        </p:txBody>
      </p:sp>
      <p:sp>
        <p:nvSpPr>
          <p:cNvPr id="6" name="Shape 3"/>
          <p:cNvSpPr/>
          <p:nvPr/>
        </p:nvSpPr>
        <p:spPr>
          <a:xfrm>
            <a:off x="548640" y="1719072"/>
            <a:ext cx="1719072" cy="512064"/>
          </a:xfrm>
          <a:prstGeom prst="roundRect">
            <a:avLst>
              <a:gd name="adj" fmla="val 16071"/>
            </a:avLst>
          </a:prstGeom>
          <a:solidFill>
            <a:srgbClr val="D5D0F7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548640" y="1719072"/>
            <a:ext cx="17190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采集数据</a:t>
            </a:r>
            <a:endParaRPr lang="en-US" sz="1150" dirty="0"/>
          </a:p>
        </p:txBody>
      </p:sp>
      <p:sp>
        <p:nvSpPr>
          <p:cNvPr id="8" name="Text 5"/>
          <p:cNvSpPr txBox="1"/>
          <p:nvPr/>
        </p:nvSpPr>
        <p:spPr>
          <a:xfrm>
            <a:off x="2240280" y="1719072"/>
            <a:ext cx="19202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2404872" y="1719072"/>
            <a:ext cx="1719072" cy="512064"/>
          </a:xfrm>
          <a:prstGeom prst="roundRect">
            <a:avLst>
              <a:gd name="adj" fmla="val 16071"/>
            </a:avLst>
          </a:prstGeom>
          <a:solidFill>
            <a:srgbClr val="6A51B7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2404872" y="1719072"/>
            <a:ext cx="17190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先标</a:t>
            </a:r>
            <a:endParaRPr lang="en-US" sz="1150" dirty="0"/>
          </a:p>
        </p:txBody>
      </p:sp>
      <p:sp>
        <p:nvSpPr>
          <p:cNvPr id="11" name="Text 8"/>
          <p:cNvSpPr txBox="1"/>
          <p:nvPr/>
        </p:nvSpPr>
        <p:spPr>
          <a:xfrm>
            <a:off x="4096512" y="1719072"/>
            <a:ext cx="19202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4261104" y="1719072"/>
            <a:ext cx="1719072" cy="512064"/>
          </a:xfrm>
          <a:prstGeom prst="roundRect">
            <a:avLst>
              <a:gd name="adj" fmla="val 16071"/>
            </a:avLst>
          </a:prstGeom>
          <a:solidFill>
            <a:srgbClr val="6A51B7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4261104" y="1719072"/>
            <a:ext cx="17190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人工核对</a:t>
            </a:r>
            <a:endParaRPr lang="en-US" sz="1150" dirty="0"/>
          </a:p>
        </p:txBody>
      </p:sp>
      <p:sp>
        <p:nvSpPr>
          <p:cNvPr id="14" name="Text 11"/>
          <p:cNvSpPr txBox="1"/>
          <p:nvPr/>
        </p:nvSpPr>
        <p:spPr>
          <a:xfrm>
            <a:off x="5952744" y="1719072"/>
            <a:ext cx="19202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6117336" y="1719072"/>
            <a:ext cx="1719072" cy="512064"/>
          </a:xfrm>
          <a:prstGeom prst="roundRect">
            <a:avLst>
              <a:gd name="adj" fmla="val 16071"/>
            </a:avLst>
          </a:prstGeom>
          <a:solidFill>
            <a:srgbClr val="D5D0F7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6117336" y="1719072"/>
            <a:ext cx="17190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训练模型</a:t>
            </a:r>
            <a:endParaRPr lang="en-US" sz="1150" dirty="0"/>
          </a:p>
        </p:txBody>
      </p:sp>
      <p:sp>
        <p:nvSpPr>
          <p:cNvPr id="17" name="Text 14"/>
          <p:cNvSpPr txBox="1"/>
          <p:nvPr/>
        </p:nvSpPr>
        <p:spPr>
          <a:xfrm>
            <a:off x="7808976" y="1719072"/>
            <a:ext cx="19202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7973568" y="1719072"/>
            <a:ext cx="1719072" cy="512064"/>
          </a:xfrm>
          <a:prstGeom prst="roundRect">
            <a:avLst>
              <a:gd name="adj" fmla="val 16071"/>
            </a:avLst>
          </a:prstGeom>
          <a:solidFill>
            <a:srgbClr val="D5D0F7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7973568" y="1719072"/>
            <a:ext cx="17190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测试效果</a:t>
            </a:r>
            <a:endParaRPr lang="en-US" sz="1150" dirty="0"/>
          </a:p>
        </p:txBody>
      </p:sp>
      <p:sp>
        <p:nvSpPr>
          <p:cNvPr id="20" name="Text 17"/>
          <p:cNvSpPr txBox="1"/>
          <p:nvPr/>
        </p:nvSpPr>
        <p:spPr>
          <a:xfrm>
            <a:off x="9665208" y="1719072"/>
            <a:ext cx="19202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9829800" y="1719072"/>
            <a:ext cx="1719072" cy="512064"/>
          </a:xfrm>
          <a:prstGeom prst="roundRect">
            <a:avLst>
              <a:gd name="adj" fmla="val 16071"/>
            </a:avLst>
          </a:prstGeom>
          <a:solidFill>
            <a:srgbClr val="D5D0F7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9829800" y="1719072"/>
            <a:ext cx="17190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上线使用</a:t>
            </a:r>
            <a:endParaRPr lang="en-US" sz="1150" dirty="0"/>
          </a:p>
        </p:txBody>
      </p:sp>
      <p:pic>
        <p:nvPicPr>
          <p:cNvPr id="23" name="Image 1" descr="media/revie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450592"/>
            <a:ext cx="6035040" cy="2862072"/>
          </a:xfrm>
          <a:prstGeom prst="rect">
            <a:avLst/>
          </a:prstGeom>
        </p:spPr>
      </p:pic>
      <p:sp>
        <p:nvSpPr>
          <p:cNvPr id="24" name="Text 20"/>
          <p:cNvSpPr txBox="1"/>
          <p:nvPr/>
        </p:nvSpPr>
        <p:spPr>
          <a:xfrm>
            <a:off x="548640" y="5385816"/>
            <a:ext cx="6035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标注核对界面：三路画面与项圈数据同步回看</a:t>
            </a:r>
            <a:endParaRPr lang="en-US" sz="950" dirty="0"/>
          </a:p>
        </p:txBody>
      </p:sp>
      <p:sp>
        <p:nvSpPr>
          <p:cNvPr id="25" name="Shape 21"/>
          <p:cNvSpPr/>
          <p:nvPr/>
        </p:nvSpPr>
        <p:spPr>
          <a:xfrm>
            <a:off x="6803136" y="2450592"/>
            <a:ext cx="4837176" cy="868680"/>
          </a:xfrm>
          <a:prstGeom prst="roundRect">
            <a:avLst>
              <a:gd name="adj" fmla="val 10526"/>
            </a:avLst>
          </a:prstGeom>
          <a:solidFill>
            <a:srgbClr val="F3F1FF"/>
          </a:solidFill>
          <a:ln/>
        </p:spPr>
      </p:sp>
      <p:sp>
        <p:nvSpPr>
          <p:cNvPr id="26" name="Shape 22"/>
          <p:cNvSpPr/>
          <p:nvPr/>
        </p:nvSpPr>
        <p:spPr>
          <a:xfrm>
            <a:off x="7004304" y="2688336"/>
            <a:ext cx="384048" cy="384048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27" name="Text 23"/>
          <p:cNvSpPr txBox="1"/>
          <p:nvPr/>
        </p:nvSpPr>
        <p:spPr>
          <a:xfrm>
            <a:off x="7004304" y="26883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28" name="Text 24"/>
          <p:cNvSpPr txBox="1"/>
          <p:nvPr/>
        </p:nvSpPr>
        <p:spPr>
          <a:xfrm>
            <a:off x="7498080" y="2560320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先标，人只做核对</a:t>
            </a:r>
            <a:endParaRPr lang="en-US" sz="1200" dirty="0"/>
          </a:p>
        </p:txBody>
      </p:sp>
      <p:sp>
        <p:nvSpPr>
          <p:cNvPr id="29" name="Text 25"/>
          <p:cNvSpPr txBox="1"/>
          <p:nvPr/>
        </p:nvSpPr>
        <p:spPr>
          <a:xfrm>
            <a:off x="7498080" y="2834640"/>
            <a:ext cx="39867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模型先给出候选片段，人从「一帧帧从头标」变成「核对和修正」</a:t>
            </a:r>
            <a:endParaRPr lang="en-US" sz="950" dirty="0"/>
          </a:p>
        </p:txBody>
      </p:sp>
      <p:sp>
        <p:nvSpPr>
          <p:cNvPr id="30" name="Shape 26"/>
          <p:cNvSpPr/>
          <p:nvPr/>
        </p:nvSpPr>
        <p:spPr>
          <a:xfrm>
            <a:off x="6803136" y="3447288"/>
            <a:ext cx="4837176" cy="868680"/>
          </a:xfrm>
          <a:prstGeom prst="roundRect">
            <a:avLst>
              <a:gd name="adj" fmla="val 10526"/>
            </a:avLst>
          </a:prstGeom>
          <a:solidFill>
            <a:srgbClr val="F3F1FF"/>
          </a:solidFill>
          <a:ln/>
        </p:spPr>
      </p:sp>
      <p:sp>
        <p:nvSpPr>
          <p:cNvPr id="31" name="Shape 27"/>
          <p:cNvSpPr/>
          <p:nvPr/>
        </p:nvSpPr>
        <p:spPr>
          <a:xfrm>
            <a:off x="7004304" y="3685032"/>
            <a:ext cx="384048" cy="384048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32" name="Text 28"/>
          <p:cNvSpPr txBox="1"/>
          <p:nvPr/>
        </p:nvSpPr>
        <p:spPr>
          <a:xfrm>
            <a:off x="7004304" y="36850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33" name="Text 29"/>
          <p:cNvSpPr txBox="1"/>
          <p:nvPr/>
        </p:nvSpPr>
        <p:spPr>
          <a:xfrm>
            <a:off x="7498080" y="3557016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可疑的也一并挑出来</a:t>
            </a:r>
            <a:endParaRPr lang="en-US" sz="1200" dirty="0"/>
          </a:p>
        </p:txBody>
      </p:sp>
      <p:sp>
        <p:nvSpPr>
          <p:cNvPr id="34" name="Text 30"/>
          <p:cNvSpPr txBox="1"/>
          <p:nvPr/>
        </p:nvSpPr>
        <p:spPr>
          <a:xfrm>
            <a:off x="7498080" y="3831336"/>
            <a:ext cx="39867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可能认错的、可能漏掉的都单独列出，人重点看这些，不用整段翻</a:t>
            </a:r>
            <a:endParaRPr lang="en-US" sz="950" dirty="0"/>
          </a:p>
        </p:txBody>
      </p:sp>
      <p:sp>
        <p:nvSpPr>
          <p:cNvPr id="35" name="Shape 31"/>
          <p:cNvSpPr/>
          <p:nvPr/>
        </p:nvSpPr>
        <p:spPr>
          <a:xfrm>
            <a:off x="6803136" y="4443984"/>
            <a:ext cx="4837176" cy="868680"/>
          </a:xfrm>
          <a:prstGeom prst="roundRect">
            <a:avLst>
              <a:gd name="adj" fmla="val 10526"/>
            </a:avLst>
          </a:prstGeom>
          <a:solidFill>
            <a:srgbClr val="F3F1FF"/>
          </a:solidFill>
          <a:ln/>
        </p:spPr>
      </p:sp>
      <p:sp>
        <p:nvSpPr>
          <p:cNvPr id="36" name="Shape 32"/>
          <p:cNvSpPr/>
          <p:nvPr/>
        </p:nvSpPr>
        <p:spPr>
          <a:xfrm>
            <a:off x="7004304" y="4681728"/>
            <a:ext cx="384048" cy="384048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37" name="Text 33"/>
          <p:cNvSpPr txBox="1"/>
          <p:nvPr/>
        </p:nvSpPr>
        <p:spPr>
          <a:xfrm>
            <a:off x="7004304" y="46817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38" name="Text 34"/>
          <p:cNvSpPr txBox="1"/>
          <p:nvPr/>
        </p:nvSpPr>
        <p:spPr>
          <a:xfrm>
            <a:off x="7498080" y="4553712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多人可以一起干</a:t>
            </a:r>
            <a:endParaRPr lang="en-US" sz="1200" dirty="0"/>
          </a:p>
        </p:txBody>
      </p:sp>
      <p:sp>
        <p:nvSpPr>
          <p:cNvPr id="39" name="Text 35"/>
          <p:cNvSpPr txBox="1"/>
          <p:nvPr/>
        </p:nvSpPr>
        <p:spPr>
          <a:xfrm>
            <a:off x="7498080" y="4828032"/>
            <a:ext cx="39867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任务分发领取、逐条或整份通过，不同角色只看该看的数据</a:t>
            </a:r>
            <a:endParaRPr lang="en-US" sz="950" dirty="0"/>
          </a:p>
        </p:txBody>
      </p:sp>
      <p:sp>
        <p:nvSpPr>
          <p:cNvPr id="40" name="Shape 36"/>
          <p:cNvSpPr/>
          <p:nvPr/>
        </p:nvSpPr>
        <p:spPr>
          <a:xfrm>
            <a:off x="548640" y="5760720"/>
            <a:ext cx="11091672" cy="658368"/>
          </a:xfrm>
          <a:prstGeom prst="roundRect">
            <a:avLst>
              <a:gd name="adj" fmla="val 13889"/>
            </a:avLst>
          </a:prstGeom>
          <a:solidFill>
            <a:srgbClr val="452D8D"/>
          </a:solidFill>
          <a:ln/>
        </p:spPr>
      </p:sp>
      <p:sp>
        <p:nvSpPr>
          <p:cNvPr id="41" name="Text 37"/>
          <p:cNvSpPr txBox="1"/>
          <p:nvPr/>
        </p:nvSpPr>
        <p:spPr>
          <a:xfrm>
            <a:off x="804672" y="596188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平台承载的算法</a:t>
            </a:r>
            <a:endParaRPr lang="en-US" sz="1100" dirty="0"/>
          </a:p>
        </p:txBody>
      </p:sp>
      <p:sp>
        <p:nvSpPr>
          <p:cNvPr id="42" name="Text 38"/>
          <p:cNvSpPr txBox="1"/>
          <p:nvPr/>
        </p:nvSpPr>
        <p:spPr>
          <a:xfrm>
            <a:off x="2743200" y="594360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平台上同时跑着：行为识别　·　皮肤健康评估　·　口腔牙齿检测</a:t>
            </a:r>
            <a:endParaRPr lang="en-US" sz="1100" dirty="0"/>
          </a:p>
        </p:txBody>
      </p:sp>
      <p:sp>
        <p:nvSpPr>
          <p:cNvPr id="43" name="Text 39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02.6  LIVE DEMO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算法效果演示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93776" y="1591056"/>
            <a:ext cx="6830568" cy="3294960"/>
          </a:xfrm>
          <a:prstGeom prst="roundRect">
            <a:avLst>
              <a:gd name="adj" fmla="val 2220"/>
            </a:avLst>
          </a:prstGeom>
          <a:solidFill>
            <a:srgbClr val="452D8D"/>
          </a:solidFill>
          <a:ln/>
        </p:spPr>
      </p:sp>
      <p:pic>
        <p:nvPicPr>
          <p:cNvPr id="44" name="Media 0">
            <a:hlinkClick r:id="" action="ppaction://media"/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48640" y="1645920"/>
            <a:ext cx="6720840" cy="3185232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548640" y="4977456"/>
            <a:ext cx="6720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放映时点击画面播放</a:t>
            </a:r>
            <a:endParaRPr lang="en-US" sz="950" dirty="0"/>
          </a:p>
        </p:txBody>
      </p:sp>
      <p:sp>
        <p:nvSpPr>
          <p:cNvPr id="8" name="Text 4"/>
          <p:cNvSpPr txBox="1"/>
          <p:nvPr/>
        </p:nvSpPr>
        <p:spPr>
          <a:xfrm>
            <a:off x="7571232" y="1645920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抓挠检出与人工核对  —  请看四处</a:t>
            </a:r>
            <a:endParaRPr lang="en-US" sz="1300" dirty="0"/>
          </a:p>
        </p:txBody>
      </p:sp>
      <p:sp>
        <p:nvSpPr>
          <p:cNvPr id="9" name="Shape 5"/>
          <p:cNvSpPr/>
          <p:nvPr/>
        </p:nvSpPr>
        <p:spPr>
          <a:xfrm>
            <a:off x="7552944" y="2011680"/>
            <a:ext cx="4087368" cy="640080"/>
          </a:xfrm>
          <a:prstGeom prst="roundRect">
            <a:avLst>
              <a:gd name="adj" fmla="val 14286"/>
            </a:avLst>
          </a:prstGeom>
          <a:solidFill>
            <a:srgbClr val="F3F1FF"/>
          </a:solidFill>
          <a:ln/>
        </p:spPr>
      </p:sp>
      <p:sp>
        <p:nvSpPr>
          <p:cNvPr id="10" name="Shape 6"/>
          <p:cNvSpPr/>
          <p:nvPr/>
        </p:nvSpPr>
        <p:spPr>
          <a:xfrm>
            <a:off x="7735824" y="2157984"/>
            <a:ext cx="347472" cy="347472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11" name="Text 7"/>
          <p:cNvSpPr txBox="1"/>
          <p:nvPr/>
        </p:nvSpPr>
        <p:spPr>
          <a:xfrm>
            <a:off x="7735824" y="215798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Text 8"/>
          <p:cNvSpPr txBox="1"/>
          <p:nvPr/>
        </p:nvSpPr>
        <p:spPr>
          <a:xfrm>
            <a:off x="8193024" y="2057400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三路画面同步</a:t>
            </a:r>
            <a:endParaRPr lang="en-US" sz="1150" dirty="0"/>
          </a:p>
        </p:txBody>
      </p:sp>
      <p:sp>
        <p:nvSpPr>
          <p:cNvPr id="13" name="Text 9"/>
          <p:cNvSpPr txBox="1"/>
          <p:nvPr/>
        </p:nvSpPr>
        <p:spPr>
          <a:xfrm>
            <a:off x="8193024" y="2313432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三路画面与项圈波形共用一条时间轴</a:t>
            </a:r>
            <a:endParaRPr lang="en-US" sz="950" dirty="0"/>
          </a:p>
        </p:txBody>
      </p:sp>
      <p:sp>
        <p:nvSpPr>
          <p:cNvPr id="14" name="Shape 10"/>
          <p:cNvSpPr/>
          <p:nvPr/>
        </p:nvSpPr>
        <p:spPr>
          <a:xfrm>
            <a:off x="7552944" y="2734056"/>
            <a:ext cx="4087368" cy="640080"/>
          </a:xfrm>
          <a:prstGeom prst="roundRect">
            <a:avLst>
              <a:gd name="adj" fmla="val 14286"/>
            </a:avLst>
          </a:prstGeom>
          <a:solidFill>
            <a:srgbClr val="F3F1FF"/>
          </a:solidFill>
          <a:ln/>
        </p:spPr>
      </p:sp>
      <p:sp>
        <p:nvSpPr>
          <p:cNvPr id="15" name="Shape 11"/>
          <p:cNvSpPr/>
          <p:nvPr/>
        </p:nvSpPr>
        <p:spPr>
          <a:xfrm>
            <a:off x="7735824" y="2880360"/>
            <a:ext cx="347472" cy="347472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16" name="Text 12"/>
          <p:cNvSpPr txBox="1"/>
          <p:nvPr/>
        </p:nvSpPr>
        <p:spPr>
          <a:xfrm>
            <a:off x="7735824" y="288036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17" name="Text 13"/>
          <p:cNvSpPr txBox="1"/>
          <p:nvPr/>
        </p:nvSpPr>
        <p:spPr>
          <a:xfrm>
            <a:off x="8193024" y="2779776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标出的片段</a:t>
            </a:r>
            <a:endParaRPr lang="en-US" sz="1150" dirty="0"/>
          </a:p>
        </p:txBody>
      </p:sp>
      <p:sp>
        <p:nvSpPr>
          <p:cNvPr id="18" name="Text 14"/>
          <p:cNvSpPr txBox="1"/>
          <p:nvPr/>
        </p:nvSpPr>
        <p:spPr>
          <a:xfrm>
            <a:off x="8193024" y="3035808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模型标出 11.9 秒抓挠，把握 84%</a:t>
            </a:r>
            <a:endParaRPr lang="en-US" sz="950" dirty="0"/>
          </a:p>
        </p:txBody>
      </p:sp>
      <p:sp>
        <p:nvSpPr>
          <p:cNvPr id="19" name="Shape 15"/>
          <p:cNvSpPr/>
          <p:nvPr/>
        </p:nvSpPr>
        <p:spPr>
          <a:xfrm>
            <a:off x="7552944" y="3456432"/>
            <a:ext cx="4087368" cy="640080"/>
          </a:xfrm>
          <a:prstGeom prst="roundRect">
            <a:avLst>
              <a:gd name="adj" fmla="val 14286"/>
            </a:avLst>
          </a:prstGeom>
          <a:solidFill>
            <a:srgbClr val="D5D0F7"/>
          </a:solidFill>
          <a:ln/>
        </p:spPr>
      </p:sp>
      <p:sp>
        <p:nvSpPr>
          <p:cNvPr id="20" name="Shape 16"/>
          <p:cNvSpPr/>
          <p:nvPr/>
        </p:nvSpPr>
        <p:spPr>
          <a:xfrm>
            <a:off x="7735824" y="3602736"/>
            <a:ext cx="347472" cy="347472"/>
          </a:xfrm>
          <a:prstGeom prst="ellipse">
            <a:avLst/>
          </a:prstGeom>
          <a:solidFill>
            <a:srgbClr val="6A51B7"/>
          </a:solidFill>
          <a:ln/>
        </p:spPr>
      </p:sp>
      <p:sp>
        <p:nvSpPr>
          <p:cNvPr id="21" name="Text 17"/>
          <p:cNvSpPr txBox="1"/>
          <p:nvPr/>
        </p:nvSpPr>
        <p:spPr>
          <a:xfrm>
            <a:off x="7735824" y="360273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22" name="Text 18"/>
          <p:cNvSpPr txBox="1"/>
          <p:nvPr/>
        </p:nvSpPr>
        <p:spPr>
          <a:xfrm>
            <a:off x="8193024" y="3502152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拿不准的片段</a:t>
            </a:r>
            <a:endParaRPr lang="en-US" sz="1150" dirty="0"/>
          </a:p>
        </p:txBody>
      </p:sp>
      <p:sp>
        <p:nvSpPr>
          <p:cNvPr id="23" name="Text 19"/>
          <p:cNvSpPr txBox="1"/>
          <p:nvPr/>
        </p:nvSpPr>
        <p:spPr>
          <a:xfrm>
            <a:off x="8193024" y="3758184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没把握的地方单独挑出，等人判断</a:t>
            </a:r>
            <a:endParaRPr lang="en-US" sz="950" dirty="0"/>
          </a:p>
        </p:txBody>
      </p:sp>
      <p:sp>
        <p:nvSpPr>
          <p:cNvPr id="24" name="Shape 20"/>
          <p:cNvSpPr/>
          <p:nvPr/>
        </p:nvSpPr>
        <p:spPr>
          <a:xfrm>
            <a:off x="7552944" y="4178808"/>
            <a:ext cx="4087368" cy="640080"/>
          </a:xfrm>
          <a:prstGeom prst="roundRect">
            <a:avLst>
              <a:gd name="adj" fmla="val 14286"/>
            </a:avLst>
          </a:prstGeom>
          <a:solidFill>
            <a:srgbClr val="F3F1FF"/>
          </a:solidFill>
          <a:ln/>
        </p:spPr>
      </p:sp>
      <p:sp>
        <p:nvSpPr>
          <p:cNvPr id="25" name="Shape 21"/>
          <p:cNvSpPr/>
          <p:nvPr/>
        </p:nvSpPr>
        <p:spPr>
          <a:xfrm>
            <a:off x="7735824" y="4325112"/>
            <a:ext cx="347472" cy="347472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26" name="Text 22"/>
          <p:cNvSpPr txBox="1"/>
          <p:nvPr/>
        </p:nvSpPr>
        <p:spPr>
          <a:xfrm>
            <a:off x="7735824" y="432511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0" dirty="0"/>
          </a:p>
        </p:txBody>
      </p:sp>
      <p:sp>
        <p:nvSpPr>
          <p:cNvPr id="27" name="Text 23"/>
          <p:cNvSpPr txBox="1"/>
          <p:nvPr/>
        </p:nvSpPr>
        <p:spPr>
          <a:xfrm>
            <a:off x="8193024" y="4224528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人工核对</a:t>
            </a:r>
            <a:endParaRPr lang="en-US" sz="1150" dirty="0"/>
          </a:p>
        </p:txBody>
      </p:sp>
      <p:sp>
        <p:nvSpPr>
          <p:cNvPr id="28" name="Text 24"/>
          <p:cNvSpPr txBox="1"/>
          <p:nvPr/>
        </p:nvSpPr>
        <p:spPr>
          <a:xfrm>
            <a:off x="8193024" y="448056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认领修改 / 整份通过，多人可同时进行</a:t>
            </a:r>
            <a:endParaRPr lang="en-US" sz="950" dirty="0"/>
          </a:p>
        </p:txBody>
      </p:sp>
      <p:sp>
        <p:nvSpPr>
          <p:cNvPr id="29" name="Shape 25"/>
          <p:cNvSpPr/>
          <p:nvPr/>
        </p:nvSpPr>
        <p:spPr>
          <a:xfrm>
            <a:off x="548640" y="5010912"/>
            <a:ext cx="5431536" cy="1298448"/>
          </a:xfrm>
          <a:prstGeom prst="roundRect">
            <a:avLst>
              <a:gd name="adj" fmla="val 7042"/>
            </a:avLst>
          </a:prstGeom>
          <a:solidFill>
            <a:srgbClr val="F3F1FF"/>
          </a:solidFill>
          <a:ln/>
        </p:spPr>
      </p:sp>
      <p:sp>
        <p:nvSpPr>
          <p:cNvPr id="30" name="Shape 26"/>
          <p:cNvSpPr/>
          <p:nvPr/>
        </p:nvSpPr>
        <p:spPr>
          <a:xfrm>
            <a:off x="713232" y="5120640"/>
            <a:ext cx="1883664" cy="1078992"/>
          </a:xfrm>
          <a:prstGeom prst="roundRect">
            <a:avLst>
              <a:gd name="adj" fmla="val 5085"/>
            </a:avLst>
          </a:prstGeom>
          <a:solidFill>
            <a:srgbClr val="452D8D"/>
          </a:solidFill>
          <a:ln/>
        </p:spPr>
      </p:sp>
      <p:pic>
        <p:nvPicPr>
          <p:cNvPr id="31" name="Image 1" descr="media/platform.png">
            <a:hlinkClick r:id="rId6" tooltip="点击放大" action="ppaction://hlinksldjump"/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3232" y="5213256"/>
            <a:ext cx="1883664" cy="893759"/>
          </a:xfrm>
          <a:prstGeom prst="rect">
            <a:avLst/>
          </a:prstGeom>
        </p:spPr>
      </p:pic>
      <p:sp>
        <p:nvSpPr>
          <p:cNvPr id="32" name="Shape 27">
            <a:hlinkClick r:id="rId7" tooltip="点击放大" action="ppaction://hlinksldjump"/>
          </p:cNvPr>
          <p:cNvSpPr/>
          <p:nvPr/>
        </p:nvSpPr>
        <p:spPr>
          <a:xfrm>
            <a:off x="713232" y="5120640"/>
            <a:ext cx="1883664" cy="1078992"/>
          </a:xfrm>
          <a:prstGeom prst="roundRect">
            <a:avLst>
              <a:gd name="adj" fmla="val 5085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3" name="Text 28"/>
          <p:cNvSpPr txBox="1"/>
          <p:nvPr/>
        </p:nvSpPr>
        <p:spPr>
          <a:xfrm>
            <a:off x="2761488" y="6016752"/>
            <a:ext cx="30723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点击放大</a:t>
            </a:r>
            <a:endParaRPr lang="en-US" sz="900" dirty="0"/>
          </a:p>
        </p:txBody>
      </p:sp>
      <p:sp>
        <p:nvSpPr>
          <p:cNvPr id="34" name="Text 29"/>
          <p:cNvSpPr txBox="1"/>
          <p:nvPr/>
        </p:nvSpPr>
        <p:spPr>
          <a:xfrm>
            <a:off x="2761488" y="5266944"/>
            <a:ext cx="3072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皮肤评估每日跟踪</a:t>
            </a:r>
            <a:endParaRPr lang="en-US" sz="1250" dirty="0"/>
          </a:p>
        </p:txBody>
      </p:sp>
      <p:sp>
        <p:nvSpPr>
          <p:cNvPr id="35" name="Text 30"/>
          <p:cNvSpPr txBox="1"/>
          <p:nvPr/>
        </p:nvSpPr>
        <p:spPr>
          <a:xfrm>
            <a:off x="2761488" y="5577840"/>
            <a:ext cx="30723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每只狗每天自动出佩戴时长、抓挠统计与健康评分</a:t>
            </a:r>
            <a:endParaRPr lang="en-US" sz="1000" dirty="0"/>
          </a:p>
        </p:txBody>
      </p:sp>
      <p:sp>
        <p:nvSpPr>
          <p:cNvPr id="36" name="Shape 31"/>
          <p:cNvSpPr/>
          <p:nvPr/>
        </p:nvSpPr>
        <p:spPr>
          <a:xfrm>
            <a:off x="6208776" y="5010912"/>
            <a:ext cx="5431536" cy="1298448"/>
          </a:xfrm>
          <a:prstGeom prst="roundRect">
            <a:avLst>
              <a:gd name="adj" fmla="val 7042"/>
            </a:avLst>
          </a:prstGeom>
          <a:solidFill>
            <a:srgbClr val="F3F1FF"/>
          </a:solidFill>
          <a:ln/>
        </p:spPr>
      </p:sp>
      <p:sp>
        <p:nvSpPr>
          <p:cNvPr id="37" name="Shape 32"/>
          <p:cNvSpPr/>
          <p:nvPr/>
        </p:nvSpPr>
        <p:spPr>
          <a:xfrm>
            <a:off x="6373368" y="5120640"/>
            <a:ext cx="1883664" cy="1078992"/>
          </a:xfrm>
          <a:prstGeom prst="roundRect">
            <a:avLst>
              <a:gd name="adj" fmla="val 5085"/>
            </a:avLst>
          </a:prstGeom>
          <a:solidFill>
            <a:srgbClr val="452D8D"/>
          </a:solidFill>
          <a:ln/>
        </p:spPr>
      </p:sp>
      <p:pic>
        <p:nvPicPr>
          <p:cNvPr id="38" name="Image 2" descr="media/tartar.png">
            <a:hlinkClick r:id="rId9" tooltip="点击放大" action="ppaction://hlinksldjump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16121" y="5120640"/>
            <a:ext cx="1198158" cy="1078992"/>
          </a:xfrm>
          <a:prstGeom prst="rect">
            <a:avLst/>
          </a:prstGeom>
        </p:spPr>
      </p:pic>
      <p:sp>
        <p:nvSpPr>
          <p:cNvPr id="39" name="Shape 33">
            <a:hlinkClick r:id="rId10" tooltip="点击放大" action="ppaction://hlinksldjump"/>
          </p:cNvPr>
          <p:cNvSpPr/>
          <p:nvPr/>
        </p:nvSpPr>
        <p:spPr>
          <a:xfrm>
            <a:off x="6373368" y="5120640"/>
            <a:ext cx="1883664" cy="1078992"/>
          </a:xfrm>
          <a:prstGeom prst="roundRect">
            <a:avLst>
              <a:gd name="adj" fmla="val 5085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0" name="Text 34"/>
          <p:cNvSpPr txBox="1"/>
          <p:nvPr/>
        </p:nvSpPr>
        <p:spPr>
          <a:xfrm>
            <a:off x="8421624" y="6016752"/>
            <a:ext cx="30723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点击放大</a:t>
            </a:r>
            <a:endParaRPr lang="en-US" sz="900" dirty="0"/>
          </a:p>
        </p:txBody>
      </p:sp>
      <p:sp>
        <p:nvSpPr>
          <p:cNvPr id="41" name="Text 35"/>
          <p:cNvSpPr txBox="1"/>
          <p:nvPr/>
        </p:nvSpPr>
        <p:spPr>
          <a:xfrm>
            <a:off x="8421624" y="5266944"/>
            <a:ext cx="3072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口腔牙齿检测</a:t>
            </a:r>
            <a:endParaRPr lang="en-US" sz="1250" dirty="0"/>
          </a:p>
        </p:txBody>
      </p:sp>
      <p:sp>
        <p:nvSpPr>
          <p:cNvPr id="42" name="Text 36"/>
          <p:cNvSpPr txBox="1"/>
          <p:nvPr/>
        </p:nvSpPr>
        <p:spPr>
          <a:xfrm>
            <a:off x="8421624" y="5577840"/>
            <a:ext cx="30723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上传照片即可判断正常或异常</a:t>
            </a:r>
            <a:endParaRPr lang="en-US" sz="1000" dirty="0"/>
          </a:p>
        </p:txBody>
      </p:sp>
      <p:sp>
        <p:nvSpPr>
          <p:cNvPr id="43" name="Text 37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 fullScrn="1">
                <p:cTn id="2" fill="hold" display="0">
                  <p:stCondLst>
                    <p:cond delay="indefinite"/>
                  </p:stCondLst>
                </p:cTn>
                <p:tgtEl>
                  <p:spTgt spid="44"/>
                </p:tgtEl>
              </p:cMediaNode>
            </p:video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02.7  DATA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成果五：把数据采集从零跑起来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66928" y="1316736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从没有一条数据可用，到每天都有稳定的数据进来</a:t>
            </a:r>
            <a:endParaRPr lang="en-US" sz="1150" dirty="0"/>
          </a:p>
        </p:txBody>
      </p:sp>
      <p:sp>
        <p:nvSpPr>
          <p:cNvPr id="6" name="Shape 3"/>
          <p:cNvSpPr/>
          <p:nvPr/>
        </p:nvSpPr>
        <p:spPr>
          <a:xfrm>
            <a:off x="548640" y="1883664"/>
            <a:ext cx="2121408" cy="2651760"/>
          </a:xfrm>
          <a:prstGeom prst="roundRect">
            <a:avLst>
              <a:gd name="adj" fmla="val 4310"/>
            </a:avLst>
          </a:prstGeom>
          <a:solidFill>
            <a:srgbClr val="F3F1FF"/>
          </a:solidFill>
          <a:ln/>
        </p:spPr>
      </p:sp>
      <p:sp>
        <p:nvSpPr>
          <p:cNvPr id="7" name="Shape 4"/>
          <p:cNvSpPr/>
          <p:nvPr/>
        </p:nvSpPr>
        <p:spPr>
          <a:xfrm>
            <a:off x="768096" y="2084832"/>
            <a:ext cx="877824" cy="310896"/>
          </a:xfrm>
          <a:prstGeom prst="roundRect">
            <a:avLst>
              <a:gd name="adj" fmla="val 23529"/>
            </a:avLst>
          </a:prstGeom>
          <a:solidFill>
            <a:srgbClr val="846CCF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768096" y="2084832"/>
            <a:ext cx="877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月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768096" y="2542032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先用模拟数据</a:t>
            </a:r>
            <a:endParaRPr lang="en-US" sz="1250" dirty="0"/>
          </a:p>
        </p:txBody>
      </p:sp>
      <p:sp>
        <p:nvSpPr>
          <p:cNvPr id="10" name="Text 7"/>
          <p:cNvSpPr txBox="1"/>
          <p:nvPr/>
        </p:nvSpPr>
        <p:spPr>
          <a:xfrm>
            <a:off x="768096" y="3017520"/>
            <a:ext cx="171907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真实数据还没有，自己造数据把流程跑通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2798064" y="1883664"/>
            <a:ext cx="2121408" cy="2651760"/>
          </a:xfrm>
          <a:prstGeom prst="roundRect">
            <a:avLst>
              <a:gd name="adj" fmla="val 4310"/>
            </a:avLst>
          </a:prstGeom>
          <a:solidFill>
            <a:srgbClr val="F3F1FF"/>
          </a:solidFill>
          <a:ln/>
        </p:spPr>
      </p:sp>
      <p:sp>
        <p:nvSpPr>
          <p:cNvPr id="12" name="Shape 9"/>
          <p:cNvSpPr/>
          <p:nvPr/>
        </p:nvSpPr>
        <p:spPr>
          <a:xfrm>
            <a:off x="3017520" y="2084832"/>
            <a:ext cx="877824" cy="310896"/>
          </a:xfrm>
          <a:prstGeom prst="roundRect">
            <a:avLst>
              <a:gd name="adj" fmla="val 23529"/>
            </a:avLst>
          </a:prstGeom>
          <a:solidFill>
            <a:srgbClr val="6A51B7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3017520" y="2084832"/>
            <a:ext cx="877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月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3017520" y="2542032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拿到第一批真数据</a:t>
            </a:r>
            <a:endParaRPr lang="en-US" sz="1250" dirty="0"/>
          </a:p>
        </p:txBody>
      </p:sp>
      <p:sp>
        <p:nvSpPr>
          <p:cNvPr id="15" name="Text 12"/>
          <p:cNvSpPr txBox="1"/>
          <p:nvPr/>
        </p:nvSpPr>
        <p:spPr>
          <a:xfrm>
            <a:off x="3017520" y="3017520"/>
            <a:ext cx="171907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影棚开始采集，解决了画面与数据对不齐的老问题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5047488" y="1883664"/>
            <a:ext cx="2121408" cy="2651760"/>
          </a:xfrm>
          <a:prstGeom prst="roundRect">
            <a:avLst>
              <a:gd name="adj" fmla="val 4310"/>
            </a:avLst>
          </a:prstGeom>
          <a:solidFill>
            <a:srgbClr val="F3F1FF"/>
          </a:solidFill>
          <a:ln/>
        </p:spPr>
      </p:sp>
      <p:sp>
        <p:nvSpPr>
          <p:cNvPr id="17" name="Shape 14"/>
          <p:cNvSpPr/>
          <p:nvPr/>
        </p:nvSpPr>
        <p:spPr>
          <a:xfrm>
            <a:off x="5266944" y="2084832"/>
            <a:ext cx="877824" cy="310896"/>
          </a:xfrm>
          <a:prstGeom prst="roundRect">
            <a:avLst>
              <a:gd name="adj" fmla="val 23529"/>
            </a:avLst>
          </a:prstGeom>
          <a:solidFill>
            <a:srgbClr val="6A51B7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5266944" y="2084832"/>
            <a:ext cx="877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月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266944" y="2542032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采集流程定型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5266944" y="3017520"/>
            <a:ext cx="171907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方案固定下来，狗增加到 3 只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7296912" y="1883664"/>
            <a:ext cx="2121408" cy="2651760"/>
          </a:xfrm>
          <a:prstGeom prst="roundRect">
            <a:avLst>
              <a:gd name="adj" fmla="val 4310"/>
            </a:avLst>
          </a:prstGeom>
          <a:solidFill>
            <a:srgbClr val="F3F1FF"/>
          </a:solidFill>
          <a:ln/>
        </p:spPr>
      </p:sp>
      <p:sp>
        <p:nvSpPr>
          <p:cNvPr id="22" name="Shape 19"/>
          <p:cNvSpPr/>
          <p:nvPr/>
        </p:nvSpPr>
        <p:spPr>
          <a:xfrm>
            <a:off x="7516368" y="2084832"/>
            <a:ext cx="877824" cy="310896"/>
          </a:xfrm>
          <a:prstGeom prst="roundRect">
            <a:avLst>
              <a:gd name="adj" fmla="val 23529"/>
            </a:avLst>
          </a:prstGeom>
          <a:solidFill>
            <a:srgbClr val="F7BA59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7516368" y="2084832"/>
            <a:ext cx="877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月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7516368" y="2542032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为规模化铺路</a:t>
            </a:r>
            <a:endParaRPr lang="en-US" sz="1250" dirty="0"/>
          </a:p>
        </p:txBody>
      </p:sp>
      <p:sp>
        <p:nvSpPr>
          <p:cNvPr id="25" name="Text 22"/>
          <p:cNvSpPr txBox="1"/>
          <p:nvPr/>
        </p:nvSpPr>
        <p:spPr>
          <a:xfrm>
            <a:off x="7516368" y="3017520"/>
            <a:ext cx="171907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输出采集需求方案，推进狗场合作</a:t>
            </a:r>
            <a:endParaRPr lang="en-US" sz="1000" dirty="0"/>
          </a:p>
        </p:txBody>
      </p:sp>
      <p:sp>
        <p:nvSpPr>
          <p:cNvPr id="26" name="Shape 23"/>
          <p:cNvSpPr/>
          <p:nvPr/>
        </p:nvSpPr>
        <p:spPr>
          <a:xfrm>
            <a:off x="9546336" y="1883664"/>
            <a:ext cx="2121408" cy="2651760"/>
          </a:xfrm>
          <a:prstGeom prst="roundRect">
            <a:avLst>
              <a:gd name="adj" fmla="val 4310"/>
            </a:avLst>
          </a:prstGeom>
          <a:solidFill>
            <a:srgbClr val="F3F1FF"/>
          </a:solidFill>
          <a:ln/>
        </p:spPr>
      </p:sp>
      <p:sp>
        <p:nvSpPr>
          <p:cNvPr id="27" name="Shape 24"/>
          <p:cNvSpPr/>
          <p:nvPr/>
        </p:nvSpPr>
        <p:spPr>
          <a:xfrm>
            <a:off x="9765792" y="2084832"/>
            <a:ext cx="877824" cy="310896"/>
          </a:xfrm>
          <a:prstGeom prst="roundRect">
            <a:avLst>
              <a:gd name="adj" fmla="val 23529"/>
            </a:avLst>
          </a:prstGeom>
          <a:solidFill>
            <a:srgbClr val="F7BA59"/>
          </a:solidFill>
          <a:ln/>
        </p:spPr>
      </p:sp>
      <p:sp>
        <p:nvSpPr>
          <p:cNvPr id="28" name="Text 25"/>
          <p:cNvSpPr txBox="1"/>
          <p:nvPr/>
        </p:nvSpPr>
        <p:spPr>
          <a:xfrm>
            <a:off x="9765792" y="2084832"/>
            <a:ext cx="877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月</a:t>
            </a: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9765792" y="2542032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狗场落实</a:t>
            </a:r>
            <a:endParaRPr lang="en-US" sz="1250" dirty="0"/>
          </a:p>
        </p:txBody>
      </p:sp>
      <p:sp>
        <p:nvSpPr>
          <p:cNvPr id="30" name="Text 27"/>
          <p:cNvSpPr txBox="1"/>
          <p:nvPr/>
        </p:nvSpPr>
        <p:spPr>
          <a:xfrm>
            <a:off x="9765792" y="3017520"/>
            <a:ext cx="171907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龙岗狗场确认，6 间犬舍 6 只狗可采</a:t>
            </a:r>
            <a:endParaRPr lang="en-US" sz="10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5029200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影棚 2 → 4 只　·　龙岗狗场 6 只已谈妥　·　长远按 30 → 50 → 70 → 100 → 150 只分阶段扩大</a:t>
            </a:r>
            <a:endParaRPr lang="en-US" sz="1200" dirty="0"/>
          </a:p>
        </p:txBody>
      </p:sp>
      <p:sp>
        <p:nvSpPr>
          <p:cNvPr id="32" name="Text 29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02.8  TEAM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成果六：把事情当自己的事推着走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66928" y="1298448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算法岗只有我一人，很多事没人催也没人推 —— 能推到哪一步，取决于我主动做到哪一步</a:t>
            </a:r>
            <a:endParaRPr lang="en-US" sz="1150" dirty="0"/>
          </a:p>
        </p:txBody>
      </p:sp>
      <p:sp>
        <p:nvSpPr>
          <p:cNvPr id="6" name="Shape 3"/>
          <p:cNvSpPr/>
          <p:nvPr/>
        </p:nvSpPr>
        <p:spPr>
          <a:xfrm>
            <a:off x="548640" y="1700784"/>
            <a:ext cx="7223760" cy="658368"/>
          </a:xfrm>
          <a:prstGeom prst="roundRect">
            <a:avLst>
              <a:gd name="adj" fmla="val 13889"/>
            </a:avLst>
          </a:prstGeom>
          <a:solidFill>
            <a:srgbClr val="F3F1FF"/>
          </a:solidFill>
          <a:ln/>
        </p:spPr>
      </p:sp>
      <p:sp>
        <p:nvSpPr>
          <p:cNvPr id="7" name="Shape 4"/>
          <p:cNvSpPr/>
          <p:nvPr/>
        </p:nvSpPr>
        <p:spPr>
          <a:xfrm>
            <a:off x="768096" y="1883664"/>
            <a:ext cx="1170432" cy="310896"/>
          </a:xfrm>
          <a:prstGeom prst="roundRect">
            <a:avLst>
              <a:gd name="adj" fmla="val 23529"/>
            </a:avLst>
          </a:prstGeom>
          <a:solidFill>
            <a:srgbClr val="6A51B7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768096" y="1883664"/>
            <a:ext cx="11704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后端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2084832" y="1792224"/>
            <a:ext cx="5486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配合调整数据存储方式；交付算法服务，后端完成部署，全链路跑通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548640" y="2468880"/>
            <a:ext cx="7223760" cy="658368"/>
          </a:xfrm>
          <a:prstGeom prst="roundRect">
            <a:avLst>
              <a:gd name="adj" fmla="val 13889"/>
            </a:avLst>
          </a:prstGeom>
          <a:solidFill>
            <a:srgbClr val="F3F1FF"/>
          </a:solidFill>
          <a:ln/>
        </p:spPr>
      </p:sp>
      <p:sp>
        <p:nvSpPr>
          <p:cNvPr id="11" name="Shape 8"/>
          <p:cNvSpPr/>
          <p:nvPr/>
        </p:nvSpPr>
        <p:spPr>
          <a:xfrm>
            <a:off x="768096" y="2651760"/>
            <a:ext cx="1170432" cy="310896"/>
          </a:xfrm>
          <a:prstGeom prst="roundRect">
            <a:avLst>
              <a:gd name="adj" fmla="val 23529"/>
            </a:avLst>
          </a:prstGeom>
          <a:solidFill>
            <a:srgbClr val="846CCF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768096" y="2651760"/>
            <a:ext cx="11704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产品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2084832" y="2560320"/>
            <a:ext cx="5486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PRD 对接、明确算法边界、皮肤评估方案共同推敲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548640" y="3236976"/>
            <a:ext cx="7223760" cy="658368"/>
          </a:xfrm>
          <a:prstGeom prst="roundRect">
            <a:avLst>
              <a:gd name="adj" fmla="val 13889"/>
            </a:avLst>
          </a:prstGeom>
          <a:solidFill>
            <a:srgbClr val="F3F1FF"/>
          </a:solidFill>
          <a:ln/>
        </p:spPr>
      </p:sp>
      <p:sp>
        <p:nvSpPr>
          <p:cNvPr id="15" name="Shape 12"/>
          <p:cNvSpPr/>
          <p:nvPr/>
        </p:nvSpPr>
        <p:spPr>
          <a:xfrm>
            <a:off x="768096" y="3419856"/>
            <a:ext cx="1170432" cy="310896"/>
          </a:xfrm>
          <a:prstGeom prst="roundRect">
            <a:avLst>
              <a:gd name="adj" fmla="val 23529"/>
            </a:avLst>
          </a:prstGeom>
          <a:solidFill>
            <a:srgbClr val="F7BA59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768096" y="3419856"/>
            <a:ext cx="11704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硬件厂商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2084832" y="3328416"/>
            <a:ext cx="5486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查出并反馈设备丢数据、蓝牙断连的问题，推动修复与交付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548640" y="4005072"/>
            <a:ext cx="7223760" cy="658368"/>
          </a:xfrm>
          <a:prstGeom prst="roundRect">
            <a:avLst>
              <a:gd name="adj" fmla="val 13889"/>
            </a:avLst>
          </a:prstGeom>
          <a:solidFill>
            <a:srgbClr val="F3F1FF"/>
          </a:solidFill>
          <a:ln/>
        </p:spPr>
      </p:sp>
      <p:sp>
        <p:nvSpPr>
          <p:cNvPr id="19" name="Shape 16"/>
          <p:cNvSpPr/>
          <p:nvPr/>
        </p:nvSpPr>
        <p:spPr>
          <a:xfrm>
            <a:off x="768096" y="4187952"/>
            <a:ext cx="1170432" cy="310896"/>
          </a:xfrm>
          <a:prstGeom prst="roundRect">
            <a:avLst>
              <a:gd name="adj" fmla="val 23529"/>
            </a:avLst>
          </a:prstGeom>
          <a:solidFill>
            <a:srgbClr val="846CCF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768096" y="4187952"/>
            <a:ext cx="11704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兽医 / 产品</a:t>
            </a:r>
            <a:endParaRPr lang="en-US" sz="1100" dirty="0"/>
          </a:p>
        </p:txBody>
      </p:sp>
      <p:sp>
        <p:nvSpPr>
          <p:cNvPr id="21" name="Text 18"/>
          <p:cNvSpPr txBox="1"/>
          <p:nvPr/>
        </p:nvSpPr>
        <p:spPr>
          <a:xfrm>
            <a:off x="2084832" y="4096512"/>
            <a:ext cx="5486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示范标注工具，建立协同分工，推动兽医参与评估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548640" y="4773168"/>
            <a:ext cx="7223760" cy="658368"/>
          </a:xfrm>
          <a:prstGeom prst="roundRect">
            <a:avLst>
              <a:gd name="adj" fmla="val 13889"/>
            </a:avLst>
          </a:prstGeom>
          <a:solidFill>
            <a:srgbClr val="F3F1FF"/>
          </a:solidFill>
          <a:ln/>
        </p:spPr>
      </p:sp>
      <p:sp>
        <p:nvSpPr>
          <p:cNvPr id="23" name="Shape 20"/>
          <p:cNvSpPr/>
          <p:nvPr/>
        </p:nvSpPr>
        <p:spPr>
          <a:xfrm>
            <a:off x="768096" y="4956048"/>
            <a:ext cx="1170432" cy="310896"/>
          </a:xfrm>
          <a:prstGeom prst="roundRect">
            <a:avLst>
              <a:gd name="adj" fmla="val 23529"/>
            </a:avLst>
          </a:prstGeom>
          <a:solidFill>
            <a:srgbClr val="6A51B7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768096" y="4956048"/>
            <a:ext cx="11704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测试 / 项目</a:t>
            </a:r>
            <a:endParaRPr lang="en-US" sz="1100" dirty="0"/>
          </a:p>
        </p:txBody>
      </p:sp>
      <p:sp>
        <p:nvSpPr>
          <p:cNvPr id="25" name="Text 22"/>
          <p:cNvSpPr txBox="1"/>
          <p:nvPr/>
        </p:nvSpPr>
        <p:spPr>
          <a:xfrm>
            <a:off x="2084832" y="4864608"/>
            <a:ext cx="5486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预留测试接口；推动算法在 ONES 单独立项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8010144" y="1700784"/>
            <a:ext cx="3630168" cy="3840480"/>
          </a:xfrm>
          <a:prstGeom prst="roundRect">
            <a:avLst>
              <a:gd name="adj" fmla="val 2519"/>
            </a:avLst>
          </a:prstGeom>
          <a:solidFill>
            <a:srgbClr val="452D8D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8247888" y="184708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我主动做的几件事</a:t>
            </a:r>
            <a:endParaRPr lang="en-US" sz="1300" dirty="0"/>
          </a:p>
        </p:txBody>
      </p:sp>
      <p:sp>
        <p:nvSpPr>
          <p:cNvPr id="28" name="Text 25"/>
          <p:cNvSpPr txBox="1"/>
          <p:nvPr/>
        </p:nvSpPr>
        <p:spPr>
          <a:xfrm>
            <a:off x="8247888" y="2249424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做出口腔识别 Web Demo</a:t>
            </a: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8266176" y="2505456"/>
            <a:ext cx="31638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产品提出这个方向后，做出可用的 Web Demo，验证了这条路走不走得通</a:t>
            </a:r>
            <a:endParaRPr lang="en-US" sz="900" dirty="0"/>
          </a:p>
        </p:txBody>
      </p:sp>
      <p:sp>
        <p:nvSpPr>
          <p:cNvPr id="30" name="Text 27"/>
          <p:cNvSpPr txBox="1"/>
          <p:nvPr/>
        </p:nvSpPr>
        <p:spPr>
          <a:xfrm>
            <a:off x="8247888" y="3072384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质疑现有判断标准</a:t>
            </a:r>
            <a:endParaRPr lang="en-US" sz="1100" dirty="0"/>
          </a:p>
        </p:txBody>
      </p:sp>
      <p:sp>
        <p:nvSpPr>
          <p:cNvPr id="31" name="Text 28"/>
          <p:cNvSpPr txBox="1"/>
          <p:nvPr/>
        </p:nvSpPr>
        <p:spPr>
          <a:xfrm>
            <a:off x="8266176" y="3328416"/>
            <a:ext cx="31638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实测一晚抓挠 10-20 次但皮肤没问题，提出标准需要重新调研</a:t>
            </a:r>
            <a:endParaRPr lang="en-US" sz="900" dirty="0"/>
          </a:p>
        </p:txBody>
      </p:sp>
      <p:sp>
        <p:nvSpPr>
          <p:cNvPr id="32" name="Text 29"/>
          <p:cNvSpPr txBox="1"/>
          <p:nvPr/>
        </p:nvSpPr>
        <p:spPr>
          <a:xfrm>
            <a:off x="8247888" y="3895344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建议对标竞品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8266176" y="4151376"/>
            <a:ext cx="31638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建议买竞品实测，让狗同时戴上对比效果</a:t>
            </a:r>
            <a:endParaRPr lang="en-US" sz="900" dirty="0"/>
          </a:p>
        </p:txBody>
      </p:sp>
      <p:sp>
        <p:nvSpPr>
          <p:cNvPr id="34" name="Text 31"/>
          <p:cNvSpPr txBox="1"/>
          <p:nvPr/>
        </p:nvSpPr>
        <p:spPr>
          <a:xfrm>
            <a:off x="8247888" y="4718304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推动规范立项</a:t>
            </a:r>
            <a:endParaRPr lang="en-US" sz="1100" dirty="0"/>
          </a:p>
        </p:txBody>
      </p:sp>
      <p:sp>
        <p:nvSpPr>
          <p:cNvPr id="35" name="Text 32"/>
          <p:cNvSpPr txBox="1"/>
          <p:nvPr/>
        </p:nvSpPr>
        <p:spPr>
          <a:xfrm>
            <a:off x="8266176" y="4974336"/>
            <a:ext cx="31638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算法只有一人也应正式立项，明确目标与验收标准</a:t>
            </a:r>
            <a:endParaRPr lang="en-US" sz="900" dirty="0"/>
          </a:p>
        </p:txBody>
      </p:sp>
      <p:sp>
        <p:nvSpPr>
          <p:cNvPr id="36" name="Text 33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 CONSISTENCY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我如何证明能够持续产出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graphicFrame>
        <p:nvGraphicFramePr>
          <p:cNvPr id="5" name="Chart 0" descr=""/>
          <p:cNvGraphicFramePr/>
          <p:nvPr/>
        </p:nvGraphicFramePr>
        <p:xfrm>
          <a:off x="548640" y="1572768"/>
          <a:ext cx="6812280" cy="3017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 2"/>
          <p:cNvSpPr txBox="1"/>
          <p:nvPr/>
        </p:nvSpPr>
        <p:spPr>
          <a:xfrm>
            <a:off x="566928" y="4626864"/>
            <a:ext cx="6766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算法整体进度：45% → 87%（16 周持续推进，无停滞周）</a:t>
            </a:r>
            <a:endParaRPr lang="en-US" sz="1100" dirty="0"/>
          </a:p>
        </p:txBody>
      </p:sp>
      <p:sp>
        <p:nvSpPr>
          <p:cNvPr id="7" name="Shape 3"/>
          <p:cNvSpPr/>
          <p:nvPr/>
        </p:nvSpPr>
        <p:spPr>
          <a:xfrm>
            <a:off x="7607808" y="1572768"/>
            <a:ext cx="4032504" cy="932688"/>
          </a:xfrm>
          <a:prstGeom prst="roundRect">
            <a:avLst>
              <a:gd name="adj" fmla="val 9804"/>
            </a:avLst>
          </a:prstGeom>
          <a:solidFill>
            <a:srgbClr val="F3F1FF"/>
          </a:solidFill>
          <a:ln/>
        </p:spPr>
      </p:sp>
      <p:sp>
        <p:nvSpPr>
          <p:cNvPr id="8" name="Text 4"/>
          <p:cNvSpPr txBox="1"/>
          <p:nvPr/>
        </p:nvSpPr>
        <p:spPr>
          <a:xfrm>
            <a:off x="7827264" y="1682496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 篇</a:t>
            </a:r>
            <a:endParaRPr lang="en-US" sz="1600" dirty="0"/>
          </a:p>
        </p:txBody>
      </p:sp>
      <p:sp>
        <p:nvSpPr>
          <p:cNvPr id="9" name="Text 5"/>
          <p:cNvSpPr txBox="1"/>
          <p:nvPr/>
        </p:nvSpPr>
        <p:spPr>
          <a:xfrm>
            <a:off x="9710928" y="1728216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连续周报</a:t>
            </a:r>
            <a:endParaRPr lang="en-US" sz="1050" dirty="0"/>
          </a:p>
        </p:txBody>
      </p:sp>
      <p:sp>
        <p:nvSpPr>
          <p:cNvPr id="10" name="Text 6"/>
          <p:cNvSpPr txBox="1"/>
          <p:nvPr/>
        </p:nvSpPr>
        <p:spPr>
          <a:xfrm>
            <a:off x="7845552" y="2029968"/>
            <a:ext cx="3566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每周写完成了什么、卡在哪、下周做什么，从没断过</a:t>
            </a:r>
            <a:endParaRPr lang="en-US" sz="1000" dirty="0"/>
          </a:p>
        </p:txBody>
      </p:sp>
      <p:sp>
        <p:nvSpPr>
          <p:cNvPr id="11" name="Shape 7"/>
          <p:cNvSpPr/>
          <p:nvPr/>
        </p:nvSpPr>
        <p:spPr>
          <a:xfrm>
            <a:off x="7607808" y="2633472"/>
            <a:ext cx="4032504" cy="932688"/>
          </a:xfrm>
          <a:prstGeom prst="roundRect">
            <a:avLst>
              <a:gd name="adj" fmla="val 9804"/>
            </a:avLst>
          </a:prstGeom>
          <a:solidFill>
            <a:srgbClr val="F3F1FF"/>
          </a:solidFill>
          <a:ln/>
        </p:spPr>
      </p:sp>
      <p:sp>
        <p:nvSpPr>
          <p:cNvPr id="12" name="Text 8"/>
          <p:cNvSpPr txBox="1"/>
          <p:nvPr/>
        </p:nvSpPr>
        <p:spPr>
          <a:xfrm>
            <a:off x="7827264" y="2743200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A51B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每项有结论</a:t>
            </a:r>
            <a:endParaRPr lang="en-US" sz="1600" dirty="0"/>
          </a:p>
        </p:txBody>
      </p:sp>
      <p:sp>
        <p:nvSpPr>
          <p:cNvPr id="13" name="Text 9"/>
          <p:cNvSpPr txBox="1"/>
          <p:nvPr/>
        </p:nvSpPr>
        <p:spPr>
          <a:xfrm>
            <a:off x="9710928" y="2788920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汇报习惯</a:t>
            </a:r>
            <a:endParaRPr lang="en-US" sz="1050" dirty="0"/>
          </a:p>
        </p:txBody>
      </p:sp>
      <p:sp>
        <p:nvSpPr>
          <p:cNvPr id="14" name="Text 10"/>
          <p:cNvSpPr txBox="1"/>
          <p:nvPr/>
        </p:nvSpPr>
        <p:spPr>
          <a:xfrm>
            <a:off x="7845552" y="3090672"/>
            <a:ext cx="3566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每件事都给一句明确结论，不只罗列过程</a:t>
            </a:r>
            <a:endParaRPr lang="en-US" sz="1000" dirty="0"/>
          </a:p>
        </p:txBody>
      </p:sp>
      <p:sp>
        <p:nvSpPr>
          <p:cNvPr id="15" name="Shape 11"/>
          <p:cNvSpPr/>
          <p:nvPr/>
        </p:nvSpPr>
        <p:spPr>
          <a:xfrm>
            <a:off x="7607808" y="3694176"/>
            <a:ext cx="4032504" cy="932688"/>
          </a:xfrm>
          <a:prstGeom prst="roundRect">
            <a:avLst>
              <a:gd name="adj" fmla="val 9804"/>
            </a:avLst>
          </a:prstGeom>
          <a:solidFill>
            <a:srgbClr val="F3F1FF"/>
          </a:solidFill>
          <a:ln/>
        </p:spPr>
      </p:sp>
      <p:sp>
        <p:nvSpPr>
          <p:cNvPr id="16" name="Text 12"/>
          <p:cNvSpPr txBox="1"/>
          <p:nvPr/>
        </p:nvSpPr>
        <p:spPr>
          <a:xfrm>
            <a:off x="7827264" y="3803904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A51B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问题必闭环</a:t>
            </a:r>
            <a:endParaRPr lang="en-US" sz="1600" dirty="0"/>
          </a:p>
        </p:txBody>
      </p:sp>
      <p:sp>
        <p:nvSpPr>
          <p:cNvPr id="17" name="Text 13"/>
          <p:cNvSpPr txBox="1"/>
          <p:nvPr/>
        </p:nvSpPr>
        <p:spPr>
          <a:xfrm>
            <a:off x="9710928" y="3849624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工作方式</a:t>
            </a:r>
            <a:endParaRPr lang="en-US" sz="1050" dirty="0"/>
          </a:p>
        </p:txBody>
      </p:sp>
      <p:sp>
        <p:nvSpPr>
          <p:cNvPr id="18" name="Text 14"/>
          <p:cNvSpPr txBox="1"/>
          <p:nvPr/>
        </p:nvSpPr>
        <p:spPr>
          <a:xfrm>
            <a:off x="7845552" y="4151376"/>
            <a:ext cx="3566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卡住的地方一定找到根本原因再解决</a:t>
            </a:r>
            <a:endParaRPr lang="en-US" sz="1000" dirty="0"/>
          </a:p>
        </p:txBody>
      </p:sp>
      <p:sp>
        <p:nvSpPr>
          <p:cNvPr id="19" name="Shape 15"/>
          <p:cNvSpPr/>
          <p:nvPr/>
        </p:nvSpPr>
        <p:spPr>
          <a:xfrm>
            <a:off x="548640" y="5029200"/>
            <a:ext cx="11091672" cy="896112"/>
          </a:xfrm>
          <a:prstGeom prst="roundRect">
            <a:avLst>
              <a:gd name="adj" fmla="val 10204"/>
            </a:avLst>
          </a:prstGeom>
          <a:solidFill>
            <a:srgbClr val="452D8D"/>
          </a:solidFill>
          <a:ln/>
        </p:spPr>
      </p:sp>
      <p:sp>
        <p:nvSpPr>
          <p:cNvPr id="20" name="Text 16"/>
          <p:cNvSpPr txBox="1"/>
          <p:nvPr/>
        </p:nvSpPr>
        <p:spPr>
          <a:xfrm>
            <a:off x="804672" y="5193792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交付节奏</a:t>
            </a:r>
            <a:endParaRPr lang="en-US" sz="1100" dirty="0"/>
          </a:p>
        </p:txBody>
      </p:sp>
      <p:sp>
        <p:nvSpPr>
          <p:cNvPr id="21" name="Text 17"/>
          <p:cNvSpPr txBox="1"/>
          <p:nvPr/>
        </p:nvSpPr>
        <p:spPr>
          <a:xfrm>
            <a:off x="2194560" y="5157216"/>
            <a:ext cx="9235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第一版模型 6 周、皮肤评估网页系统 3 周、标注平台可多人协同 4 周 —— 每块都有明确的开始和交付。</a:t>
            </a:r>
            <a:endParaRPr lang="en-US" sz="1150" dirty="0"/>
          </a:p>
        </p:txBody>
      </p:sp>
      <p:sp>
        <p:nvSpPr>
          <p:cNvPr id="22" name="Text 18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 GROWTH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个人成长：这几个月我想明白的五件事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517904"/>
            <a:ext cx="5431536" cy="1408176"/>
          </a:xfrm>
          <a:prstGeom prst="roundRect">
            <a:avLst>
              <a:gd name="adj" fmla="val 6494"/>
            </a:avLst>
          </a:prstGeom>
          <a:solidFill>
            <a:srgbClr val="F3F1FF"/>
          </a:solidFill>
          <a:ln/>
        </p:spPr>
      </p:sp>
      <p:sp>
        <p:nvSpPr>
          <p:cNvPr id="6" name="Shape 3"/>
          <p:cNvSpPr/>
          <p:nvPr/>
        </p:nvSpPr>
        <p:spPr>
          <a:xfrm>
            <a:off x="786384" y="1719072"/>
            <a:ext cx="420624" cy="420624"/>
          </a:xfrm>
          <a:prstGeom prst="ellipse">
            <a:avLst/>
          </a:prstGeom>
          <a:solidFill>
            <a:srgbClr val="F7BA59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86384" y="171907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1335024" y="1755648"/>
            <a:ext cx="43342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数据质量比数量更重要</a:t>
            </a:r>
            <a:endParaRPr lang="en-US" sz="1350" dirty="0"/>
          </a:p>
        </p:txBody>
      </p:sp>
      <p:sp>
        <p:nvSpPr>
          <p:cNvPr id="9" name="Text 6"/>
          <p:cNvSpPr txBox="1"/>
          <p:nvPr/>
        </p:nvSpPr>
        <p:spPr>
          <a:xfrm>
            <a:off x="822960" y="2194560"/>
            <a:ext cx="488289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把标注时拿不准的片段先剔掉再拿去训练 —— 留着反而会教错模型，比没这条数据更糟。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6208776" y="1517904"/>
            <a:ext cx="5431536" cy="1408176"/>
          </a:xfrm>
          <a:prstGeom prst="roundRect">
            <a:avLst>
              <a:gd name="adj" fmla="val 6494"/>
            </a:avLst>
          </a:prstGeom>
          <a:solidFill>
            <a:srgbClr val="F3F1FF"/>
          </a:solidFill>
          <a:ln/>
        </p:spPr>
      </p:sp>
      <p:sp>
        <p:nvSpPr>
          <p:cNvPr id="11" name="Shape 8"/>
          <p:cNvSpPr/>
          <p:nvPr/>
        </p:nvSpPr>
        <p:spPr>
          <a:xfrm>
            <a:off x="6446520" y="1719072"/>
            <a:ext cx="420624" cy="420624"/>
          </a:xfrm>
          <a:prstGeom prst="ellipse">
            <a:avLst/>
          </a:prstGeom>
          <a:solidFill>
            <a:srgbClr val="6A51B7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6446520" y="171907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6995160" y="1755648"/>
            <a:ext cx="43342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让模型告诉我该补什么数据</a:t>
            </a:r>
            <a:endParaRPr lang="en-US" sz="1350" dirty="0"/>
          </a:p>
        </p:txBody>
      </p:sp>
      <p:sp>
        <p:nvSpPr>
          <p:cNvPr id="14" name="Text 11"/>
          <p:cNvSpPr txBox="1"/>
          <p:nvPr/>
        </p:nvSpPr>
        <p:spPr>
          <a:xfrm>
            <a:off x="6483096" y="2194560"/>
            <a:ext cx="488289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把 AI 没把握的片段挑给人看：人说「是」的是它漏掉的，人说「不是」的是它认错的，两种都最值得再训练。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548640" y="3090672"/>
            <a:ext cx="5431536" cy="1408176"/>
          </a:xfrm>
          <a:prstGeom prst="roundRect">
            <a:avLst>
              <a:gd name="adj" fmla="val 6494"/>
            </a:avLst>
          </a:prstGeom>
          <a:solidFill>
            <a:srgbClr val="F3F1FF"/>
          </a:solidFill>
          <a:ln/>
        </p:spPr>
      </p:sp>
      <p:sp>
        <p:nvSpPr>
          <p:cNvPr id="16" name="Shape 13"/>
          <p:cNvSpPr/>
          <p:nvPr/>
        </p:nvSpPr>
        <p:spPr>
          <a:xfrm>
            <a:off x="786384" y="3291840"/>
            <a:ext cx="420624" cy="420624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786384" y="329184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1335024" y="3328416"/>
            <a:ext cx="43342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先分清是技术问题还是定义问题</a:t>
            </a:r>
            <a:endParaRPr lang="en-US" sz="1350" dirty="0"/>
          </a:p>
        </p:txBody>
      </p:sp>
      <p:sp>
        <p:nvSpPr>
          <p:cNvPr id="19" name="Text 16"/>
          <p:cNvSpPr txBox="1"/>
          <p:nvPr/>
        </p:nvSpPr>
        <p:spPr>
          <a:xfrm>
            <a:off x="822960" y="3767328"/>
            <a:ext cx="488289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「活动」和「睡觉」老是混，根子在于这两件事本身就没定义清楚，不是模型不行。得先把标准对齐。</a:t>
            </a:r>
            <a:endParaRPr lang="en-US" sz="1050" dirty="0"/>
          </a:p>
        </p:txBody>
      </p:sp>
      <p:sp>
        <p:nvSpPr>
          <p:cNvPr id="20" name="Shape 17"/>
          <p:cNvSpPr/>
          <p:nvPr/>
        </p:nvSpPr>
        <p:spPr>
          <a:xfrm>
            <a:off x="6208776" y="3090672"/>
            <a:ext cx="5431536" cy="1408176"/>
          </a:xfrm>
          <a:prstGeom prst="roundRect">
            <a:avLst>
              <a:gd name="adj" fmla="val 6494"/>
            </a:avLst>
          </a:prstGeom>
          <a:solidFill>
            <a:srgbClr val="F3F1FF"/>
          </a:solidFill>
          <a:ln/>
        </p:spPr>
      </p:sp>
      <p:sp>
        <p:nvSpPr>
          <p:cNvPr id="21" name="Shape 18"/>
          <p:cNvSpPr/>
          <p:nvPr/>
        </p:nvSpPr>
        <p:spPr>
          <a:xfrm>
            <a:off x="6446520" y="3291840"/>
            <a:ext cx="420624" cy="420624"/>
          </a:xfrm>
          <a:prstGeom prst="ellipse">
            <a:avLst/>
          </a:prstGeom>
          <a:solidFill>
            <a:srgbClr val="6A51B7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6446520" y="329184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6995160" y="3328416"/>
            <a:ext cx="43342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自己发现的问题要主动说</a:t>
            </a:r>
            <a:endParaRPr lang="en-US" sz="1350" dirty="0"/>
          </a:p>
        </p:txBody>
      </p:sp>
      <p:sp>
        <p:nvSpPr>
          <p:cNvPr id="24" name="Text 21"/>
          <p:cNvSpPr txBox="1"/>
          <p:nvPr/>
        </p:nvSpPr>
        <p:spPr>
          <a:xfrm>
            <a:off x="6483096" y="3767328"/>
            <a:ext cx="488289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自查时发现造的测试数据有漏洞，会让分数虚高。主动把分数改低并写进文档 —— 宁可报低，不留隐患。</a:t>
            </a:r>
            <a:endParaRPr lang="en-US" sz="1050" dirty="0"/>
          </a:p>
        </p:txBody>
      </p:sp>
      <p:sp>
        <p:nvSpPr>
          <p:cNvPr id="25" name="Shape 22"/>
          <p:cNvSpPr/>
          <p:nvPr/>
        </p:nvSpPr>
        <p:spPr>
          <a:xfrm>
            <a:off x="548640" y="4663440"/>
            <a:ext cx="11091672" cy="1408176"/>
          </a:xfrm>
          <a:prstGeom prst="roundRect">
            <a:avLst>
              <a:gd name="adj" fmla="val 6494"/>
            </a:avLst>
          </a:prstGeom>
          <a:solidFill>
            <a:srgbClr val="F3F1FF"/>
          </a:solidFill>
          <a:ln/>
        </p:spPr>
      </p:sp>
      <p:sp>
        <p:nvSpPr>
          <p:cNvPr id="26" name="Shape 23"/>
          <p:cNvSpPr/>
          <p:nvPr/>
        </p:nvSpPr>
        <p:spPr>
          <a:xfrm>
            <a:off x="786384" y="4864608"/>
            <a:ext cx="420624" cy="420624"/>
          </a:xfrm>
          <a:prstGeom prst="ellipse">
            <a:avLst/>
          </a:prstGeom>
          <a:solidFill>
            <a:srgbClr val="F7BA59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786384" y="48646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200" dirty="0"/>
          </a:p>
        </p:txBody>
      </p:sp>
      <p:sp>
        <p:nvSpPr>
          <p:cNvPr id="28" name="Text 25"/>
          <p:cNvSpPr txBox="1"/>
          <p:nvPr/>
        </p:nvSpPr>
        <p:spPr>
          <a:xfrm>
            <a:off x="1335024" y="4901184"/>
            <a:ext cx="9994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该放弃的要早点放弃</a:t>
            </a:r>
            <a:endParaRPr lang="en-US" sz="1350" dirty="0"/>
          </a:p>
        </p:txBody>
      </p:sp>
      <p:sp>
        <p:nvSpPr>
          <p:cNvPr id="29" name="Text 26"/>
          <p:cNvSpPr txBox="1"/>
          <p:nvPr/>
        </p:nvSpPr>
        <p:spPr>
          <a:xfrm>
            <a:off x="822960" y="5340096"/>
            <a:ext cx="1054303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网络传视频方案验证下来延迟不稳定，果断改回本地录制；有争议的地方靠实测下结论，不靠猜。</a:t>
            </a:r>
            <a:endParaRPr lang="en-US" sz="1050" dirty="0"/>
          </a:p>
        </p:txBody>
      </p:sp>
      <p:sp>
        <p:nvSpPr>
          <p:cNvPr id="30" name="Text 27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 GAPS &amp; PLAN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待提升点与改进计划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66928" y="1316736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每一项都有明确的改进路径</a:t>
            </a:r>
            <a:endParaRPr lang="en-US" sz="1150" dirty="0"/>
          </a:p>
        </p:txBody>
      </p:sp>
      <p:sp>
        <p:nvSpPr>
          <p:cNvPr id="6" name="Text 3"/>
          <p:cNvSpPr txBox="1"/>
          <p:nvPr/>
        </p:nvSpPr>
        <p:spPr>
          <a:xfrm>
            <a:off x="768096" y="173736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待提升点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3785616" y="173736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现状与原因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7808976" y="1737360"/>
            <a:ext cx="3685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改进计划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548640" y="2048256"/>
            <a:ext cx="11091672" cy="749808"/>
          </a:xfrm>
          <a:prstGeom prst="roundRect">
            <a:avLst>
              <a:gd name="adj" fmla="val 12195"/>
            </a:avLst>
          </a:prstGeom>
          <a:solidFill>
            <a:srgbClr val="F3F1FF"/>
          </a:solidFill>
          <a:ln/>
        </p:spPr>
      </p:sp>
      <p:sp>
        <p:nvSpPr>
          <p:cNvPr id="10" name="Shape 7"/>
          <p:cNvSpPr/>
          <p:nvPr/>
        </p:nvSpPr>
        <p:spPr>
          <a:xfrm>
            <a:off x="768096" y="2249424"/>
            <a:ext cx="347472" cy="347472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768096" y="22494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1225296" y="2267712"/>
            <a:ext cx="2468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用来训练的狗太少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3931920" y="2267712"/>
            <a:ext cx="3749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只用了 4 只狗训练，换只没见过的狗准确率会下降</a:t>
            </a:r>
            <a:endParaRPr lang="en-US" sz="1050" dirty="0"/>
          </a:p>
        </p:txBody>
      </p:sp>
      <p:sp>
        <p:nvSpPr>
          <p:cNvPr id="14" name="Text 11"/>
          <p:cNvSpPr txBox="1"/>
          <p:nvPr/>
        </p:nvSpPr>
        <p:spPr>
          <a:xfrm>
            <a:off x="7882128" y="2267712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狗场先加 6 只，逐步扩大，每轮拿新狗重新检验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548640" y="2889504"/>
            <a:ext cx="11091672" cy="749808"/>
          </a:xfrm>
          <a:prstGeom prst="roundRect">
            <a:avLst>
              <a:gd name="adj" fmla="val 12195"/>
            </a:avLst>
          </a:prstGeom>
          <a:solidFill>
            <a:srgbClr val="FFFFFF"/>
          </a:solidFill>
          <a:ln w="12700">
            <a:solidFill>
              <a:srgbClr val="D5D0F7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768096" y="3090672"/>
            <a:ext cx="347472" cy="347472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768096" y="30906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225296" y="3108960"/>
            <a:ext cx="2468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还没经过测试和线上验证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3931920" y="3108960"/>
            <a:ext cx="3749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目前都是我自己测出来的结果</a:t>
            </a:r>
            <a:endParaRPr lang="en-US" sz="1050" dirty="0"/>
          </a:p>
        </p:txBody>
      </p:sp>
      <p:sp>
        <p:nvSpPr>
          <p:cNvPr id="20" name="Text 17"/>
          <p:cNvSpPr txBox="1"/>
          <p:nvPr/>
        </p:nvSpPr>
        <p:spPr>
          <a:xfrm>
            <a:off x="7882128" y="3108960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推动测试同事介入，进入线上验证流程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548640" y="3730752"/>
            <a:ext cx="11091672" cy="749808"/>
          </a:xfrm>
          <a:prstGeom prst="roundRect">
            <a:avLst>
              <a:gd name="adj" fmla="val 12195"/>
            </a:avLst>
          </a:prstGeom>
          <a:solidFill>
            <a:srgbClr val="F3F1FF"/>
          </a:solidFill>
          <a:ln/>
        </p:spPr>
      </p:sp>
      <p:sp>
        <p:nvSpPr>
          <p:cNvPr id="22" name="Shape 19"/>
          <p:cNvSpPr/>
          <p:nvPr/>
        </p:nvSpPr>
        <p:spPr>
          <a:xfrm>
            <a:off x="768096" y="3931920"/>
            <a:ext cx="347472" cy="347472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768096" y="393192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1225296" y="3950208"/>
            <a:ext cx="2468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皮肤评分标准还要校准</a:t>
            </a:r>
            <a:endParaRPr lang="en-US" sz="1200" dirty="0"/>
          </a:p>
        </p:txBody>
      </p:sp>
      <p:sp>
        <p:nvSpPr>
          <p:cNvPr id="25" name="Text 22"/>
          <p:cNvSpPr txBox="1"/>
          <p:nvPr/>
        </p:nvSpPr>
        <p:spPr>
          <a:xfrm>
            <a:off x="3931920" y="3950208"/>
            <a:ext cx="3749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有的狗抓得多但皮肤其实没问题，会误报</a:t>
            </a:r>
            <a:endParaRPr lang="en-US" sz="1050" dirty="0"/>
          </a:p>
        </p:txBody>
      </p:sp>
      <p:sp>
        <p:nvSpPr>
          <p:cNvPr id="26" name="Text 23"/>
          <p:cNvSpPr txBox="1"/>
          <p:nvPr/>
        </p:nvSpPr>
        <p:spPr>
          <a:xfrm>
            <a:off x="7882128" y="3950208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请兽医标注真实病例，用临床数据校准标准</a:t>
            </a:r>
            <a:endParaRPr lang="en-US" sz="1050" dirty="0"/>
          </a:p>
        </p:txBody>
      </p:sp>
      <p:sp>
        <p:nvSpPr>
          <p:cNvPr id="27" name="Shape 24"/>
          <p:cNvSpPr/>
          <p:nvPr/>
        </p:nvSpPr>
        <p:spPr>
          <a:xfrm>
            <a:off x="548640" y="4572000"/>
            <a:ext cx="11091672" cy="749808"/>
          </a:xfrm>
          <a:prstGeom prst="roundRect">
            <a:avLst>
              <a:gd name="adj" fmla="val 12195"/>
            </a:avLst>
          </a:prstGeom>
          <a:solidFill>
            <a:srgbClr val="FFFFFF"/>
          </a:solidFill>
          <a:ln w="12700">
            <a:solidFill>
              <a:srgbClr val="D5D0F7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768096" y="4773168"/>
            <a:ext cx="347472" cy="347472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768096" y="477316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1225296" y="4791456"/>
            <a:ext cx="2468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项圈松动检测还没做</a:t>
            </a:r>
            <a:endParaRPr lang="en-US" sz="1200" dirty="0"/>
          </a:p>
        </p:txBody>
      </p:sp>
      <p:sp>
        <p:nvSpPr>
          <p:cNvPr id="31" name="Text 28"/>
          <p:cNvSpPr txBox="1"/>
          <p:nvPr/>
        </p:nvSpPr>
        <p:spPr>
          <a:xfrm>
            <a:off x="3931920" y="4791456"/>
            <a:ext cx="3749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优先级往后排，判定标准也要先和产品、兽医对齐</a:t>
            </a:r>
            <a:endParaRPr lang="en-US" sz="1050" dirty="0"/>
          </a:p>
        </p:txBody>
      </p:sp>
      <p:sp>
        <p:nvSpPr>
          <p:cNvPr id="32" name="Text 29"/>
          <p:cNvSpPr txBox="1"/>
          <p:nvPr/>
        </p:nvSpPr>
        <p:spPr>
          <a:xfrm>
            <a:off x="7882128" y="4791456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标准定了就启动，补齐有效佩戴时长统计</a:t>
            </a:r>
            <a:endParaRPr lang="en-US" sz="1050" dirty="0"/>
          </a:p>
        </p:txBody>
      </p:sp>
      <p:sp>
        <p:nvSpPr>
          <p:cNvPr id="33" name="Shape 30"/>
          <p:cNvSpPr/>
          <p:nvPr/>
        </p:nvSpPr>
        <p:spPr>
          <a:xfrm>
            <a:off x="548640" y="5413248"/>
            <a:ext cx="11091672" cy="749808"/>
          </a:xfrm>
          <a:prstGeom prst="roundRect">
            <a:avLst>
              <a:gd name="adj" fmla="val 12195"/>
            </a:avLst>
          </a:prstGeom>
          <a:solidFill>
            <a:srgbClr val="F3F1FF"/>
          </a:solidFill>
          <a:ln/>
        </p:spPr>
      </p:sp>
      <p:sp>
        <p:nvSpPr>
          <p:cNvPr id="34" name="Shape 31"/>
          <p:cNvSpPr/>
          <p:nvPr/>
        </p:nvSpPr>
        <p:spPr>
          <a:xfrm>
            <a:off x="768096" y="5614416"/>
            <a:ext cx="347472" cy="347472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35" name="Text 32"/>
          <p:cNvSpPr txBox="1"/>
          <p:nvPr/>
        </p:nvSpPr>
        <p:spPr>
          <a:xfrm>
            <a:off x="768096" y="561441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100" dirty="0"/>
          </a:p>
        </p:txBody>
      </p:sp>
      <p:sp>
        <p:nvSpPr>
          <p:cNvPr id="36" name="Text 33"/>
          <p:cNvSpPr txBox="1"/>
          <p:nvPr/>
        </p:nvSpPr>
        <p:spPr>
          <a:xfrm>
            <a:off x="1225296" y="5632704"/>
            <a:ext cx="2468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业务理解还不够深</a:t>
            </a:r>
            <a:endParaRPr lang="en-US" sz="1200" dirty="0"/>
          </a:p>
        </p:txBody>
      </p:sp>
      <p:sp>
        <p:nvSpPr>
          <p:cNvPr id="37" name="Text 34"/>
          <p:cNvSpPr txBox="1"/>
          <p:nvPr/>
        </p:nvSpPr>
        <p:spPr>
          <a:xfrm>
            <a:off x="3931920" y="5632704"/>
            <a:ext cx="3749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兽医怎么判断皮肤问题，我还主要靠别人告诉我</a:t>
            </a:r>
            <a:endParaRPr lang="en-US" sz="1050" dirty="0"/>
          </a:p>
        </p:txBody>
      </p:sp>
      <p:sp>
        <p:nvSpPr>
          <p:cNvPr id="38" name="Text 35"/>
          <p:cNvSpPr txBox="1"/>
          <p:nvPr/>
        </p:nvSpPr>
        <p:spPr>
          <a:xfrm>
            <a:off x="7882128" y="5632704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系统补充宠物皮肤健康方面的知识</a:t>
            </a:r>
            <a:endParaRPr lang="en-US" sz="1050" dirty="0"/>
          </a:p>
        </p:txBody>
      </p:sp>
      <p:sp>
        <p:nvSpPr>
          <p:cNvPr id="39" name="Text 36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 NEXT STEPS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下一步：与团队共同达成目标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554480"/>
            <a:ext cx="3575304" cy="3054096"/>
          </a:xfrm>
          <a:prstGeom prst="roundRect">
            <a:avLst>
              <a:gd name="adj" fmla="val 2994"/>
            </a:avLst>
          </a:prstGeom>
          <a:solidFill>
            <a:srgbClr val="452D8D"/>
          </a:solidFill>
          <a:ln/>
        </p:spPr>
      </p:sp>
      <p:sp>
        <p:nvSpPr>
          <p:cNvPr id="6" name="Shape 3"/>
          <p:cNvSpPr/>
          <p:nvPr/>
        </p:nvSpPr>
        <p:spPr>
          <a:xfrm>
            <a:off x="804672" y="1792224"/>
            <a:ext cx="914400" cy="329184"/>
          </a:xfrm>
          <a:prstGeom prst="roundRect">
            <a:avLst>
              <a:gd name="adj" fmla="val 22222"/>
            </a:avLst>
          </a:prstGeom>
          <a:solidFill>
            <a:srgbClr val="6A51B7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804672" y="1792224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近期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1847088" y="1847088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1-2 个月</a:t>
            </a:r>
            <a:endParaRPr lang="en-US" sz="1050" dirty="0"/>
          </a:p>
        </p:txBody>
      </p:sp>
      <p:sp>
        <p:nvSpPr>
          <p:cNvPr id="9" name="Text 6"/>
          <p:cNvSpPr txBox="1"/>
          <p:nvPr/>
        </p:nvSpPr>
        <p:spPr>
          <a:xfrm>
            <a:off x="822960" y="2286000"/>
            <a:ext cx="30358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推动龙岗狗场正式采集，先补 6 只狗并完成一轮检验</a:t>
            </a:r>
            <a:endParaRPr lang="en-US" sz="1050" dirty="0"/>
          </a:p>
          <a:p>
            <a:pPr marL="342900" indent="-342900">
              <a:lnSpc>
                <a:spcPct val="12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标注平台上线 AI 自动标注，进一步提高核对效率</a:t>
            </a:r>
            <a:endParaRPr lang="en-US" sz="1050" dirty="0"/>
          </a:p>
          <a:p>
            <a:pPr marL="342900" indent="-342900">
              <a:lnSpc>
                <a:spcPct val="12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皮肤评分标准持续校准并推上线，解决误报问题</a:t>
            </a:r>
            <a:endParaRPr lang="en-US" sz="1050" dirty="0"/>
          </a:p>
          <a:p>
            <a:pPr marL="342900" indent="-342900">
              <a:lnSpc>
                <a:spcPct val="12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和产品、兽医对齐行为定义与松动判定标准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4306824" y="1554480"/>
            <a:ext cx="3575304" cy="3054096"/>
          </a:xfrm>
          <a:prstGeom prst="roundRect">
            <a:avLst>
              <a:gd name="adj" fmla="val 2994"/>
            </a:avLst>
          </a:prstGeom>
          <a:solidFill>
            <a:srgbClr val="F3F1FF"/>
          </a:solidFill>
          <a:ln/>
        </p:spPr>
      </p:sp>
      <p:sp>
        <p:nvSpPr>
          <p:cNvPr id="11" name="Shape 8"/>
          <p:cNvSpPr/>
          <p:nvPr/>
        </p:nvSpPr>
        <p:spPr>
          <a:xfrm>
            <a:off x="4562856" y="1792224"/>
            <a:ext cx="914400" cy="329184"/>
          </a:xfrm>
          <a:prstGeom prst="roundRect">
            <a:avLst>
              <a:gd name="adj" fmla="val 22222"/>
            </a:avLst>
          </a:prstGeom>
          <a:solidFill>
            <a:srgbClr val="846CCF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4562856" y="1792224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中期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5605272" y="1847088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3-6 个月</a:t>
            </a:r>
            <a:endParaRPr lang="en-US" sz="1050" dirty="0"/>
          </a:p>
        </p:txBody>
      </p:sp>
      <p:sp>
        <p:nvSpPr>
          <p:cNvPr id="14" name="Text 11"/>
          <p:cNvSpPr txBox="1"/>
          <p:nvPr/>
        </p:nvSpPr>
        <p:spPr>
          <a:xfrm>
            <a:off x="4581144" y="2286000"/>
            <a:ext cx="30358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狗的数量上来后，模型换新狗也稳定，具备推给用户的条件</a:t>
            </a:r>
            <a:endParaRPr lang="en-US" sz="1050" dirty="0"/>
          </a:p>
          <a:p>
            <a:pPr marL="342900" indent="-342900">
              <a:lnSpc>
                <a:spcPct val="12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皮肤评估用真实病例再训练一轮，并上线验证</a:t>
            </a:r>
            <a:endParaRPr lang="en-US" sz="1050" dirty="0"/>
          </a:p>
          <a:p>
            <a:pPr marL="342900" indent="-342900">
              <a:lnSpc>
                <a:spcPct val="12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补齐松动检测，形成完整的全天佩戴时长统计</a:t>
            </a:r>
            <a:endParaRPr lang="en-US" sz="1050" dirty="0"/>
          </a:p>
          <a:p>
            <a:pPr marL="342900" indent="-342900">
              <a:lnSpc>
                <a:spcPct val="12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采集规模按 30 → 50 → 70 只分阶段扩大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8065008" y="1554480"/>
            <a:ext cx="3575304" cy="3054096"/>
          </a:xfrm>
          <a:prstGeom prst="roundRect">
            <a:avLst>
              <a:gd name="adj" fmla="val 2994"/>
            </a:avLst>
          </a:prstGeom>
          <a:solidFill>
            <a:srgbClr val="F3F1FF"/>
          </a:solidFill>
          <a:ln/>
        </p:spPr>
      </p:sp>
      <p:sp>
        <p:nvSpPr>
          <p:cNvPr id="16" name="Shape 13"/>
          <p:cNvSpPr/>
          <p:nvPr/>
        </p:nvSpPr>
        <p:spPr>
          <a:xfrm>
            <a:off x="8321040" y="1792224"/>
            <a:ext cx="914400" cy="329184"/>
          </a:xfrm>
          <a:prstGeom prst="roundRect">
            <a:avLst>
              <a:gd name="adj" fmla="val 22222"/>
            </a:avLst>
          </a:prstGeom>
          <a:solidFill>
            <a:srgbClr val="F7BA59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8321040" y="1792224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长期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9363456" y="1847088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持续投入</a:t>
            </a:r>
            <a:endParaRPr lang="en-US" sz="1050" dirty="0"/>
          </a:p>
        </p:txBody>
      </p:sp>
      <p:sp>
        <p:nvSpPr>
          <p:cNvPr id="19" name="Text 16"/>
          <p:cNvSpPr txBox="1"/>
          <p:nvPr/>
        </p:nvSpPr>
        <p:spPr>
          <a:xfrm>
            <a:off x="8339328" y="2286000"/>
            <a:ext cx="30358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把采集、标注、训练、上线这套流程固化成标准做法</a:t>
            </a:r>
            <a:endParaRPr lang="en-US" sz="1050" dirty="0"/>
          </a:p>
          <a:p>
            <a:pPr marL="342900" indent="-342900">
              <a:lnSpc>
                <a:spcPct val="12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让算法从「能认出行为」走向「能给出可信的健康结论」</a:t>
            </a:r>
            <a:endParaRPr lang="en-US" sz="1050" dirty="0"/>
          </a:p>
          <a:p>
            <a:pPr marL="342900" indent="-342900">
              <a:lnSpc>
                <a:spcPct val="12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建立竞品对标，摸清我们的能力边界和优势在哪</a:t>
            </a:r>
            <a:endParaRPr lang="en-US" sz="1050" dirty="0"/>
          </a:p>
          <a:p>
            <a:pPr marL="342900" indent="-342900">
              <a:lnSpc>
                <a:spcPct val="12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团队变大后，把算法工作做到可协同、可交接</a:t>
            </a:r>
            <a:endParaRPr lang="en-US" sz="1050" dirty="0"/>
          </a:p>
        </p:txBody>
      </p:sp>
      <p:sp>
        <p:nvSpPr>
          <p:cNvPr id="20" name="Shape 17"/>
          <p:cNvSpPr/>
          <p:nvPr/>
        </p:nvSpPr>
        <p:spPr>
          <a:xfrm>
            <a:off x="548640" y="4864608"/>
            <a:ext cx="11091672" cy="1225296"/>
          </a:xfrm>
          <a:prstGeom prst="roundRect">
            <a:avLst>
              <a:gd name="adj" fmla="val 7463"/>
            </a:avLst>
          </a:prstGeom>
          <a:solidFill>
            <a:srgbClr val="452D8D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822960" y="502920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共同目标</a:t>
            </a: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841248" y="5303520"/>
            <a:ext cx="10424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让算法从「跑得通」走向「靠得住」—— 成为产品可以放心依赖的健康判断能力</a:t>
            </a:r>
            <a:endParaRPr lang="en-US" sz="1550" dirty="0"/>
          </a:p>
        </p:txBody>
      </p:sp>
      <p:sp>
        <p:nvSpPr>
          <p:cNvPr id="23" name="Text 20"/>
          <p:cNvSpPr txBox="1"/>
          <p:nvPr/>
        </p:nvSpPr>
        <p:spPr>
          <a:xfrm>
            <a:off x="841248" y="5687568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这需要数据、算法、业务定义三件事同步推进，也需要产品、兽医、后端、硬件持续配合，我会主动担起推动这条链路的责任。</a:t>
            </a:r>
            <a:endParaRPr lang="en-US" sz="1050" dirty="0"/>
          </a:p>
        </p:txBody>
      </p:sp>
      <p:sp>
        <p:nvSpPr>
          <p:cNvPr id="24" name="Text 21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452D8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371600"/>
            <a:ext cx="4206240" cy="4206240"/>
          </a:xfrm>
          <a:prstGeom prst="ellipse">
            <a:avLst/>
          </a:prstGeom>
          <a:solidFill>
            <a:srgbClr val="6A51B7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5989320" y="5806440"/>
            <a:ext cx="1920240" cy="1920240"/>
          </a:xfrm>
          <a:prstGeom prst="ellipse">
            <a:avLst/>
          </a:prstGeom>
          <a:solidFill>
            <a:srgbClr val="846CCF">
              <a:alpha val="30000"/>
            </a:srgbClr>
          </a:solidFill>
          <a:ln/>
        </p:spPr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658368"/>
            <a:ext cx="1874520" cy="484632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77240" y="2487168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感谢聆听 · 恳请指正</a:t>
            </a:r>
            <a:endParaRPr lang="en-US" sz="3600" dirty="0"/>
          </a:p>
        </p:txBody>
      </p:sp>
      <p:sp>
        <p:nvSpPr>
          <p:cNvPr id="6" name="Text 3"/>
          <p:cNvSpPr txBox="1"/>
          <p:nvPr/>
        </p:nvSpPr>
        <p:spPr>
          <a:xfrm>
            <a:off x="795528" y="3291840"/>
            <a:ext cx="6400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spc="500" kern="0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</a:t>
            </a:r>
            <a:endParaRPr lang="en-US" sz="1900" dirty="0"/>
          </a:p>
        </p:txBody>
      </p:sp>
      <p:sp>
        <p:nvSpPr>
          <p:cNvPr id="7" name="Text 4"/>
          <p:cNvSpPr txBox="1"/>
          <p:nvPr/>
        </p:nvSpPr>
        <p:spPr>
          <a:xfrm>
            <a:off x="795528" y="4023360"/>
            <a:ext cx="8229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Toky</a:t>
            </a:r>
            <a:pPr indent="0" marL="0">
              <a:buNone/>
            </a:pPr>
            <a:r>
              <a:rPr lang="en-US" sz="105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朱业拓</a:t>
            </a:r>
            <a:pPr indent="0" marL="0">
              <a:buNone/>
            </a:pPr>
            <a:r>
              <a:rPr lang="en-US" sz="115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　　用户增长研发部 · 算法工程师　　2026.10.08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795528" y="59436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Health Innovation for a Clean &amp; Comfortable Life</a:t>
            </a:r>
            <a:endParaRPr lang="en-US" sz="1050" dirty="0"/>
          </a:p>
        </p:txBody>
      </p:sp>
      <p:sp>
        <p:nvSpPr>
          <p:cNvPr id="9" name="Text 6"/>
          <p:cNvSpPr txBox="1"/>
          <p:nvPr/>
        </p:nvSpPr>
        <p:spPr>
          <a:xfrm>
            <a:off x="9189720" y="4828032"/>
            <a:ext cx="7315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3400" dirty="0"/>
          </a:p>
        </p:txBody>
      </p:sp>
      <p:sp>
        <p:nvSpPr>
          <p:cNvPr id="10" name="Text 7"/>
          <p:cNvSpPr txBox="1"/>
          <p:nvPr/>
        </p:nvSpPr>
        <p:spPr>
          <a:xfrm>
            <a:off x="9921240" y="4828032"/>
            <a:ext cx="7315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↗</a:t>
            </a:r>
            <a:endParaRPr lang="en-US" sz="3400" dirty="0"/>
          </a:p>
        </p:txBody>
      </p:sp>
      <p:sp>
        <p:nvSpPr>
          <p:cNvPr id="11" name="Text 8"/>
          <p:cNvSpPr txBox="1"/>
          <p:nvPr/>
        </p:nvSpPr>
        <p:spPr>
          <a:xfrm>
            <a:off x="10652760" y="4864608"/>
            <a:ext cx="7315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♥</a:t>
            </a:r>
            <a:endParaRPr lang="en-US" sz="3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8">
    <p:bg>
      <p:bgPr>
        <a:solidFill>
          <a:srgbClr val="452D8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6400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皮肤评估每日跟踪</a:t>
            </a:r>
            <a:endParaRPr lang="en-US" sz="1500" dirty="0"/>
          </a:p>
        </p:txBody>
      </p:sp>
      <p:sp>
        <p:nvSpPr>
          <p:cNvPr id="3" name="Shape 1">
            <a:hlinkClick r:id="rId1" tooltip="返回演示页" action="ppaction://hlinksldjump"/>
          </p:cNvPr>
          <p:cNvSpPr/>
          <p:nvPr/>
        </p:nvSpPr>
        <p:spPr>
          <a:xfrm>
            <a:off x="10698480" y="237744"/>
            <a:ext cx="1033272" cy="329184"/>
          </a:xfrm>
          <a:prstGeom prst="roundRect">
            <a:avLst>
              <a:gd name="adj" fmla="val 22222"/>
            </a:avLst>
          </a:prstGeom>
          <a:solidFill>
            <a:srgbClr val="6A51B7"/>
          </a:solidFill>
          <a:ln/>
        </p:spPr>
      </p:sp>
      <p:sp>
        <p:nvSpPr>
          <p:cNvPr id="4" name="Text 2">
            <a:hlinkClick r:id="rId2" tooltip="返回演示页" action="ppaction://hlinksldjump"/>
          </p:cNvPr>
          <p:cNvSpPr txBox="1"/>
          <p:nvPr/>
        </p:nvSpPr>
        <p:spPr>
          <a:xfrm>
            <a:off x="10698480" y="237744"/>
            <a:ext cx="10332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u="sng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action="ppaction://hlinksldjump" tooltip="返回演示页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← 返回</a:t>
            </a:r>
            <a:endParaRPr lang="en-US" sz="1100" dirty="0"/>
          </a:p>
        </p:txBody>
      </p:sp>
      <p:pic>
        <p:nvPicPr>
          <p:cNvPr id="5" name="Image 0" descr="media/platform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957732"/>
            <a:ext cx="11457432" cy="5436313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9">
    <p:bg>
      <p:bgPr>
        <a:solidFill>
          <a:srgbClr val="452D8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6400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口腔牙齿检测</a:t>
            </a:r>
            <a:endParaRPr lang="en-US" sz="1500" dirty="0"/>
          </a:p>
        </p:txBody>
      </p:sp>
      <p:sp>
        <p:nvSpPr>
          <p:cNvPr id="3" name="Shape 1">
            <a:hlinkClick r:id="rId1" tooltip="返回演示页" action="ppaction://hlinksldjump"/>
          </p:cNvPr>
          <p:cNvSpPr/>
          <p:nvPr/>
        </p:nvSpPr>
        <p:spPr>
          <a:xfrm>
            <a:off x="10698480" y="237744"/>
            <a:ext cx="1033272" cy="329184"/>
          </a:xfrm>
          <a:prstGeom prst="roundRect">
            <a:avLst>
              <a:gd name="adj" fmla="val 22222"/>
            </a:avLst>
          </a:prstGeom>
          <a:solidFill>
            <a:srgbClr val="6A51B7"/>
          </a:solidFill>
          <a:ln/>
        </p:spPr>
      </p:sp>
      <p:sp>
        <p:nvSpPr>
          <p:cNvPr id="4" name="Text 2">
            <a:hlinkClick r:id="rId2" tooltip="返回演示页" action="ppaction://hlinksldjump"/>
          </p:cNvPr>
          <p:cNvSpPr txBox="1"/>
          <p:nvPr/>
        </p:nvSpPr>
        <p:spPr>
          <a:xfrm>
            <a:off x="10698480" y="237744"/>
            <a:ext cx="10332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u="sng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action="ppaction://hlinksldjump" tooltip="返回演示页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← 返回</a:t>
            </a:r>
            <a:endParaRPr lang="en-US" sz="1100" dirty="0"/>
          </a:p>
        </p:txBody>
      </p:sp>
      <p:pic>
        <p:nvPicPr>
          <p:cNvPr id="5" name="Image 0" descr="media/tartar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45235" y="749808"/>
            <a:ext cx="6498483" cy="585216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HICC Pet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转正述职报告</dc:title>
  <dc:subject>PptxGenJS Presentation</dc:subject>
  <dc:creator>Toky 朱业拓</dc:creator>
  <cp:lastModifiedBy>Toky 朱业拓</cp:lastModifiedBy>
  <cp:revision>1</cp:revision>
  <dcterms:created xsi:type="dcterms:W3CDTF">2026-09-10T09:51:47Z</dcterms:created>
  <dcterms:modified xsi:type="dcterms:W3CDTF">2026-09-10T09:51:47Z</dcterms:modified>
</cp:coreProperties>
</file>