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算法整体进度</c:v>
                </c:pt>
              </c:strCache>
            </c:strRef>
          </c:tx>
          <c:spPr>
            <a:solidFill>
              <a:srgbClr val="6A51B7"/>
            </a:solidFill>
            <a:ln w="38100" cap="flat">
              <a:solidFill>
                <a:srgbClr val="6A51B7"/>
              </a:solidFill>
              <a:prstDash val="solid"/>
              <a:round/>
            </a:ln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52D8D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A51B7"/>
              </a:solidFill>
              <a:ln w="9525" cap="flat">
                <a:solidFill>
                  <a:srgbClr val="6A51B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5.18</c:v>
                  </c:pt>
                  <c:pt idx="1">
                    <c:v>5.25</c:v>
                  </c:pt>
                  <c:pt idx="2">
                    <c:v>7.27</c:v>
                  </c:pt>
                  <c:pt idx="3">
                    <c:v>8.03</c:v>
                  </c:pt>
                  <c:pt idx="4">
                    <c:v>8.10</c:v>
                  </c:pt>
                  <c:pt idx="5">
                    <c:v>8.17</c:v>
                  </c:pt>
                  <c:pt idx="6">
                    <c:v>8.24</c:v>
                  </c:pt>
                  <c:pt idx="7">
                    <c:v>8.31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45</c:v>
                </c:pt>
                <c:pt idx="1">
                  <c:v>55</c:v>
                </c:pt>
                <c:pt idx="2">
                  <c:v>70</c:v>
                </c:pt>
                <c:pt idx="3">
                  <c:v>75</c:v>
                </c:pt>
                <c:pt idx="4">
                  <c:v>76</c:v>
                </c:pt>
                <c:pt idx="5">
                  <c:v>83</c:v>
                </c:pt>
                <c:pt idx="6">
                  <c:v>85</c:v>
                </c:pt>
                <c:pt idx="7">
                  <c:v>87</c:v>
                </c:pt>
              </c:numCache>
            </c:numRef>
          </c:val>
          <c:smooth val="0"/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452D8D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30"/>
        </c:scaling>
        <c:delete val="0"/>
        <c:axPos val="l"/>
        <c:majorGridlines>
          <c:spPr>
            <a:ln w="12700" cap="flat">
              <a:solidFill>
                <a:srgbClr val="EEEBF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688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开场：各位领导、同事好，我是算法岗的朱业拓，英文名 Toky。今天向大家汇报我在试用期内的工作与成果。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汇报分五部分，重点是第二部分试用期关键成果。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我把算法岗理解为四件事的闭环：数据、模型、工程、协作。缺任何一环，算法都落不了地。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成果汇总成三块：行为识别、皮肤评估、算法平台。行为识别 5 月用模拟数据跑通链路，8 月抓挠识别达到公司定的 85% 目标；皮肤评估 7 月把评分口径谈定，9 月每只狗每天自动出分；算法平台 6 月标注工具就绪，9 月上了 AI 预标注，算法服务也交付后端上线。深色的是每块目前最关键的节点。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这一页先把范围说清楚：我负责的是两大块 —— 行为识别和皮肤健康评估，行为识别的结果是皮肤评估的输入。图像识别是延伸出来的一块，用户上传照片时作为补充，口腔牙齿检测是额外做的可行性验证。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两条路一起走的原因：规则版是 PM 和兽医定的，解释性好，兽医愿意核对，但上限受限于人能想到的规则；AI 版是把业务规则和兽医临床经验提炼成特征让模型学，上限更高，但要真实病例数据才能训好，现在只用合成数据验证了方案可行。AI 版分两阶段：先用行为数据出一个皮肤等级，如果用户回答了问题、上传了照片，第二阶段再综合判断。但用户互动默认没有，所以多数时候是第一阶段在起作用。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这一页讲的是怎么继续把它做好。三件事是互相咬合的：样本个体不够，模型换新狗就不稳；标注要人工审核，但模型越准 AI 预标越准，人工只做核对，投入会越来越省；省下来的人力能标更多数据，数据够了就能换更好的模型，上限更高。现在数据量还不适合上深度学习，传统方法反而更稳。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现场点开视频播放，另外两项在浏览器里现场演示。重点讲两个机制：AI 预标注让人从「从头标」变成「审核修正」；疑似片段召回把模型最不确定的样本主动推给人工，这两条是标注效率和数据质量的关键。播放控制在 1-2 分钟。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持续产出不是靠某一次冲刺，而是稳定的节奏。16周周报、进度从45%到87%，每周都有实质推进。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这五条是我试用期最重要的方法论沉淀，也是我认为可以持续复用到后续工作中的东西。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这一页是我对自己短板的判断。泛化能力是当前最需要解决的问题，其他三项也都有明确路径。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下一步我最想解决的是泛化能力问题，这决定了产品能不能面向所有用户的狗。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感谢各位，欢迎提问。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6" Type="http://schemas.openxmlformats.org/officeDocument/2006/relationships/slide" Target="slide14.xml"/><Relationship Id="rId7" Type="http://schemas.openxmlformats.org/officeDocument/2006/relationships/slide" Target="slide14.xml"/><Relationship Id="rId9" Type="http://schemas.openxmlformats.org/officeDocument/2006/relationships/slide" Target="slide15.xml"/><Relationship Id="rId10" Type="http://schemas.openxmlformats.org/officeDocument/2006/relationships/slide" Target="slide15.xml"/><Relationship Id="rId1" Type="http://schemas.openxmlformats.org/officeDocument/2006/relationships/image" Target="../media/image-8-1.png"/><Relationship Id="rId2" Type="http://schemas.openxmlformats.org/officeDocument/2006/relationships/video" Target="../media/media-8-2.mp4"/><Relationship Id="rId3" Type="http://schemas.microsoft.com/office/2007/relationships/media" Target="../media/media-8-2.mp4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8" Type="http://schemas.openxmlformats.org/officeDocument/2006/relationships/image" Target="../media/image-8-6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" Target="slide8.xml"/><Relationship Id="rId2" Type="http://schemas.openxmlformats.org/officeDocument/2006/relationships/slide" Target="slide8.xml"/><Relationship Id="rId3" Type="http://schemas.openxmlformats.org/officeDocument/2006/relationships/image" Target="../media/image-1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" Target="slide8.xml"/><Relationship Id="rId2" Type="http://schemas.openxmlformats.org/officeDocument/2006/relationships/slide" Target="slide8.xml"/><Relationship Id="rId3" Type="http://schemas.openxmlformats.org/officeDocument/2006/relationships/image" Target="../media/image-1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084832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转正述职报告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072384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Wardyn 项目 · 智能宠物项圈 · 犬只行为识别与皮肤健康评估算法研发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777240" y="3877056"/>
            <a:ext cx="5074920" cy="1115568"/>
          </a:xfrm>
          <a:prstGeom prst="roundRect">
            <a:avLst>
              <a:gd name="adj" fmla="val 8197"/>
            </a:avLst>
          </a:prstGeom>
          <a:solidFill>
            <a:srgbClr val="6A51B7">
              <a:alpha val="65000"/>
            </a:srgbClr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24128" y="4023360"/>
            <a:ext cx="3108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3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朱业拓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042416" y="44805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算法工程师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224528" y="407822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述职日期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206240" y="435254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2026.10.08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目录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72768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86384" y="1709928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6384" y="17099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517904" y="171907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自我介绍与岗位理解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536192" y="2029968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我是谁，以及我如何理解这个岗位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2514600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786384" y="2651760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86384" y="26517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17904" y="266090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试用期关键成果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536192" y="2971800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 · 皮肤评估 · 算法平台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3456432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3593592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35935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517904" y="360273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持续产出的验证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536192" y="3913632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进度曲线与迭代节奏，证明可持续交付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48640" y="4398264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21" name="Shape 18"/>
          <p:cNvSpPr/>
          <p:nvPr/>
        </p:nvSpPr>
        <p:spPr>
          <a:xfrm>
            <a:off x="786384" y="4535424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86384" y="45354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1517904" y="454456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个人成长与沉淀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1536192" y="4855464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方法论沉淀与认知提升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" y="5340096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786384" y="5477256"/>
            <a:ext cx="512064" cy="51206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6384" y="547725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1517904" y="54864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待提升点与下一步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1536192" y="5797296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短板认知与后续规划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SELF INTRODUCTION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自我介绍与岗位职责理解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4114800" cy="4480560"/>
          </a:xfrm>
          <a:prstGeom prst="roundRect">
            <a:avLst>
              <a:gd name="adj" fmla="val 2222"/>
            </a:avLst>
          </a:prstGeom>
          <a:solidFill>
            <a:srgbClr val="452D8D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41248" y="1773936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4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朱业拓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59536" y="22494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算法工程师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59536" y="279806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所属部门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859536" y="301752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用户增长研发部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334670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入职时间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356616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年 4 月中旬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859536" y="389534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所属项目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859536" y="41148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Wardyn 项目 · 智能宠物项圈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59536" y="444398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负责方向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859536" y="4663440"/>
            <a:ext cx="3566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狗的行为识别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算法工程与数据平台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956048" y="1572768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我如何理解这个岗位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4974336" y="192024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把项圈采到的数据，变成主人能看懂、也能放心的健康结论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956048" y="23957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19" name="Shape 16"/>
          <p:cNvSpPr/>
          <p:nvPr/>
        </p:nvSpPr>
        <p:spPr>
          <a:xfrm>
            <a:off x="5175504" y="2542032"/>
            <a:ext cx="475488" cy="475488"/>
          </a:xfrm>
          <a:prstGeom prst="ellipse">
            <a:avLst/>
          </a:prstGeom>
          <a:solidFill>
            <a:srgbClr val="FCC27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175504" y="2542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815584" y="25237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从零建立采集与标注流程，数据质量决定算法上限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956048" y="33101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3" name="Shape 20"/>
          <p:cNvSpPr/>
          <p:nvPr/>
        </p:nvSpPr>
        <p:spPr>
          <a:xfrm>
            <a:off x="5175504" y="3456432"/>
            <a:ext cx="475488" cy="475488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175504" y="34564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5815584" y="34381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教会算法识别狗的行为，并据此判断健康状况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956048" y="42245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27" name="Shape 24"/>
          <p:cNvSpPr/>
          <p:nvPr/>
        </p:nvSpPr>
        <p:spPr>
          <a:xfrm>
            <a:off x="5175504" y="4370832"/>
            <a:ext cx="475488" cy="475488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175504" y="43708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工程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5815584" y="43525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把算法做成产品能直接调用的服务，能上线才算数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956048" y="5138928"/>
            <a:ext cx="6684264" cy="768096"/>
          </a:xfrm>
          <a:prstGeom prst="roundRect">
            <a:avLst>
              <a:gd name="adj" fmla="val 11905"/>
            </a:avLst>
          </a:prstGeom>
          <a:solidFill>
            <a:srgbClr val="F3F1FF"/>
          </a:solidFill>
          <a:ln/>
        </p:spPr>
      </p:sp>
      <p:sp>
        <p:nvSpPr>
          <p:cNvPr id="31" name="Shape 28"/>
          <p:cNvSpPr/>
          <p:nvPr/>
        </p:nvSpPr>
        <p:spPr>
          <a:xfrm>
            <a:off x="5175504" y="5285232"/>
            <a:ext cx="475488" cy="475488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5175504" y="52852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协作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5815584" y="5266944"/>
            <a:ext cx="5669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对接产品、后端、硬件、兽医，推动资源到位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KEY RESULTS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试用期关键成果：三大块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入职时没有数据、没有模型、没有平台。下面是三块各自的推进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2048256" y="1682496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月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968496" y="1682496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月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888736" y="1682496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月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808976" y="1682496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月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729216" y="1682496"/>
            <a:ext cx="18836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月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48640" y="1975104"/>
            <a:ext cx="1298448" cy="1188720"/>
          </a:xfrm>
          <a:prstGeom prst="roundRect">
            <a:avLst>
              <a:gd name="adj" fmla="val 7692"/>
            </a:avLst>
          </a:prstGeom>
          <a:solidFill>
            <a:srgbClr val="452D8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48640" y="1975104"/>
            <a:ext cx="12984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2048256" y="2569464"/>
            <a:ext cx="9564624" cy="27432"/>
          </a:xfrm>
          <a:prstGeom prst="rect">
            <a:avLst/>
          </a:prstGeom>
          <a:solidFill>
            <a:srgbClr val="D5D0F7"/>
          </a:solidFill>
          <a:ln/>
        </p:spPr>
      </p:sp>
      <p:sp>
        <p:nvSpPr>
          <p:cNvPr id="14" name="Shape 11"/>
          <p:cNvSpPr/>
          <p:nvPr/>
        </p:nvSpPr>
        <p:spPr>
          <a:xfrm>
            <a:off x="2048256" y="1975104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F3F1F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2139696" y="1975104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跑通流程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3968496" y="1975104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F3F1F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059936" y="1975104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拿到真数据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888736" y="1975104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F3F1F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980176" y="1975104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采集定型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808976" y="1975104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6A51B7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7900416" y="2157984"/>
            <a:ext cx="17007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抓挠达标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7900416" y="2615184"/>
            <a:ext cx="1700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 目标 ≥ 85%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729216" y="1975104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F3F1FF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9820656" y="1975104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四类可用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48640" y="3291840"/>
            <a:ext cx="1298448" cy="1188720"/>
          </a:xfrm>
          <a:prstGeom prst="roundRect">
            <a:avLst>
              <a:gd name="adj" fmla="val 7692"/>
            </a:avLst>
          </a:prstGeom>
          <a:solidFill>
            <a:srgbClr val="452D8D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48640" y="3291840"/>
            <a:ext cx="12984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2048256" y="3886200"/>
            <a:ext cx="9564624" cy="27432"/>
          </a:xfrm>
          <a:prstGeom prst="rect">
            <a:avLst/>
          </a:prstGeom>
          <a:solidFill>
            <a:srgbClr val="D5D0F7"/>
          </a:solidFill>
          <a:ln/>
        </p:spPr>
      </p:sp>
      <p:sp>
        <p:nvSpPr>
          <p:cNvPr id="28" name="Shape 25"/>
          <p:cNvSpPr/>
          <p:nvPr/>
        </p:nvSpPr>
        <p:spPr>
          <a:xfrm>
            <a:off x="5888736" y="3291840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F3F1F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980176" y="329184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方案定下来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7808976" y="3291840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F3F1FF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7900416" y="329184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规则版上线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9729216" y="3291840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6A51B7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9820656" y="3474720"/>
            <a:ext cx="17007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每天自动出分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9820656" y="3931920"/>
            <a:ext cx="1700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版方案已验证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548640" y="4608576"/>
            <a:ext cx="1298448" cy="1188720"/>
          </a:xfrm>
          <a:prstGeom prst="roundRect">
            <a:avLst>
              <a:gd name="adj" fmla="val 7692"/>
            </a:avLst>
          </a:prstGeom>
          <a:solidFill>
            <a:srgbClr val="452D8D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548640" y="4608576"/>
            <a:ext cx="12984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算法平台</a:t>
            </a:r>
            <a:endParaRPr lang="en-US" sz="1250" dirty="0"/>
          </a:p>
        </p:txBody>
      </p:sp>
      <p:sp>
        <p:nvSpPr>
          <p:cNvPr id="37" name="Shape 34"/>
          <p:cNvSpPr/>
          <p:nvPr/>
        </p:nvSpPr>
        <p:spPr>
          <a:xfrm>
            <a:off x="2048256" y="5202936"/>
            <a:ext cx="9564624" cy="27432"/>
          </a:xfrm>
          <a:prstGeom prst="rect">
            <a:avLst/>
          </a:prstGeom>
          <a:solidFill>
            <a:srgbClr val="D5D0F7"/>
          </a:solidFill>
          <a:ln/>
        </p:spPr>
      </p:sp>
      <p:sp>
        <p:nvSpPr>
          <p:cNvPr id="38" name="Shape 35"/>
          <p:cNvSpPr/>
          <p:nvPr/>
        </p:nvSpPr>
        <p:spPr>
          <a:xfrm>
            <a:off x="3968496" y="4608576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F3F1FF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4059936" y="4608576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标注工具就绪</a:t>
            </a:r>
            <a:endParaRPr lang="en-US" sz="1300" dirty="0"/>
          </a:p>
        </p:txBody>
      </p:sp>
      <p:sp>
        <p:nvSpPr>
          <p:cNvPr id="40" name="Shape 37"/>
          <p:cNvSpPr/>
          <p:nvPr/>
        </p:nvSpPr>
        <p:spPr>
          <a:xfrm>
            <a:off x="5888736" y="4608576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F3F1FF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5980176" y="4608576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采集工程标准化</a:t>
            </a:r>
            <a:endParaRPr lang="en-US" sz="1300" dirty="0"/>
          </a:p>
        </p:txBody>
      </p:sp>
      <p:sp>
        <p:nvSpPr>
          <p:cNvPr id="42" name="Shape 39"/>
          <p:cNvSpPr/>
          <p:nvPr/>
        </p:nvSpPr>
        <p:spPr>
          <a:xfrm>
            <a:off x="7808976" y="4608576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F3F1FF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7900416" y="4608576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自研平台上线</a:t>
            </a:r>
            <a:endParaRPr lang="en-US" sz="1300" dirty="0"/>
          </a:p>
        </p:txBody>
      </p:sp>
      <p:sp>
        <p:nvSpPr>
          <p:cNvPr id="44" name="Shape 41"/>
          <p:cNvSpPr/>
          <p:nvPr/>
        </p:nvSpPr>
        <p:spPr>
          <a:xfrm>
            <a:off x="9729216" y="4608576"/>
            <a:ext cx="1883664" cy="1188720"/>
          </a:xfrm>
          <a:prstGeom prst="roundRect">
            <a:avLst>
              <a:gd name="adj" fmla="val 7692"/>
            </a:avLst>
          </a:prstGeom>
          <a:solidFill>
            <a:srgbClr val="6A51B7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9820656" y="4791456"/>
            <a:ext cx="17007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先标 + 服务上线</a:t>
            </a:r>
            <a:endParaRPr lang="en-US" sz="1300" dirty="0"/>
          </a:p>
        </p:txBody>
      </p:sp>
      <p:sp>
        <p:nvSpPr>
          <p:cNvPr id="46" name="Text 43"/>
          <p:cNvSpPr txBox="1"/>
          <p:nvPr/>
        </p:nvSpPr>
        <p:spPr>
          <a:xfrm>
            <a:off x="9820656" y="5248656"/>
            <a:ext cx="1700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人只做核对</a:t>
            </a:r>
            <a:endParaRPr lang="en-US" sz="950" dirty="0"/>
          </a:p>
        </p:txBody>
      </p:sp>
      <p:sp>
        <p:nvSpPr>
          <p:cNvPr id="47" name="Shape 44"/>
          <p:cNvSpPr/>
          <p:nvPr/>
        </p:nvSpPr>
        <p:spPr>
          <a:xfrm>
            <a:off x="548640" y="6089904"/>
            <a:ext cx="11091672" cy="457200"/>
          </a:xfrm>
          <a:prstGeom prst="roundRect">
            <a:avLst>
              <a:gd name="adj" fmla="val 20000"/>
            </a:avLst>
          </a:prstGeom>
          <a:solidFill>
            <a:srgbClr val="F3F1FF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822960" y="6089904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另有一块延伸：图像识别（皮肤照片辅助判断、口腔牙齿检测）</a:t>
            </a:r>
            <a:endParaRPr lang="en-US" sz="1050" dirty="0"/>
          </a:p>
        </p:txBody>
      </p:sp>
      <p:sp>
        <p:nvSpPr>
          <p:cNvPr id="49" name="Text 46"/>
          <p:cNvSpPr txBox="1"/>
          <p:nvPr/>
        </p:nvSpPr>
        <p:spPr>
          <a:xfrm>
            <a:off x="7132320" y="6089904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 45% → 87%，16 周无停滞</a:t>
            </a:r>
            <a:endParaRPr lang="en-US" sz="1050" dirty="0"/>
          </a:p>
        </p:txBody>
      </p:sp>
      <p:sp>
        <p:nvSpPr>
          <p:cNvPr id="50" name="Text 4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02.1  OVERVIEW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我负责的算法：两大块，一块延伸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371600"/>
            <a:ext cx="11091672" cy="512064"/>
          </a:xfrm>
          <a:prstGeom prst="roundRect">
            <a:avLst>
              <a:gd name="adj" fmla="val 17857"/>
            </a:avLst>
          </a:prstGeom>
          <a:solidFill>
            <a:srgbClr val="D5D0F7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86384" y="148132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8.31 目标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2194560" y="148132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抓挠识别准确率 ≥ 85%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212080" y="1481328"/>
            <a:ext cx="786384" cy="292608"/>
          </a:xfrm>
          <a:prstGeom prst="roundRect">
            <a:avLst>
              <a:gd name="adj" fmla="val 21875"/>
            </a:avLst>
          </a:prstGeom>
          <a:solidFill>
            <a:srgbClr val="FCC27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212080" y="1481328"/>
            <a:ext cx="786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已达成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309360" y="148132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EVT → DVT 阶段评审节点，算法侧均按期完成对接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48640" y="2029968"/>
            <a:ext cx="3575304" cy="2944368"/>
          </a:xfrm>
          <a:prstGeom prst="roundRect">
            <a:avLst>
              <a:gd name="adj" fmla="val 3106"/>
            </a:avLst>
          </a:prstGeom>
          <a:solidFill>
            <a:srgbClr val="452D8D"/>
          </a:solidFill>
          <a:ln/>
        </p:spPr>
      </p:sp>
      <p:sp>
        <p:nvSpPr>
          <p:cNvPr id="12" name="Shape 9"/>
          <p:cNvSpPr/>
          <p:nvPr/>
        </p:nvSpPr>
        <p:spPr>
          <a:xfrm>
            <a:off x="3163824" y="2231136"/>
            <a:ext cx="749808" cy="274320"/>
          </a:xfrm>
          <a:prstGeom prst="roundRect">
            <a:avLst>
              <a:gd name="adj" fmla="val 23333"/>
            </a:avLst>
          </a:prstGeom>
          <a:solidFill>
            <a:srgbClr val="FCC27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163824" y="223113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主线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2212848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822960" y="2743200"/>
            <a:ext cx="3035808" cy="365760"/>
          </a:xfrm>
          <a:prstGeom prst="roundRect">
            <a:avLst>
              <a:gd name="adj" fmla="val 17500"/>
            </a:avLst>
          </a:prstGeom>
          <a:solidFill>
            <a:srgbClr val="6A51B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22960" y="2743200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822960" y="3182112"/>
            <a:ext cx="3035808" cy="365760"/>
          </a:xfrm>
          <a:prstGeom prst="roundRect">
            <a:avLst>
              <a:gd name="adj" fmla="val 17500"/>
            </a:avLst>
          </a:prstGeom>
          <a:solidFill>
            <a:srgbClr val="6A51B7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22960" y="3182112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活动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822960" y="3621024"/>
            <a:ext cx="3035808" cy="365760"/>
          </a:xfrm>
          <a:prstGeom prst="roundRect">
            <a:avLst>
              <a:gd name="adj" fmla="val 17500"/>
            </a:avLst>
          </a:prstGeom>
          <a:solidFill>
            <a:srgbClr val="6A51B7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22960" y="3621024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睡觉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822960" y="4059936"/>
            <a:ext cx="3035808" cy="365760"/>
          </a:xfrm>
          <a:prstGeom prst="roundRect">
            <a:avLst>
              <a:gd name="adj" fmla="val 17500"/>
            </a:avLst>
          </a:prstGeom>
          <a:solidFill>
            <a:srgbClr val="6A51B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22960" y="4059936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没戴项圈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4572000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从项圈传感器数据判断狗在干什么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4306824" y="2029968"/>
            <a:ext cx="3575304" cy="2944368"/>
          </a:xfrm>
          <a:prstGeom prst="roundRect">
            <a:avLst>
              <a:gd name="adj" fmla="val 3106"/>
            </a:avLst>
          </a:prstGeom>
          <a:solidFill>
            <a:srgbClr val="452D8D"/>
          </a:solidFill>
          <a:ln/>
        </p:spPr>
      </p:sp>
      <p:sp>
        <p:nvSpPr>
          <p:cNvPr id="25" name="Shape 22"/>
          <p:cNvSpPr/>
          <p:nvPr/>
        </p:nvSpPr>
        <p:spPr>
          <a:xfrm>
            <a:off x="6922008" y="2231136"/>
            <a:ext cx="749808" cy="274320"/>
          </a:xfrm>
          <a:prstGeom prst="roundRect">
            <a:avLst>
              <a:gd name="adj" fmla="val 23333"/>
            </a:avLst>
          </a:prstGeom>
          <a:solidFill>
            <a:srgbClr val="FCC279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922008" y="223113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主线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4581144" y="2212848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皮肤健康评估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4581144" y="2743200"/>
            <a:ext cx="3035808" cy="365760"/>
          </a:xfrm>
          <a:prstGeom prst="roundRect">
            <a:avLst>
              <a:gd name="adj" fmla="val 17500"/>
            </a:avLst>
          </a:prstGeom>
          <a:solidFill>
            <a:srgbClr val="6A51B7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4581144" y="2743200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规则版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4581144" y="3182112"/>
            <a:ext cx="3035808" cy="365760"/>
          </a:xfrm>
          <a:prstGeom prst="roundRect">
            <a:avLst>
              <a:gd name="adj" fmla="val 17500"/>
            </a:avLst>
          </a:prstGeom>
          <a:solidFill>
            <a:srgbClr val="6A51B7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4581144" y="3182112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版</a:t>
            </a:r>
            <a:endParaRPr lang="en-US" sz="1250" dirty="0"/>
          </a:p>
        </p:txBody>
      </p:sp>
      <p:sp>
        <p:nvSpPr>
          <p:cNvPr id="32" name="Text 29"/>
          <p:cNvSpPr txBox="1"/>
          <p:nvPr/>
        </p:nvSpPr>
        <p:spPr>
          <a:xfrm>
            <a:off x="4581144" y="4572000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用行为数据判断皮肤状况，是产品最终要的结论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8065008" y="2029968"/>
            <a:ext cx="3575304" cy="2944368"/>
          </a:xfrm>
          <a:prstGeom prst="roundRect">
            <a:avLst>
              <a:gd name="adj" fmla="val 3106"/>
            </a:avLst>
          </a:prstGeom>
          <a:solidFill>
            <a:srgbClr val="F3F1FF"/>
          </a:solidFill>
          <a:ln/>
        </p:spPr>
      </p:sp>
      <p:sp>
        <p:nvSpPr>
          <p:cNvPr id="34" name="Shape 31"/>
          <p:cNvSpPr/>
          <p:nvPr/>
        </p:nvSpPr>
        <p:spPr>
          <a:xfrm>
            <a:off x="10680192" y="2231136"/>
            <a:ext cx="749808" cy="274320"/>
          </a:xfrm>
          <a:prstGeom prst="roundRect">
            <a:avLst>
              <a:gd name="adj" fmla="val 23333"/>
            </a:avLst>
          </a:prstGeom>
          <a:solidFill>
            <a:srgbClr val="846CCF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10680192" y="223113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延伸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8339328" y="2212848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图像识别</a:t>
            </a:r>
            <a:endParaRPr lang="en-US" sz="1600" dirty="0"/>
          </a:p>
        </p:txBody>
      </p:sp>
      <p:sp>
        <p:nvSpPr>
          <p:cNvPr id="37" name="Shape 34"/>
          <p:cNvSpPr/>
          <p:nvPr/>
        </p:nvSpPr>
        <p:spPr>
          <a:xfrm>
            <a:off x="8339328" y="2743200"/>
            <a:ext cx="3035808" cy="36576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8339328" y="2743200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皮肤照片</a:t>
            </a:r>
            <a:endParaRPr lang="en-US" sz="1250" dirty="0"/>
          </a:p>
        </p:txBody>
      </p:sp>
      <p:sp>
        <p:nvSpPr>
          <p:cNvPr id="39" name="Shape 36"/>
          <p:cNvSpPr/>
          <p:nvPr/>
        </p:nvSpPr>
        <p:spPr>
          <a:xfrm>
            <a:off x="8339328" y="3182112"/>
            <a:ext cx="3035808" cy="36576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8339328" y="3182112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口腔牙齿</a:t>
            </a:r>
            <a:endParaRPr lang="en-US" sz="1250" dirty="0"/>
          </a:p>
        </p:txBody>
      </p:sp>
      <p:sp>
        <p:nvSpPr>
          <p:cNvPr id="41" name="Text 38"/>
          <p:cNvSpPr txBox="1"/>
          <p:nvPr/>
        </p:nvSpPr>
        <p:spPr>
          <a:xfrm>
            <a:off x="8339328" y="4572000"/>
            <a:ext cx="3035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用户上传照片时作为补充；口腔牙齿检测是额外做的验证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48640" y="5175504"/>
            <a:ext cx="11091672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43" name="Shape 40"/>
          <p:cNvSpPr/>
          <p:nvPr/>
        </p:nvSpPr>
        <p:spPr>
          <a:xfrm>
            <a:off x="914400" y="5394960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6A51B7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914400" y="53949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项圈数据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2468880" y="53949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46" name="Shape 43"/>
          <p:cNvSpPr/>
          <p:nvPr/>
        </p:nvSpPr>
        <p:spPr>
          <a:xfrm>
            <a:off x="2834640" y="5394960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6A51B7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2834640" y="53949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行为识别</a:t>
            </a:r>
            <a:endParaRPr lang="en-US" sz="1150" dirty="0"/>
          </a:p>
        </p:txBody>
      </p:sp>
      <p:sp>
        <p:nvSpPr>
          <p:cNvPr id="48" name="Text 45"/>
          <p:cNvSpPr txBox="1"/>
          <p:nvPr/>
        </p:nvSpPr>
        <p:spPr>
          <a:xfrm>
            <a:off x="4389120" y="539496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4754880" y="5394960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6A51B7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4754880" y="539496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</a:t>
            </a:r>
            <a:endParaRPr lang="en-US" sz="1150" dirty="0"/>
          </a:p>
        </p:txBody>
      </p:sp>
      <p:sp>
        <p:nvSpPr>
          <p:cNvPr id="51" name="Text 48"/>
          <p:cNvSpPr txBox="1"/>
          <p:nvPr/>
        </p:nvSpPr>
        <p:spPr>
          <a:xfrm>
            <a:off x="6675120" y="530352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用户问答、用户上传照片可以加进来一起判断，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但默认没有 —— 多数情况只靠行为数据</a:t>
            </a:r>
            <a:endParaRPr lang="en-US" sz="1050" dirty="0"/>
          </a:p>
        </p:txBody>
      </p:sp>
      <p:sp>
        <p:nvSpPr>
          <p:cNvPr id="52" name="Text 49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02.2  SKIN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成果一：皮肤评估，两条路一起走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5431536" cy="1975104"/>
          </a:xfrm>
          <a:prstGeom prst="roundRect">
            <a:avLst>
              <a:gd name="adj" fmla="val 4630"/>
            </a:avLst>
          </a:prstGeom>
          <a:solidFill>
            <a:srgbClr val="F3F1F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822960" y="168249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规则版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32104" y="201168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 与兽医主导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40864"/>
            <a:ext cx="48828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每一分怎么来的都能说清楚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兽医好核对、好调整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上限不高，靠人定规则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208776" y="1517904"/>
            <a:ext cx="5431536" cy="1975104"/>
          </a:xfrm>
          <a:prstGeom prst="roundRect">
            <a:avLst>
              <a:gd name="adj" fmla="val 4630"/>
            </a:avLst>
          </a:prstGeom>
          <a:solidFill>
            <a:srgbClr val="452D8D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83096" y="168249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版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6492240" y="201168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把业务规则和兽医临床经验变成特征，让模型学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6483096" y="2340864"/>
            <a:ext cx="48828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上限更高，能自己找规律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已用合成数据验证方案可行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要真实病例数据才能真正训好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367588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版怎么判断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48640" y="4078224"/>
            <a:ext cx="11091672" cy="713232"/>
          </a:xfrm>
          <a:prstGeom prst="roundRect">
            <a:avLst>
              <a:gd name="adj" fmla="val 12821"/>
            </a:avLst>
          </a:prstGeom>
          <a:solidFill>
            <a:srgbClr val="F3F1FF"/>
          </a:solidFill>
          <a:ln/>
        </p:spPr>
      </p:sp>
      <p:sp>
        <p:nvSpPr>
          <p:cNvPr id="15" name="Shape 12"/>
          <p:cNvSpPr/>
          <p:nvPr/>
        </p:nvSpPr>
        <p:spPr>
          <a:xfrm>
            <a:off x="768096" y="4261104"/>
            <a:ext cx="1060704" cy="347472"/>
          </a:xfrm>
          <a:prstGeom prst="roundRect">
            <a:avLst>
              <a:gd name="adj" fmla="val 21053"/>
            </a:avLst>
          </a:prstGeom>
          <a:solidFill>
            <a:srgbClr val="6A51B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68096" y="4261104"/>
            <a:ext cx="1060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第一阶段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103120" y="4261104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行为数据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6949440" y="426110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498080" y="4261104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皮肤等级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548640" y="4901184"/>
            <a:ext cx="11091672" cy="713232"/>
          </a:xfrm>
          <a:prstGeom prst="roundRect">
            <a:avLst>
              <a:gd name="adj" fmla="val 12821"/>
            </a:avLst>
          </a:prstGeom>
          <a:solidFill>
            <a:srgbClr val="D5D0F7"/>
          </a:solidFill>
          <a:ln/>
        </p:spPr>
      </p:sp>
      <p:sp>
        <p:nvSpPr>
          <p:cNvPr id="21" name="Shape 18"/>
          <p:cNvSpPr/>
          <p:nvPr/>
        </p:nvSpPr>
        <p:spPr>
          <a:xfrm>
            <a:off x="768096" y="5084064"/>
            <a:ext cx="1060704" cy="347472"/>
          </a:xfrm>
          <a:prstGeom prst="roundRect">
            <a:avLst>
              <a:gd name="adj" fmla="val 21053"/>
            </a:avLst>
          </a:prstGeom>
          <a:solidFill>
            <a:srgbClr val="F7BA59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68096" y="5084064"/>
            <a:ext cx="1060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第二阶段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2103120" y="5084064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 用户问答（可选 ＋ 用户照片）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6949440" y="5084064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7498080" y="5084064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综合评估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581558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用户问答和照片默认是没有的，所以多数情况只靠第一阶段的行为数据判断。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02.3  HOW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成果二：要做得更好，关键是这三件事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3575304" cy="2962656"/>
          </a:xfrm>
          <a:prstGeom prst="roundRect">
            <a:avLst>
              <a:gd name="adj" fmla="val 3086"/>
            </a:avLst>
          </a:prstGeom>
          <a:solidFill>
            <a:srgbClr val="452D8D"/>
          </a:solidFill>
          <a:ln/>
        </p:spPr>
      </p:sp>
      <p:sp>
        <p:nvSpPr>
          <p:cNvPr id="6" name="Shape 3"/>
          <p:cNvSpPr/>
          <p:nvPr/>
        </p:nvSpPr>
        <p:spPr>
          <a:xfrm>
            <a:off x="804672" y="1773936"/>
            <a:ext cx="457200" cy="457200"/>
          </a:xfrm>
          <a:prstGeom prst="ellipse">
            <a:avLst/>
          </a:prstGeom>
          <a:solidFill>
            <a:srgbClr val="FCC27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773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810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样本要更多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359152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现在只有 4 只狗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743200"/>
            <a:ext cx="30358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个体越多，模型换一只没见过的狗才稳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狗场先加 6 只，之后按批次继续扩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06824" y="1554480"/>
            <a:ext cx="3575304" cy="2962656"/>
          </a:xfrm>
          <a:prstGeom prst="roundRect">
            <a:avLst>
              <a:gd name="adj" fmla="val 3086"/>
            </a:avLst>
          </a:prstGeom>
          <a:solidFill>
            <a:srgbClr val="F3F1FF"/>
          </a:solidFill>
          <a:ln/>
        </p:spPr>
      </p:sp>
      <p:sp>
        <p:nvSpPr>
          <p:cNvPr id="12" name="Shape 9"/>
          <p:cNvSpPr/>
          <p:nvPr/>
        </p:nvSpPr>
        <p:spPr>
          <a:xfrm>
            <a:off x="4562856" y="1773936"/>
            <a:ext cx="457200" cy="457200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562856" y="1773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129784" y="1810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标注要人工审核</a:t>
            </a:r>
            <a:endParaRPr lang="en-US" sz="1450" dirty="0"/>
          </a:p>
        </p:txBody>
      </p:sp>
      <p:sp>
        <p:nvSpPr>
          <p:cNvPr id="15" name="Text 12"/>
          <p:cNvSpPr txBox="1"/>
          <p:nvPr/>
        </p:nvSpPr>
        <p:spPr>
          <a:xfrm>
            <a:off x="4581144" y="2359152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但会越来越省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581144" y="2743200"/>
            <a:ext cx="30358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模型越准，AI 预标越准，人只需核对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同样的数据量，人工投入随时间下降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065008" y="1554480"/>
            <a:ext cx="3575304" cy="2962656"/>
          </a:xfrm>
          <a:prstGeom prst="roundRect">
            <a:avLst>
              <a:gd name="adj" fmla="val 3086"/>
            </a:avLst>
          </a:prstGeom>
          <a:solidFill>
            <a:srgbClr val="F3F1FF"/>
          </a:solidFill>
          <a:ln/>
        </p:spPr>
      </p:sp>
      <p:sp>
        <p:nvSpPr>
          <p:cNvPr id="18" name="Shape 15"/>
          <p:cNvSpPr/>
          <p:nvPr/>
        </p:nvSpPr>
        <p:spPr>
          <a:xfrm>
            <a:off x="8321040" y="1773936"/>
            <a:ext cx="457200" cy="457200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321040" y="1773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8887968" y="18105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数据够了换更好的模型</a:t>
            </a:r>
            <a:endParaRPr lang="en-US" sz="1450" dirty="0"/>
          </a:p>
        </p:txBody>
      </p:sp>
      <p:sp>
        <p:nvSpPr>
          <p:cNvPr id="21" name="Text 18"/>
          <p:cNvSpPr txBox="1"/>
          <p:nvPr/>
        </p:nvSpPr>
        <p:spPr>
          <a:xfrm>
            <a:off x="8339328" y="2359152"/>
            <a:ext cx="3035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现在的数据量还不够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339328" y="2743200"/>
            <a:ext cx="30358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数据量少，传统方法更稳、更省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数据上来后可以上深度学习，上限更高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48640" y="4754880"/>
            <a:ext cx="11091672" cy="914400"/>
          </a:xfrm>
          <a:prstGeom prst="roundRect">
            <a:avLst>
              <a:gd name="adj" fmla="val 10000"/>
            </a:avLst>
          </a:prstGeom>
          <a:solidFill>
            <a:srgbClr val="D5D0F7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22960" y="4901184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影棚 2 → 4 只，龙岗狗场 6 只已谈妥，长远按 30 → 50 → 70 → 100 → 150 只分阶段扩大。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三件事是连着的：狗多了数据才够，AI 预标准了人工才省，省下来的人力才能标更多数据、支撑更好的模型。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02.4  PLATFORM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成果三：AI 先干粗活，人只做把关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2984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一只狗一天录 24 段、每段 1 小时，早期只能靠人从头看到尾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664208"/>
            <a:ext cx="1719072" cy="457200"/>
          </a:xfrm>
          <a:prstGeom prst="roundRect">
            <a:avLst>
              <a:gd name="adj" fmla="val 18000"/>
            </a:avLst>
          </a:prstGeom>
          <a:solidFill>
            <a:srgbClr val="D5D0F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166420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采集数据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2240280" y="1664208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404872" y="1664208"/>
            <a:ext cx="1719072" cy="457200"/>
          </a:xfrm>
          <a:prstGeom prst="roundRect">
            <a:avLst>
              <a:gd name="adj" fmla="val 18000"/>
            </a:avLst>
          </a:prstGeom>
          <a:solidFill>
            <a:srgbClr val="6A51B7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404872" y="166420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先标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4096512" y="1664208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261104" y="1664208"/>
            <a:ext cx="1719072" cy="457200"/>
          </a:xfrm>
          <a:prstGeom prst="roundRect">
            <a:avLst>
              <a:gd name="adj" fmla="val 18000"/>
            </a:avLst>
          </a:prstGeom>
          <a:solidFill>
            <a:srgbClr val="6A51B7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261104" y="166420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人工核对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952744" y="1664208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117336" y="1664208"/>
            <a:ext cx="1719072" cy="457200"/>
          </a:xfrm>
          <a:prstGeom prst="roundRect">
            <a:avLst>
              <a:gd name="adj" fmla="val 18000"/>
            </a:avLst>
          </a:prstGeom>
          <a:solidFill>
            <a:srgbClr val="D5D0F7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117336" y="166420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训练模型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808976" y="1664208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973568" y="1664208"/>
            <a:ext cx="1719072" cy="457200"/>
          </a:xfrm>
          <a:prstGeom prst="roundRect">
            <a:avLst>
              <a:gd name="adj" fmla="val 18000"/>
            </a:avLst>
          </a:prstGeom>
          <a:solidFill>
            <a:srgbClr val="D5D0F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973568" y="166420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测试效果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9665208" y="1664208"/>
            <a:ext cx="192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829800" y="1664208"/>
            <a:ext cx="1719072" cy="457200"/>
          </a:xfrm>
          <a:prstGeom prst="roundRect">
            <a:avLst>
              <a:gd name="adj" fmla="val 18000"/>
            </a:avLst>
          </a:prstGeom>
          <a:solidFill>
            <a:srgbClr val="D5D0F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9829800" y="1664208"/>
            <a:ext cx="1719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上线使用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493776" y="2304288"/>
            <a:ext cx="6830568" cy="3294960"/>
          </a:xfrm>
          <a:prstGeom prst="roundRect">
            <a:avLst>
              <a:gd name="adj" fmla="val 2220"/>
            </a:avLst>
          </a:prstGeom>
          <a:solidFill>
            <a:srgbClr val="452D8D"/>
          </a:solidFill>
          <a:ln/>
        </p:spPr>
      </p:sp>
      <p:pic>
        <p:nvPicPr>
          <p:cNvPr id="62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48640" y="2359152"/>
            <a:ext cx="6720840" cy="3185232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548640" y="5617536"/>
            <a:ext cx="6720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放映时点击画面播放</a:t>
            </a:r>
            <a:endParaRPr lang="en-US" sz="950" dirty="0"/>
          </a:p>
        </p:txBody>
      </p:sp>
      <p:sp>
        <p:nvSpPr>
          <p:cNvPr id="26" name="Text 22"/>
          <p:cNvSpPr txBox="1"/>
          <p:nvPr/>
        </p:nvSpPr>
        <p:spPr>
          <a:xfrm>
            <a:off x="7571232" y="235915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抓挠检出与人工核对  —  请看四处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7552944" y="2724912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28" name="Shape 24"/>
          <p:cNvSpPr/>
          <p:nvPr/>
        </p:nvSpPr>
        <p:spPr>
          <a:xfrm>
            <a:off x="7735824" y="2871216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7735824" y="28712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8193024" y="277063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三路画面同步</a:t>
            </a:r>
            <a:endParaRPr lang="en-US" sz="1150" dirty="0"/>
          </a:p>
        </p:txBody>
      </p:sp>
      <p:sp>
        <p:nvSpPr>
          <p:cNvPr id="31" name="Text 27"/>
          <p:cNvSpPr txBox="1"/>
          <p:nvPr/>
        </p:nvSpPr>
        <p:spPr>
          <a:xfrm>
            <a:off x="8193024" y="302666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三路画面与项圈波形共用一条时间轴</a:t>
            </a:r>
            <a:endParaRPr lang="en-US" sz="950" dirty="0"/>
          </a:p>
        </p:txBody>
      </p:sp>
      <p:sp>
        <p:nvSpPr>
          <p:cNvPr id="32" name="Shape 28"/>
          <p:cNvSpPr/>
          <p:nvPr/>
        </p:nvSpPr>
        <p:spPr>
          <a:xfrm>
            <a:off x="7552944" y="3447288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33" name="Shape 29"/>
          <p:cNvSpPr/>
          <p:nvPr/>
        </p:nvSpPr>
        <p:spPr>
          <a:xfrm>
            <a:off x="7735824" y="3593592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7735824" y="35935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35" name="Text 31"/>
          <p:cNvSpPr txBox="1"/>
          <p:nvPr/>
        </p:nvSpPr>
        <p:spPr>
          <a:xfrm>
            <a:off x="8193024" y="349300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标出的片段</a:t>
            </a:r>
            <a:endParaRPr lang="en-US" sz="1150" dirty="0"/>
          </a:p>
        </p:txBody>
      </p:sp>
      <p:sp>
        <p:nvSpPr>
          <p:cNvPr id="36" name="Text 32"/>
          <p:cNvSpPr txBox="1"/>
          <p:nvPr/>
        </p:nvSpPr>
        <p:spPr>
          <a:xfrm>
            <a:off x="8193024" y="37490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模型标出 11.9 秒抓挠，把握 84%</a:t>
            </a:r>
            <a:endParaRPr lang="en-US" sz="950" dirty="0"/>
          </a:p>
        </p:txBody>
      </p:sp>
      <p:sp>
        <p:nvSpPr>
          <p:cNvPr id="37" name="Shape 33"/>
          <p:cNvSpPr/>
          <p:nvPr/>
        </p:nvSpPr>
        <p:spPr>
          <a:xfrm>
            <a:off x="7552944" y="4169664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D5D0F7"/>
          </a:solidFill>
          <a:ln/>
        </p:spPr>
      </p:sp>
      <p:sp>
        <p:nvSpPr>
          <p:cNvPr id="38" name="Shape 34"/>
          <p:cNvSpPr/>
          <p:nvPr/>
        </p:nvSpPr>
        <p:spPr>
          <a:xfrm>
            <a:off x="7735824" y="4315968"/>
            <a:ext cx="347472" cy="347472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7735824" y="43159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40" name="Text 36"/>
          <p:cNvSpPr txBox="1"/>
          <p:nvPr/>
        </p:nvSpPr>
        <p:spPr>
          <a:xfrm>
            <a:off x="8193024" y="421538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拿不准的片段</a:t>
            </a:r>
            <a:endParaRPr lang="en-US" sz="1150" dirty="0"/>
          </a:p>
        </p:txBody>
      </p:sp>
      <p:sp>
        <p:nvSpPr>
          <p:cNvPr id="41" name="Text 37"/>
          <p:cNvSpPr txBox="1"/>
          <p:nvPr/>
        </p:nvSpPr>
        <p:spPr>
          <a:xfrm>
            <a:off x="8193024" y="44714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没把握的地方单独挑出，等人判断</a:t>
            </a:r>
            <a:endParaRPr lang="en-US" sz="950" dirty="0"/>
          </a:p>
        </p:txBody>
      </p:sp>
      <p:sp>
        <p:nvSpPr>
          <p:cNvPr id="42" name="Shape 38"/>
          <p:cNvSpPr/>
          <p:nvPr/>
        </p:nvSpPr>
        <p:spPr>
          <a:xfrm>
            <a:off x="7552944" y="4892040"/>
            <a:ext cx="4087368" cy="640080"/>
          </a:xfrm>
          <a:prstGeom prst="roundRect">
            <a:avLst>
              <a:gd name="adj" fmla="val 14286"/>
            </a:avLst>
          </a:prstGeom>
          <a:solidFill>
            <a:srgbClr val="F3F1FF"/>
          </a:solidFill>
          <a:ln/>
        </p:spPr>
      </p:sp>
      <p:sp>
        <p:nvSpPr>
          <p:cNvPr id="43" name="Shape 39"/>
          <p:cNvSpPr/>
          <p:nvPr/>
        </p:nvSpPr>
        <p:spPr>
          <a:xfrm>
            <a:off x="7735824" y="5038344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44" name="Text 40"/>
          <p:cNvSpPr txBox="1"/>
          <p:nvPr/>
        </p:nvSpPr>
        <p:spPr>
          <a:xfrm>
            <a:off x="7735824" y="50383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45" name="Text 41"/>
          <p:cNvSpPr txBox="1"/>
          <p:nvPr/>
        </p:nvSpPr>
        <p:spPr>
          <a:xfrm>
            <a:off x="8193024" y="493776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人工核对</a:t>
            </a:r>
            <a:endParaRPr lang="en-US" sz="1150" dirty="0"/>
          </a:p>
        </p:txBody>
      </p:sp>
      <p:sp>
        <p:nvSpPr>
          <p:cNvPr id="46" name="Text 42"/>
          <p:cNvSpPr txBox="1"/>
          <p:nvPr/>
        </p:nvSpPr>
        <p:spPr>
          <a:xfrm>
            <a:off x="8193024" y="519379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认领修改 / 整份通过，多人可同时进行</a:t>
            </a:r>
            <a:endParaRPr lang="en-US" sz="950" dirty="0"/>
          </a:p>
        </p:txBody>
      </p:sp>
      <p:sp>
        <p:nvSpPr>
          <p:cNvPr id="47" name="Shape 43"/>
          <p:cNvSpPr/>
          <p:nvPr/>
        </p:nvSpPr>
        <p:spPr>
          <a:xfrm>
            <a:off x="548640" y="5687568"/>
            <a:ext cx="5431536" cy="914400"/>
          </a:xfrm>
          <a:prstGeom prst="roundRect">
            <a:avLst>
              <a:gd name="adj" fmla="val 10000"/>
            </a:avLst>
          </a:prstGeom>
          <a:solidFill>
            <a:srgbClr val="F3F1FF"/>
          </a:solidFill>
          <a:ln/>
        </p:spPr>
      </p:sp>
      <p:sp>
        <p:nvSpPr>
          <p:cNvPr id="48" name="Shape 44"/>
          <p:cNvSpPr/>
          <p:nvPr/>
        </p:nvSpPr>
        <p:spPr>
          <a:xfrm>
            <a:off x="713232" y="5760720"/>
            <a:ext cx="1371600" cy="768096"/>
          </a:xfrm>
          <a:prstGeom prst="roundRect">
            <a:avLst>
              <a:gd name="adj" fmla="val 7143"/>
            </a:avLst>
          </a:prstGeom>
          <a:solidFill>
            <a:srgbClr val="452D8D"/>
          </a:solidFill>
          <a:ln/>
        </p:spPr>
      </p:sp>
      <p:pic>
        <p:nvPicPr>
          <p:cNvPr id="49" name="Image 1" descr="media/platform.png">
            <a:hlinkClick r:id="rId6" tooltip="点击放大" action="ppaction://hlinksldjump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" y="5819370"/>
            <a:ext cx="1371600" cy="650796"/>
          </a:xfrm>
          <a:prstGeom prst="rect">
            <a:avLst/>
          </a:prstGeom>
        </p:spPr>
      </p:pic>
      <p:sp>
        <p:nvSpPr>
          <p:cNvPr id="50" name="Shape 45">
            <a:hlinkClick r:id="rId7" tooltip="点击放大" action="ppaction://hlinksldjump"/>
          </p:cNvPr>
          <p:cNvSpPr/>
          <p:nvPr/>
        </p:nvSpPr>
        <p:spPr>
          <a:xfrm>
            <a:off x="713232" y="5760720"/>
            <a:ext cx="1371600" cy="768096"/>
          </a:xfrm>
          <a:prstGeom prst="roundRect">
            <a:avLst>
              <a:gd name="adj" fmla="val 7143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1" name="Text 46"/>
          <p:cNvSpPr txBox="1"/>
          <p:nvPr/>
        </p:nvSpPr>
        <p:spPr>
          <a:xfrm>
            <a:off x="2231136" y="636422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点击放大</a:t>
            </a:r>
            <a:endParaRPr lang="en-US" sz="900" dirty="0"/>
          </a:p>
        </p:txBody>
      </p:sp>
      <p:sp>
        <p:nvSpPr>
          <p:cNvPr id="52" name="Text 47"/>
          <p:cNvSpPr txBox="1"/>
          <p:nvPr/>
        </p:nvSpPr>
        <p:spPr>
          <a:xfrm>
            <a:off x="2231136" y="58155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皮肤评估每日跟踪</a:t>
            </a:r>
            <a:endParaRPr lang="en-US" sz="1250" dirty="0"/>
          </a:p>
        </p:txBody>
      </p:sp>
      <p:sp>
        <p:nvSpPr>
          <p:cNvPr id="53" name="Text 48"/>
          <p:cNvSpPr txBox="1"/>
          <p:nvPr/>
        </p:nvSpPr>
        <p:spPr>
          <a:xfrm>
            <a:off x="2231136" y="61081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每只狗每天自动出佩戴时长、抓挠统计与健康评分</a:t>
            </a:r>
            <a:endParaRPr lang="en-US" sz="1000" dirty="0"/>
          </a:p>
        </p:txBody>
      </p:sp>
      <p:sp>
        <p:nvSpPr>
          <p:cNvPr id="54" name="Shape 49"/>
          <p:cNvSpPr/>
          <p:nvPr/>
        </p:nvSpPr>
        <p:spPr>
          <a:xfrm>
            <a:off x="6208776" y="5687568"/>
            <a:ext cx="5431536" cy="914400"/>
          </a:xfrm>
          <a:prstGeom prst="roundRect">
            <a:avLst>
              <a:gd name="adj" fmla="val 10000"/>
            </a:avLst>
          </a:prstGeom>
          <a:solidFill>
            <a:srgbClr val="F3F1FF"/>
          </a:solidFill>
          <a:ln/>
        </p:spPr>
      </p:sp>
      <p:sp>
        <p:nvSpPr>
          <p:cNvPr id="55" name="Shape 50"/>
          <p:cNvSpPr/>
          <p:nvPr/>
        </p:nvSpPr>
        <p:spPr>
          <a:xfrm>
            <a:off x="6373368" y="5760720"/>
            <a:ext cx="1371600" cy="768096"/>
          </a:xfrm>
          <a:prstGeom prst="roundRect">
            <a:avLst>
              <a:gd name="adj" fmla="val 7143"/>
            </a:avLst>
          </a:prstGeom>
          <a:solidFill>
            <a:srgbClr val="452D8D"/>
          </a:solidFill>
          <a:ln/>
        </p:spPr>
      </p:sp>
      <p:pic>
        <p:nvPicPr>
          <p:cNvPr id="56" name="Image 2" descr="media/tartar.png">
            <a:hlinkClick r:id="rId9" tooltip="点击放大" action="ppaction://hlinksldjum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32705" y="5760720"/>
            <a:ext cx="852926" cy="768096"/>
          </a:xfrm>
          <a:prstGeom prst="rect">
            <a:avLst/>
          </a:prstGeom>
        </p:spPr>
      </p:pic>
      <p:sp>
        <p:nvSpPr>
          <p:cNvPr id="57" name="Shape 51">
            <a:hlinkClick r:id="rId10" tooltip="点击放大" action="ppaction://hlinksldjump"/>
          </p:cNvPr>
          <p:cNvSpPr/>
          <p:nvPr/>
        </p:nvSpPr>
        <p:spPr>
          <a:xfrm>
            <a:off x="6373368" y="5760720"/>
            <a:ext cx="1371600" cy="768096"/>
          </a:xfrm>
          <a:prstGeom prst="roundRect">
            <a:avLst>
              <a:gd name="adj" fmla="val 7143"/>
            </a:avLst>
          </a:prstGeom>
          <a:solidFill>
            <a:srgbClr val="FFFFFF">
              <a:alpha val="0"/>
            </a:srgbClr>
          </a:solidFill>
          <a:ln/>
        </p:spPr>
      </p:sp>
      <p:sp>
        <p:nvSpPr>
          <p:cNvPr id="58" name="Text 52"/>
          <p:cNvSpPr txBox="1"/>
          <p:nvPr/>
        </p:nvSpPr>
        <p:spPr>
          <a:xfrm>
            <a:off x="7891272" y="636422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点击放大</a:t>
            </a:r>
            <a:endParaRPr lang="en-US" sz="900" dirty="0"/>
          </a:p>
        </p:txBody>
      </p:sp>
      <p:sp>
        <p:nvSpPr>
          <p:cNvPr id="59" name="Text 53"/>
          <p:cNvSpPr txBox="1"/>
          <p:nvPr/>
        </p:nvSpPr>
        <p:spPr>
          <a:xfrm>
            <a:off x="7891272" y="58155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口腔牙齿检测</a:t>
            </a:r>
            <a:endParaRPr lang="en-US" sz="1250" dirty="0"/>
          </a:p>
        </p:txBody>
      </p:sp>
      <p:sp>
        <p:nvSpPr>
          <p:cNvPr id="60" name="Text 54"/>
          <p:cNvSpPr txBox="1"/>
          <p:nvPr/>
        </p:nvSpPr>
        <p:spPr>
          <a:xfrm>
            <a:off x="7891272" y="61081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上传照片即可判断正常或异常</a:t>
            </a:r>
            <a:endParaRPr lang="en-US" sz="1000" dirty="0"/>
          </a:p>
        </p:txBody>
      </p:sp>
      <p:sp>
        <p:nvSpPr>
          <p:cNvPr id="61" name="Text 55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 fullScrn="1">
                <p:cTn id="2" fill="hold" display="0">
                  <p:stCondLst>
                    <p:cond delay="indefinite"/>
                  </p:stCondLst>
                </p:cTn>
                <p:tgtEl>
                  <p:spTgt spid="62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CONSISTENCY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我如何证明能够持续产出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graphicFrame>
        <p:nvGraphicFramePr>
          <p:cNvPr id="5" name="Chart 0" descr=""/>
          <p:cNvGraphicFramePr/>
          <p:nvPr/>
        </p:nvGraphicFramePr>
        <p:xfrm>
          <a:off x="548640" y="1572768"/>
          <a:ext cx="68122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66928" y="4626864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算法整体进度：45% → 87%（16 周持续推进，无停滞周）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7607808" y="1572768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7827264" y="168249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篇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9710928" y="172821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连续周报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7845552" y="2029968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每周写完成了什么、卡在哪、下周做什么，从没断过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7607808" y="2633472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827264" y="27432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每项有结论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9710928" y="278892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汇报习惯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7845552" y="3090672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每件事都给一句明确结论，不只罗列过程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7607808" y="3694176"/>
            <a:ext cx="4032504" cy="932688"/>
          </a:xfrm>
          <a:prstGeom prst="roundRect">
            <a:avLst>
              <a:gd name="adj" fmla="val 9804"/>
            </a:avLst>
          </a:prstGeom>
          <a:solidFill>
            <a:srgbClr val="F3F1F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7827264" y="380390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1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问题必闭环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9710928" y="384962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工作方式</a:t>
            </a:r>
            <a:endParaRPr lang="en-US" sz="1050" dirty="0"/>
          </a:p>
        </p:txBody>
      </p:sp>
      <p:sp>
        <p:nvSpPr>
          <p:cNvPr id="18" name="Text 14"/>
          <p:cNvSpPr txBox="1"/>
          <p:nvPr/>
        </p:nvSpPr>
        <p:spPr>
          <a:xfrm>
            <a:off x="7845552" y="4151376"/>
            <a:ext cx="3566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卡住的地方一定找到根本原因再解决</a:t>
            </a:r>
            <a:endParaRPr lang="en-US" sz="1000" dirty="0"/>
          </a:p>
        </p:txBody>
      </p:sp>
      <p:sp>
        <p:nvSpPr>
          <p:cNvPr id="19" name="Shape 15"/>
          <p:cNvSpPr/>
          <p:nvPr/>
        </p:nvSpPr>
        <p:spPr>
          <a:xfrm>
            <a:off x="548640" y="5029200"/>
            <a:ext cx="11091672" cy="896112"/>
          </a:xfrm>
          <a:prstGeom prst="roundRect">
            <a:avLst>
              <a:gd name="adj" fmla="val 10204"/>
            </a:avLst>
          </a:prstGeom>
          <a:solidFill>
            <a:srgbClr val="452D8D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804672" y="51937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交付节奏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2194560" y="5157216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第一版模型 6 周、皮肤评估网页系统 3 周、标注平台可多人协同 4 周 —— 每块都有明确的开始和交付。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GROWTH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个人成长：这几个月我想明白的五件事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17904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6" name="Shape 3"/>
          <p:cNvSpPr/>
          <p:nvPr/>
        </p:nvSpPr>
        <p:spPr>
          <a:xfrm>
            <a:off x="786384" y="1719072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86384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335024" y="1755648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数据质量比数量更重要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194560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把标注时拿不准的片段先剔掉再拿去训练 —— 留着反而会教错模型，比没这条数据更糟。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08776" y="1517904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6446520" y="1719072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46520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995160" y="1755648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让模型告诉我该补什么数据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6483096" y="2194560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 AI 没把握的片段挑给人看：人说「是」的是它漏掉的，人说「不是」的是它认错的，两种都最值得再训练。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3090672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786384" y="3291840"/>
            <a:ext cx="420624" cy="420624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86384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335024" y="332841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先分清是技术问题还是定义问题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3767328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「活动」和「睡觉」老是混，根子在于这两件事本身就没定义清楚，不是模型不行。得先把标准对齐。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208776" y="3090672"/>
            <a:ext cx="5431536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21" name="Shape 18"/>
          <p:cNvSpPr/>
          <p:nvPr/>
        </p:nvSpPr>
        <p:spPr>
          <a:xfrm>
            <a:off x="6446520" y="3291840"/>
            <a:ext cx="420624" cy="420624"/>
          </a:xfrm>
          <a:prstGeom prst="ellipse">
            <a:avLst/>
          </a:prstGeom>
          <a:solidFill>
            <a:srgbClr val="6A51B7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44652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995160" y="332841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自己发现的问题要主动说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6483096" y="3767328"/>
            <a:ext cx="48828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自查时发现造的测试数据有漏洞，会让分数虚高。主动把分数改低并写进文档 —— 宁可报低，不留隐患。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48640" y="4663440"/>
            <a:ext cx="11091672" cy="1408176"/>
          </a:xfrm>
          <a:prstGeom prst="roundRect">
            <a:avLst>
              <a:gd name="adj" fmla="val 6494"/>
            </a:avLst>
          </a:prstGeom>
          <a:solidFill>
            <a:srgbClr val="F3F1FF"/>
          </a:solidFill>
          <a:ln/>
        </p:spPr>
      </p:sp>
      <p:sp>
        <p:nvSpPr>
          <p:cNvPr id="26" name="Shape 23"/>
          <p:cNvSpPr/>
          <p:nvPr/>
        </p:nvSpPr>
        <p:spPr>
          <a:xfrm>
            <a:off x="786384" y="4864608"/>
            <a:ext cx="420624" cy="420624"/>
          </a:xfrm>
          <a:prstGeom prst="ellipse">
            <a:avLst/>
          </a:prstGeom>
          <a:solidFill>
            <a:srgbClr val="F7BA59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6384" y="4864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1335024" y="4901184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该放弃的要早点放弃</a:t>
            </a:r>
            <a:endParaRPr lang="en-US" sz="1350" dirty="0"/>
          </a:p>
        </p:txBody>
      </p:sp>
      <p:sp>
        <p:nvSpPr>
          <p:cNvPr id="29" name="Text 26"/>
          <p:cNvSpPr txBox="1"/>
          <p:nvPr/>
        </p:nvSpPr>
        <p:spPr>
          <a:xfrm>
            <a:off x="822960" y="5340096"/>
            <a:ext cx="105430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网络传视频方案验证下来延迟不稳定，果断改回本地录制；有争议的地方靠实测下结论，不靠猜。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GAPS &amp; PLAN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待提升点与改进计划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1316736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每一项都有明确的改进路径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768096" y="17373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待提升点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3785616" y="17373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现状与原因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7808976" y="1737360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改进计划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048256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249424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8096" y="22494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225296" y="226771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用来训练的狗太少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3931920" y="2267712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只用了 4 只狗训练，换只没见过的狗准确率会下降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7882128" y="226771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狗场先加 6 只，逐步扩大，每轮拿新狗重新检验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48640" y="2889504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68096" y="3090672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68096" y="30906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225296" y="3108960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还没经过测试和线上验证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3931920" y="310896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目前都是我自己测出来的结果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7882128" y="310896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推动测试同事介入，进入线上验证流程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48640" y="3730752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3931920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8096" y="3931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1225296" y="395020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皮肤评分标准还要校准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3931920" y="395020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有的狗抓得多但皮肤其实没问题，会误报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7882128" y="395020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请兽医标注真实病例，用临床数据校准标准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D5D0F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4773168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68096" y="47731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225296" y="4791456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项圈松动检测还没做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3931920" y="4791456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优先级往后排，判定标准也要先和产品、兽医对齐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7882128" y="479145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标准定了就启动，补齐有效佩戴时长统计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48640" y="5413248"/>
            <a:ext cx="11091672" cy="749808"/>
          </a:xfrm>
          <a:prstGeom prst="roundRect">
            <a:avLst>
              <a:gd name="adj" fmla="val 12195"/>
            </a:avLst>
          </a:prstGeom>
          <a:solidFill>
            <a:srgbClr val="F3F1FF"/>
          </a:solidFill>
          <a:ln/>
        </p:spPr>
      </p:sp>
      <p:sp>
        <p:nvSpPr>
          <p:cNvPr id="34" name="Shape 31"/>
          <p:cNvSpPr/>
          <p:nvPr/>
        </p:nvSpPr>
        <p:spPr>
          <a:xfrm>
            <a:off x="768096" y="5614416"/>
            <a:ext cx="347472" cy="347472"/>
          </a:xfrm>
          <a:prstGeom prst="ellipse">
            <a:avLst/>
          </a:prstGeom>
          <a:solidFill>
            <a:srgbClr val="846CCF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768096" y="56144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1225296" y="5632704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业务理解还不够深</a:t>
            </a:r>
            <a:endParaRPr lang="en-US" sz="1200" dirty="0"/>
          </a:p>
        </p:txBody>
      </p:sp>
      <p:sp>
        <p:nvSpPr>
          <p:cNvPr id="37" name="Text 34"/>
          <p:cNvSpPr txBox="1"/>
          <p:nvPr/>
        </p:nvSpPr>
        <p:spPr>
          <a:xfrm>
            <a:off x="3931920" y="5632704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兽医怎么判断皮肤问题，我还主要靠别人告诉我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7882128" y="563270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系统补充宠物皮肤健康方面的知识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BA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NEXT STEPS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下一步：与团队共同达成目标</a:t>
            </a:r>
            <a:endParaRPr lang="en-US" sz="2500" dirty="0"/>
          </a:p>
        </p:txBody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384048"/>
            <a:ext cx="1024128" cy="26517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452D8D"/>
          </a:solidFill>
          <a:ln/>
        </p:spPr>
      </p:sp>
      <p:sp>
        <p:nvSpPr>
          <p:cNvPr id="6" name="Shape 3"/>
          <p:cNvSpPr/>
          <p:nvPr/>
        </p:nvSpPr>
        <p:spPr>
          <a:xfrm>
            <a:off x="804672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4672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近期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847088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 个月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推动龙岗狗场正式采集，先补 6 只狗并完成一轮检验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标注平台上线 AI 自动标注，进一步提高核对效率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皮肤评分标准持续校准并推上线，解决误报问题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和产品、兽医对齐行为定义与松动判定标准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06824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F3F1FF"/>
          </a:solidFill>
          <a:ln/>
        </p:spPr>
      </p:sp>
      <p:sp>
        <p:nvSpPr>
          <p:cNvPr id="11" name="Shape 8"/>
          <p:cNvSpPr/>
          <p:nvPr/>
        </p:nvSpPr>
        <p:spPr>
          <a:xfrm>
            <a:off x="4562856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846CC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62856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中期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605272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3-6 个月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581144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狗的数量上来后，模型换新狗也稳定，具备推给用户的条件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皮肤评估用真实病例再训练一轮，并上线验证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补齐松动检测，形成完整的全天佩戴时长统计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采集规模按 30 → 50 → 70 只分阶段扩大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065008" y="1554480"/>
            <a:ext cx="3575304" cy="3054096"/>
          </a:xfrm>
          <a:prstGeom prst="roundRect">
            <a:avLst>
              <a:gd name="adj" fmla="val 2994"/>
            </a:avLst>
          </a:prstGeom>
          <a:solidFill>
            <a:srgbClr val="F3F1FF"/>
          </a:solidFill>
          <a:ln/>
        </p:spPr>
      </p:sp>
      <p:sp>
        <p:nvSpPr>
          <p:cNvPr id="16" name="Shape 13"/>
          <p:cNvSpPr/>
          <p:nvPr/>
        </p:nvSpPr>
        <p:spPr>
          <a:xfrm>
            <a:off x="8321040" y="1792224"/>
            <a:ext cx="914400" cy="329184"/>
          </a:xfrm>
          <a:prstGeom prst="roundRect">
            <a:avLst>
              <a:gd name="adj" fmla="val 22222"/>
            </a:avLst>
          </a:prstGeom>
          <a:solidFill>
            <a:srgbClr val="F7BA5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321040" y="1792224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52D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长期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9363456" y="184708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68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持续投入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339328" y="2286000"/>
            <a:ext cx="30358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把采集、标注、训练、上线这套流程固化成标准做法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让算法从「能认出行为」走向「能给出可信的健康结论」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建立竞品对标，摸清我们的能力边界和优势在哪</a:t>
            </a:r>
            <a:endParaRPr lang="en-US" sz="1050" dirty="0"/>
          </a:p>
          <a:p>
            <a:pPr marL="342900" indent="-342900">
              <a:lnSpc>
                <a:spcPct val="12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2B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团队变大后，把算法工作做到可协同、可交接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48640" y="4864608"/>
            <a:ext cx="11091672" cy="1225296"/>
          </a:xfrm>
          <a:prstGeom prst="roundRect">
            <a:avLst>
              <a:gd name="adj" fmla="val 7463"/>
            </a:avLst>
          </a:prstGeom>
          <a:solidFill>
            <a:srgbClr val="452D8D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22960" y="502920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共同目标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41248" y="530352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让算法从「跑得通」走向「靠得住」—— 成为产品可以放心依赖的健康判断能力</a:t>
            </a:r>
            <a:endParaRPr lang="en-US" sz="1550" dirty="0"/>
          </a:p>
        </p:txBody>
      </p:sp>
      <p:sp>
        <p:nvSpPr>
          <p:cNvPr id="23" name="Text 20"/>
          <p:cNvSpPr txBox="1"/>
          <p:nvPr/>
        </p:nvSpPr>
        <p:spPr>
          <a:xfrm>
            <a:off x="841248" y="5687568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这需要数据、算法、业务定义三件事同步推进，也需要产品、兽医、后端、硬件持续配合，我会主动担起推动这条链路的责任。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11430000" y="632764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206240" cy="4206240"/>
          </a:xfrm>
          <a:prstGeom prst="ellipse">
            <a:avLst/>
          </a:prstGeom>
          <a:solidFill>
            <a:srgbClr val="6A51B7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989320" y="5806440"/>
            <a:ext cx="1920240" cy="1920240"/>
          </a:xfrm>
          <a:prstGeom prst="ellipse">
            <a:avLst/>
          </a:prstGeom>
          <a:solidFill>
            <a:srgbClr val="846CCF">
              <a:alpha val="30000"/>
            </a:srgbClr>
          </a:solidFill>
          <a:ln/>
        </p:spPr>
      </p:sp>
      <p:pic>
        <p:nvPicPr>
          <p:cNvPr id="4" name="Image 0" descr="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58368"/>
            <a:ext cx="1874520" cy="48463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" y="248716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感谢聆听 · 恳请指正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795528" y="3291840"/>
            <a:ext cx="640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spc="500" kern="0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2336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</a:t>
            </a:r>
            <a:pPr indent="0" marL="0">
              <a:buNone/>
            </a:pPr>
            <a:r>
              <a:rPr lang="en-US" sz="10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朱业拓</a:t>
            </a:r>
            <a:pPr indent="0" marL="0">
              <a:buNone/>
            </a:pPr>
            <a:r>
              <a:rPr lang="en-US" sz="1150" dirty="0">
                <a:solidFill>
                  <a:srgbClr val="D5D0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　　用户增长研发部 · 算法工程师　　2026.10.08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46C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Innovation for a Clean &amp; Comfortable Life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918972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9921240" y="4828032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↗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10652760" y="4864608"/>
            <a:ext cx="7315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CC27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en-US" sz="3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4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皮肤评估每日跟踪</a:t>
            </a:r>
            <a:endParaRPr lang="en-US" sz="1500" dirty="0"/>
          </a:p>
        </p:txBody>
      </p:sp>
      <p:sp>
        <p:nvSpPr>
          <p:cNvPr id="3" name="Shape 1">
            <a:hlinkClick r:id="rId1" tooltip="返回演示页" action="ppaction://hlinksldjump"/>
          </p:cNvPr>
          <p:cNvSpPr/>
          <p:nvPr/>
        </p:nvSpPr>
        <p:spPr>
          <a:xfrm>
            <a:off x="10698480" y="237744"/>
            <a:ext cx="1033272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4" name="Text 2">
            <a:hlinkClick r:id="rId2" tooltip="返回演示页" action="ppaction://hlinksldjump"/>
          </p:cNvPr>
          <p:cNvSpPr txBox="1"/>
          <p:nvPr/>
        </p:nvSpPr>
        <p:spPr>
          <a:xfrm>
            <a:off x="10698480" y="237744"/>
            <a:ext cx="1033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返回演示页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返回</a:t>
            </a:r>
            <a:endParaRPr lang="en-US" sz="1100" dirty="0"/>
          </a:p>
        </p:txBody>
      </p:sp>
      <p:pic>
        <p:nvPicPr>
          <p:cNvPr id="5" name="Image 0" descr="media/platfor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957732"/>
            <a:ext cx="11457432" cy="5436313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5">
    <p:bg>
      <p:bgPr>
        <a:solidFill>
          <a:srgbClr val="452D8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口腔牙齿检测</a:t>
            </a:r>
            <a:endParaRPr lang="en-US" sz="1500" dirty="0"/>
          </a:p>
        </p:txBody>
      </p:sp>
      <p:sp>
        <p:nvSpPr>
          <p:cNvPr id="3" name="Shape 1">
            <a:hlinkClick r:id="rId1" tooltip="返回演示页" action="ppaction://hlinksldjump"/>
          </p:cNvPr>
          <p:cNvSpPr/>
          <p:nvPr/>
        </p:nvSpPr>
        <p:spPr>
          <a:xfrm>
            <a:off x="10698480" y="237744"/>
            <a:ext cx="1033272" cy="329184"/>
          </a:xfrm>
          <a:prstGeom prst="roundRect">
            <a:avLst>
              <a:gd name="adj" fmla="val 22222"/>
            </a:avLst>
          </a:prstGeom>
          <a:solidFill>
            <a:srgbClr val="6A51B7"/>
          </a:solidFill>
          <a:ln/>
        </p:spPr>
      </p:sp>
      <p:sp>
        <p:nvSpPr>
          <p:cNvPr id="4" name="Text 2">
            <a:hlinkClick r:id="rId2" tooltip="返回演示页" action="ppaction://hlinksldjump"/>
          </p:cNvPr>
          <p:cNvSpPr txBox="1"/>
          <p:nvPr/>
        </p:nvSpPr>
        <p:spPr>
          <a:xfrm>
            <a:off x="10698480" y="237744"/>
            <a:ext cx="1033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action="ppaction://hlinksldjump" tooltip="返回演示页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← 返回</a:t>
            </a:r>
            <a:endParaRPr lang="en-US" sz="1100" dirty="0"/>
          </a:p>
        </p:txBody>
      </p:sp>
      <p:pic>
        <p:nvPicPr>
          <p:cNvPr id="5" name="Image 0" descr="media/tart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5235" y="749808"/>
            <a:ext cx="6498483" cy="58521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HICC Pet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转正述职报告</dc:title>
  <dc:subject>PptxGenJS Presentation</dc:subject>
  <dc:creator>Toky 朱业拓</dc:creator>
  <cp:lastModifiedBy>Toky 朱业拓</cp:lastModifiedBy>
  <cp:revision>1</cp:revision>
  <dcterms:created xsi:type="dcterms:W3CDTF">2026-09-10T10:27:17Z</dcterms:created>
  <dcterms:modified xsi:type="dcterms:W3CDTF">2026-09-10T10:27:17Z</dcterms:modified>
</cp:coreProperties>
</file>