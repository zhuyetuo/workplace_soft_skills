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算法整体进度</c:v>
                </c:pt>
              </c:strCache>
            </c:strRef>
          </c:tx>
          <c:spPr>
            <a:solidFill>
              <a:srgbClr val="6A51B7"/>
            </a:solidFill>
            <a:ln w="38100" cap="flat">
              <a:solidFill>
                <a:srgbClr val="6A51B7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52D8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A51B7"/>
              </a:solidFill>
              <a:ln w="9525" cap="flat">
                <a:solidFill>
                  <a:srgbClr val="6A51B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5.18</c:v>
                  </c:pt>
                  <c:pt idx="1">
                    <c:v>5.25</c:v>
                  </c:pt>
                  <c:pt idx="2">
                    <c:v>7.27</c:v>
                  </c:pt>
                  <c:pt idx="3">
                    <c:v>8.03</c:v>
                  </c:pt>
                  <c:pt idx="4">
                    <c:v>8.10</c:v>
                  </c:pt>
                  <c:pt idx="5">
                    <c:v>8.17</c:v>
                  </c:pt>
                  <c:pt idx="6">
                    <c:v>8.24</c:v>
                  </c:pt>
                  <c:pt idx="7">
                    <c:v>8.31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</c:v>
                </c:pt>
                <c:pt idx="1">
                  <c:v>55</c:v>
                </c:pt>
                <c:pt idx="2">
                  <c:v>70</c:v>
                </c:pt>
                <c:pt idx="3">
                  <c:v>75</c:v>
                </c:pt>
                <c:pt idx="4">
                  <c:v>76</c:v>
                </c:pt>
                <c:pt idx="5">
                  <c:v>83</c:v>
                </c:pt>
                <c:pt idx="6">
                  <c:v>85</c:v>
                </c:pt>
                <c:pt idx="7">
                  <c:v>87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452D8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88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30"/>
        </c:scaling>
        <c:delete val="0"/>
        <c:axPos val="l"/>
        <c:majorGridlines>
          <c:spPr>
            <a:ln w="12700" cap="flat">
              <a:solidFill>
                <a:srgbClr val="EEEB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8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开场：各位领导、同事好，我是算法岗的朱业拓，英文名 Toky。今天向大家汇报我在试用期内的工作与成果。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汇报分五部分，重点是第二部分试用期关键成果。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我把算法岗理解为四件事的闭环：数据、模型、工程、协作。缺任何一环，算法都落不了地。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这一页是全篇的骨架。我想强调的不是某个具体分数，而是这六件事在我来之前都不存在，现在都跑通了，而且是彼此打通的一条链路。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三只狗训出来的模型在训练个体上约 85%，换一只没见过的马尔济斯会掉到 75% 左右且误报变多；把它的数据补进去重训，四只又回到 85%。所以我建立的做法是：每引入新个体就做一次泛化检验。狗场先加 6 只。数字是算法侧数据集测的，还没经测试同事验收 —— 这点在待提升页会讲。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行为识别四分类已成型；皮肤评估采取规则版与ML版双线并行，在数据不充足时降低单线失败风险。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这四套系统是试用期最实在的产出。采集解决数据从哪来，平台解决数据怎么变成标注，训练解决模型怎么出来，服务解决模型怎么用起来。四套打通，算法才能自己转起来。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平台是我认为试用期最有复用价值的产出。它把采集、标注、训练、测试、服务串成一条链路，三套算法都跑在上面。最关键的两个机制是 AI 预标注和疑似片段主动召回 —— 前者把人从重复劳动里解放出来，后者让人力集中在模型最不确定的地方。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这一页配合现场演示：先放抓挠检测的实际效果，再演示标注平台的操作，最后展示口腔牙结石识别。演示时长控制在 2 分钟内。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现场点开视频播放。重点讲两个机制：AI 预标注让人从「从头标」变成「审核修正」；疑似片段召回把模型最不确定的样本主动推给人工，这两条是标注效率和数据质量的关键。播放控制在 1-2 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数据资源不能被动等待。从模拟数据起步，到影棚落地，再到狗场合作谈成，这条线是我主动推动的。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算法虽然只有我一个人，但工作是高度依赖协作的。我也会主动提出自己的判断，而不只是执行。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持续产出不是靠某一次冲刺，而是稳定的节奏。16周周报、进度从45%到87%，每周都有实质推进。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这五条是我试用期最重要的方法论沉淀，也是我认为可以持续复用到后续工作中的东西。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这一页是我对自己短板的判断。泛化能力是当前最需要解决的问题，其他三项也都有明确路径。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下一步我最想解决的是泛化能力问题，这决定了产品能不能面向所有用户的狗。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感谢各位，欢迎提问。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video" Target="../media/media-10-2.mp4"/><Relationship Id="rId3" Type="http://schemas.microsoft.com/office/2007/relationships/media" Target="../media/media-10-2.mp4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52D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6A51B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89320" y="5806440"/>
            <a:ext cx="1920240" cy="1920240"/>
          </a:xfrm>
          <a:prstGeom prst="ellipse">
            <a:avLst/>
          </a:prstGeom>
          <a:solidFill>
            <a:srgbClr val="846CCF">
              <a:alpha val="30000"/>
            </a:srgbClr>
          </a:solidFill>
          <a:ln/>
        </p:spPr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58368"/>
            <a:ext cx="1874520" cy="4846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2084832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转正述职报告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795528" y="3072384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Wardyn 项目 · 智能宠物项圈 · 犬只行为识别与皮肤健康评估算法研发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77240" y="3877056"/>
            <a:ext cx="5074920" cy="1115568"/>
          </a:xfrm>
          <a:prstGeom prst="roundRect">
            <a:avLst>
              <a:gd name="adj" fmla="val 8197"/>
            </a:avLst>
          </a:prstGeom>
          <a:solidFill>
            <a:srgbClr val="6A51B7">
              <a:alpha val="65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24128" y="40599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Toky|朱业拓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42416" y="4480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算法工程师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224528" y="40782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述职日期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435254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2026.10.08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95528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Innovation for a Clean &amp; Comfortable Life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189720" y="4828032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9921240" y="4828032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10652760" y="4864608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72768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3F1FF"/>
          </a:solidFill>
          <a:ln/>
        </p:spPr>
      </p:sp>
      <p:sp>
        <p:nvSpPr>
          <p:cNvPr id="6" name="Shape 3"/>
          <p:cNvSpPr/>
          <p:nvPr/>
        </p:nvSpPr>
        <p:spPr>
          <a:xfrm>
            <a:off x="786384" y="1709928"/>
            <a:ext cx="512064" cy="512064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6384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517904" y="17190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自我介绍与岗位理解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536192" y="20299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我是谁，以及我如何理解这个岗位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D5D0F7"/>
          </a:solidFill>
          <a:ln/>
        </p:spPr>
      </p:sp>
      <p:sp>
        <p:nvSpPr>
          <p:cNvPr id="11" name="Shape 8"/>
          <p:cNvSpPr/>
          <p:nvPr/>
        </p:nvSpPr>
        <p:spPr>
          <a:xfrm>
            <a:off x="786384" y="2651760"/>
            <a:ext cx="512064" cy="512064"/>
          </a:xfrm>
          <a:prstGeom prst="ellipse">
            <a:avLst/>
          </a:prstGeom>
          <a:solidFill>
            <a:srgbClr val="6A51B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6384" y="2651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517904" y="26609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试用期关键成果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536192" y="297180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算法指标 · 工程平台 · 效果演示 · 数据资源 · 跨团队协作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456432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3F1FF"/>
          </a:solidFill>
          <a:ln/>
        </p:spPr>
      </p:sp>
      <p:sp>
        <p:nvSpPr>
          <p:cNvPr id="16" name="Shape 13"/>
          <p:cNvSpPr/>
          <p:nvPr/>
        </p:nvSpPr>
        <p:spPr>
          <a:xfrm>
            <a:off x="786384" y="3593592"/>
            <a:ext cx="512064" cy="512064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86384" y="3593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517904" y="36027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持续产出的验证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36192" y="391363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进度曲线与迭代节奏，证明可持续交付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398264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3F1FF"/>
          </a:solidFill>
          <a:ln/>
        </p:spPr>
      </p:sp>
      <p:sp>
        <p:nvSpPr>
          <p:cNvPr id="21" name="Shape 18"/>
          <p:cNvSpPr/>
          <p:nvPr/>
        </p:nvSpPr>
        <p:spPr>
          <a:xfrm>
            <a:off x="786384" y="4535424"/>
            <a:ext cx="512064" cy="512064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86384" y="4535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517904" y="4544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个人成长与沉淀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536192" y="485546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方法论沉淀与认知提升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5340096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3F1FF"/>
          </a:solidFill>
          <a:ln/>
        </p:spPr>
      </p:sp>
      <p:sp>
        <p:nvSpPr>
          <p:cNvPr id="26" name="Shape 23"/>
          <p:cNvSpPr/>
          <p:nvPr/>
        </p:nvSpPr>
        <p:spPr>
          <a:xfrm>
            <a:off x="786384" y="5477256"/>
            <a:ext cx="512064" cy="512064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86384" y="54772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517904" y="5486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待提升点与下一步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536192" y="579729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短板认知与后续规划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SELF 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自我介绍与岗位职责理解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17904"/>
            <a:ext cx="4114800" cy="4480560"/>
          </a:xfrm>
          <a:prstGeom prst="roundRect">
            <a:avLst>
              <a:gd name="adj" fmla="val 2222"/>
            </a:avLst>
          </a:prstGeom>
          <a:solidFill>
            <a:srgbClr val="452D8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41248" y="181051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Toky|朱业拓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59536" y="2249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算法工程师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59536" y="279806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所属部门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59536" y="3017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用户增长研发部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33467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入职时间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3566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年 4 月中旬（试用期至 10.12）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59536" y="38953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所属项目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" y="4114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Wardyn 项目 · 智能宠物项圈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59536" y="44439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负责方向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59536" y="4663440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犬只行为识别算法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皮肤健康评估算法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算法工程与数据平台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956048" y="1572768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我如何理解这个岗位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974336" y="19202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算法岗不止是训模型 —— 是把「传感器信号」变成「可信的健康结论」的全链路负责人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956048" y="2395728"/>
            <a:ext cx="6684264" cy="768096"/>
          </a:xfrm>
          <a:prstGeom prst="roundRect">
            <a:avLst>
              <a:gd name="adj" fmla="val 11905"/>
            </a:avLst>
          </a:prstGeom>
          <a:solidFill>
            <a:srgbClr val="F3F1FF"/>
          </a:solidFill>
          <a:ln/>
        </p:spPr>
      </p:sp>
      <p:sp>
        <p:nvSpPr>
          <p:cNvPr id="19" name="Shape 16"/>
          <p:cNvSpPr/>
          <p:nvPr/>
        </p:nvSpPr>
        <p:spPr>
          <a:xfrm>
            <a:off x="5175504" y="2542032"/>
            <a:ext cx="475488" cy="475488"/>
          </a:xfrm>
          <a:prstGeom prst="ellipse">
            <a:avLst/>
          </a:prstGeom>
          <a:solidFill>
            <a:srgbClr val="FCC27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175504" y="2542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815584" y="2523744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0 建立采集—标注—验证闭环，数据质量是算法上限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956048" y="3310128"/>
            <a:ext cx="6684264" cy="768096"/>
          </a:xfrm>
          <a:prstGeom prst="roundRect">
            <a:avLst>
              <a:gd name="adj" fmla="val 11905"/>
            </a:avLst>
          </a:prstGeom>
          <a:solidFill>
            <a:srgbClr val="F3F1FF"/>
          </a:solidFill>
          <a:ln/>
        </p:spPr>
      </p:sp>
      <p:sp>
        <p:nvSpPr>
          <p:cNvPr id="23" name="Shape 20"/>
          <p:cNvSpPr/>
          <p:nvPr/>
        </p:nvSpPr>
        <p:spPr>
          <a:xfrm>
            <a:off x="5175504" y="3456432"/>
            <a:ext cx="475488" cy="475488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175504" y="3456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815584" y="3438144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行为识别与健康评估建模，用指标与真实场景双重验证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956048" y="4224528"/>
            <a:ext cx="6684264" cy="768096"/>
          </a:xfrm>
          <a:prstGeom prst="roundRect">
            <a:avLst>
              <a:gd name="adj" fmla="val 11905"/>
            </a:avLst>
          </a:prstGeom>
          <a:solidFill>
            <a:srgbClr val="F3F1FF"/>
          </a:solidFill>
          <a:ln/>
        </p:spPr>
      </p:sp>
      <p:sp>
        <p:nvSpPr>
          <p:cNvPr id="27" name="Shape 24"/>
          <p:cNvSpPr/>
          <p:nvPr/>
        </p:nvSpPr>
        <p:spPr>
          <a:xfrm>
            <a:off x="5175504" y="4370832"/>
            <a:ext cx="475488" cy="475488"/>
          </a:xfrm>
          <a:prstGeom prst="ellipse">
            <a:avLst/>
          </a:prstGeom>
          <a:solidFill>
            <a:srgbClr val="6A51B7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175504" y="4370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815584" y="4352544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把模型做成稳定可调用的服务，能上线才算落地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956048" y="5138928"/>
            <a:ext cx="6684264" cy="768096"/>
          </a:xfrm>
          <a:prstGeom prst="roundRect">
            <a:avLst>
              <a:gd name="adj" fmla="val 11905"/>
            </a:avLst>
          </a:prstGeom>
          <a:solidFill>
            <a:srgbClr val="F3F1FF"/>
          </a:solidFill>
          <a:ln/>
        </p:spPr>
      </p:sp>
      <p:sp>
        <p:nvSpPr>
          <p:cNvPr id="31" name="Shape 28"/>
          <p:cNvSpPr/>
          <p:nvPr/>
        </p:nvSpPr>
        <p:spPr>
          <a:xfrm>
            <a:off x="5175504" y="5285232"/>
            <a:ext cx="475488" cy="475488"/>
          </a:xfrm>
          <a:prstGeom prst="ellipse">
            <a:avLst/>
          </a:prstGeom>
          <a:solidFill>
            <a:srgbClr val="F7BA5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175504" y="5285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815584" y="5266944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主动对接产品、后端、硬件、兽医，推动资源到位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KEY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试用期关键成果：从 0 到 1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3167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入职时算法侧没有数据、没有模型、没有平台 —— 这六件事都是从零跑通的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786384" y="1737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能力项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666744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入职时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638544" y="1737360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084832"/>
            <a:ext cx="11091672" cy="585216"/>
          </a:xfrm>
          <a:prstGeom prst="roundRect">
            <a:avLst>
              <a:gd name="adj" fmla="val 15625"/>
            </a:avLst>
          </a:prstGeom>
          <a:solidFill>
            <a:srgbClr val="F3F1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6384" y="22311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行为识别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3657600" y="22494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无模型，无数据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72784" y="2304288"/>
            <a:ext cx="219456" cy="146304"/>
          </a:xfrm>
          <a:prstGeom prst="roundRect">
            <a:avLst>
              <a:gd name="adj" fmla="val 25000"/>
            </a:avLst>
          </a:prstGeom>
          <a:solidFill>
            <a:srgbClr val="FCC27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38544" y="221284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四类行为识别可用，稳定版 v2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2761488"/>
            <a:ext cx="11091672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5D0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6384" y="29077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皮肤健康评估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3657600" y="2926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只有一份待定方案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72784" y="2980944"/>
            <a:ext cx="219456" cy="146304"/>
          </a:xfrm>
          <a:prstGeom prst="roundRect">
            <a:avLst>
              <a:gd name="adj" fmla="val 25000"/>
            </a:avLst>
          </a:prstGeom>
          <a:solidFill>
            <a:srgbClr val="FCC27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638544" y="28895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规则版与 ML 版闭环跑通，每日自动出结果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3438144"/>
            <a:ext cx="11091672" cy="585216"/>
          </a:xfrm>
          <a:prstGeom prst="roundRect">
            <a:avLst>
              <a:gd name="adj" fmla="val 15625"/>
            </a:avLst>
          </a:prstGeom>
          <a:solidFill>
            <a:srgbClr val="F3F1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86384" y="35844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数据采集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3657600" y="36027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无设备，无场地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72784" y="3657600"/>
            <a:ext cx="219456" cy="146304"/>
          </a:xfrm>
          <a:prstGeom prst="roundRect">
            <a:avLst>
              <a:gd name="adj" fmla="val 25000"/>
            </a:avLst>
          </a:prstGeom>
          <a:solidFill>
            <a:srgbClr val="FCC27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638544" y="35661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机位 × 12 设备无人值守，视频与 IMU 帧级同步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4114800"/>
            <a:ext cx="11091672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5D0F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6384" y="42611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标注体系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3657600" y="42793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无工具，无流程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272784" y="4334256"/>
            <a:ext cx="219456" cy="146304"/>
          </a:xfrm>
          <a:prstGeom prst="roundRect">
            <a:avLst>
              <a:gd name="adj" fmla="val 25000"/>
            </a:avLst>
          </a:prstGeom>
          <a:solidFill>
            <a:srgbClr val="FCC27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638544" y="424281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自研平台上线，AI 预标注 + 多人协同审核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48640" y="4791456"/>
            <a:ext cx="11091672" cy="585216"/>
          </a:xfrm>
          <a:prstGeom prst="roundRect">
            <a:avLst>
              <a:gd name="adj" fmla="val 15625"/>
            </a:avLst>
          </a:prstGeom>
          <a:solidFill>
            <a:srgbClr val="F3F1F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86384" y="4937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在线服务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3657600" y="49560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272784" y="5010912"/>
            <a:ext cx="219456" cy="146304"/>
          </a:xfrm>
          <a:prstGeom prst="roundRect">
            <a:avLst>
              <a:gd name="adj" fmla="val 25000"/>
            </a:avLst>
          </a:prstGeom>
          <a:solidFill>
            <a:srgbClr val="FCC27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638544" y="491947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已交付后端，App → 后端 → 算法跑通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48640" y="5468112"/>
            <a:ext cx="11091672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5D0F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86384" y="56144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可采集犬只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3657600" y="56327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只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272784" y="5687568"/>
            <a:ext cx="219456" cy="146304"/>
          </a:xfrm>
          <a:prstGeom prst="roundRect">
            <a:avLst>
              <a:gd name="adj" fmla="val 25000"/>
            </a:avLst>
          </a:prstGeom>
          <a:solidFill>
            <a:srgbClr val="FCC279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638544" y="55961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影棚 4 只，龙岗狗场 6 只待进场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61996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算法整体进度 45% → 87%，16 周无停滞。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02.1  CORE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核心成果一：行为识别从 0 到可用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3167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四类行为识别成型，并建立以新个体检验泛化的方法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3575304" cy="2286000"/>
          </a:xfrm>
          <a:prstGeom prst="roundRect">
            <a:avLst>
              <a:gd name="adj" fmla="val 4000"/>
            </a:avLst>
          </a:prstGeom>
          <a:solidFill>
            <a:srgbClr val="F3F1FF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956816"/>
            <a:ext cx="420624" cy="420624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86384" y="1956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335024" y="19933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初版模型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52374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影棚 3 只犬数据训练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926080"/>
            <a:ext cx="30358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训练个体准确率约 85%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06824" y="1737360"/>
            <a:ext cx="3575304" cy="2286000"/>
          </a:xfrm>
          <a:prstGeom prst="roundRect">
            <a:avLst>
              <a:gd name="adj" fmla="val 4000"/>
            </a:avLst>
          </a:prstGeom>
          <a:solidFill>
            <a:srgbClr val="F3F1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544568" y="1956816"/>
            <a:ext cx="420624" cy="420624"/>
          </a:xfrm>
          <a:prstGeom prst="ellipse">
            <a:avLst/>
          </a:prstGeom>
          <a:solidFill>
            <a:srgbClr val="6A51B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44568" y="1956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093208" y="19933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稳定版 v2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81144" y="252374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补入新个体数据重训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581144" y="2926080"/>
            <a:ext cx="30358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只犬准确率约 85%，误报收敛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65008" y="1737360"/>
            <a:ext cx="3575304" cy="2286000"/>
          </a:xfrm>
          <a:prstGeom prst="roundRect">
            <a:avLst>
              <a:gd name="adj" fmla="val 4000"/>
            </a:avLst>
          </a:prstGeom>
          <a:solidFill>
            <a:srgbClr val="452D8D"/>
          </a:solidFill>
          <a:ln/>
        </p:spPr>
      </p:sp>
      <p:sp>
        <p:nvSpPr>
          <p:cNvPr id="19" name="Shape 16"/>
          <p:cNvSpPr/>
          <p:nvPr/>
        </p:nvSpPr>
        <p:spPr>
          <a:xfrm>
            <a:off x="8302752" y="1956816"/>
            <a:ext cx="420624" cy="420624"/>
          </a:xfrm>
          <a:prstGeom prst="ellipse">
            <a:avLst/>
          </a:prstGeom>
          <a:solidFill>
            <a:srgbClr val="F7BA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302752" y="1956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851392" y="19933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泛化验证方法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339328" y="252374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每引入新个体即检验一次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8339328" y="2926080"/>
            <a:ext cx="30358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用新样本测通用性与鲁棒性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4279392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D5D0F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04672" y="45171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2194560" y="448056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狗场先加 6 只（1-2 周），跑完再逐步扩大，每一轮都用新个体重新检验。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5486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以上为算法侧数据集测试结果。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02.2  CAPABILITY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核心成果二：算法能力矩阵与皮肤健康评估方案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4813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行为识别：4 分类能力已成型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883664"/>
            <a:ext cx="5541264" cy="640080"/>
          </a:xfrm>
          <a:prstGeom prst="roundRect">
            <a:avLst>
              <a:gd name="adj" fmla="val 14286"/>
            </a:avLst>
          </a:prstGeom>
          <a:solidFill>
            <a:srgbClr val="F3F1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4672" y="19659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抓挠识别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311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稳定版 v2，4 只犬验证可用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138928" y="2075688"/>
            <a:ext cx="713232" cy="256032"/>
          </a:xfrm>
          <a:prstGeom prst="roundRect">
            <a:avLst>
              <a:gd name="adj" fmla="val 25000"/>
            </a:avLst>
          </a:prstGeom>
          <a:solidFill>
            <a:srgbClr val="6A51B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138928" y="207568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可用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2642616"/>
            <a:ext cx="5541264" cy="640080"/>
          </a:xfrm>
          <a:prstGeom prst="roundRect">
            <a:avLst>
              <a:gd name="adj" fmla="val 14286"/>
            </a:avLst>
          </a:prstGeom>
          <a:solidFill>
            <a:srgbClr val="F3F1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" y="27249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活动检测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9900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基础可用 80%+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138928" y="2834640"/>
            <a:ext cx="713232" cy="256032"/>
          </a:xfrm>
          <a:prstGeom prst="roundRect">
            <a:avLst>
              <a:gd name="adj" fmla="val 25000"/>
            </a:avLst>
          </a:prstGeom>
          <a:solidFill>
            <a:srgbClr val="846CC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138928" y="283464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可用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48640" y="3401568"/>
            <a:ext cx="5541264" cy="640080"/>
          </a:xfrm>
          <a:prstGeom prst="roundRect">
            <a:avLst>
              <a:gd name="adj" fmla="val 14286"/>
            </a:avLst>
          </a:prstGeom>
          <a:solidFill>
            <a:srgbClr val="F3F1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" y="34838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睡觉 / 休息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37490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基础可用 80%+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138928" y="3593592"/>
            <a:ext cx="713232" cy="256032"/>
          </a:xfrm>
          <a:prstGeom prst="roundRect">
            <a:avLst>
              <a:gd name="adj" fmla="val 25000"/>
            </a:avLst>
          </a:prstGeom>
          <a:solidFill>
            <a:srgbClr val="846CC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138928" y="359359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可用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48640" y="4160520"/>
            <a:ext cx="5541264" cy="640080"/>
          </a:xfrm>
          <a:prstGeom prst="roundRect">
            <a:avLst>
              <a:gd name="adj" fmla="val 14286"/>
            </a:avLst>
          </a:prstGeom>
          <a:solidFill>
            <a:srgbClr val="F3F1F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04672" y="42428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未佩戴检测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5079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已训练为独立类别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138928" y="4352544"/>
            <a:ext cx="713232" cy="256032"/>
          </a:xfrm>
          <a:prstGeom prst="roundRect">
            <a:avLst>
              <a:gd name="adj" fmla="val 25000"/>
            </a:avLst>
          </a:prstGeom>
          <a:solidFill>
            <a:srgbClr val="846CC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138928" y="435254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已训练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6345936" y="14813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皮肤健康评估：从 0 到跑通闭环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327648" y="1883664"/>
            <a:ext cx="5312664" cy="1481328"/>
          </a:xfrm>
          <a:prstGeom prst="roundRect">
            <a:avLst>
              <a:gd name="adj" fmla="val 6173"/>
            </a:avLst>
          </a:prstGeom>
          <a:solidFill>
            <a:srgbClr val="F3F1F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565392" y="20299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规则统计版（SBS）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6583680" y="234086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前后端 Web 系统完成，兽医问答可用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联通每日抓挠数据，驱动规则计算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可解释性强，供产品与兽医验证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327648" y="3511296"/>
            <a:ext cx="5312664" cy="1700784"/>
          </a:xfrm>
          <a:prstGeom prst="roundRect">
            <a:avLst>
              <a:gd name="adj" fmla="val 5376"/>
            </a:avLst>
          </a:prstGeom>
          <a:solidFill>
            <a:srgbClr val="452D8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565392" y="3657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机器学习版（双模型架构）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6583680" y="3968496"/>
            <a:ext cx="4846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 A：特征 → C0 / C1 / C2，每日自动运行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 B：含问答特征 → S0 / S1 / S2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方案可行性已验证，待真实数据二次训练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个体基线已落地，内部每日运行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48640" y="5358384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D5D0F7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04672" y="5541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当前状态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2651760" y="550468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链路跑通，每日自动出结果，方案路径已验证可行。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02.3  SYSTEMS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核心成果三：四套系统自建，全链路打通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3167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采集、平台、训练、服务四套系统彼此打通 —— 算法能自己转起来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1700784"/>
            <a:ext cx="5431536" cy="2048256"/>
          </a:xfrm>
          <a:prstGeom prst="roundRect">
            <a:avLst>
              <a:gd name="adj" fmla="val 4464"/>
            </a:avLst>
          </a:prstGeom>
          <a:solidFill>
            <a:srgbClr val="452D8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883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采集与同步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663440" y="1883664"/>
            <a:ext cx="1078992" cy="274320"/>
          </a:xfrm>
          <a:prstGeom prst="roundRect">
            <a:avLst>
              <a:gd name="adj" fmla="val 23333"/>
            </a:avLst>
          </a:prstGeom>
          <a:solidFill>
            <a:srgbClr val="FCC27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663440" y="188366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数据入口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32104" y="21762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witmotion_imu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68880"/>
            <a:ext cx="4901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机位 × 12 设备无人值守采集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单一时钟 + 事件驱动取帧，同步由构造保证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自研项圈协议解析，兼容 WitMotion 双帧格式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08776" y="1700784"/>
            <a:ext cx="5431536" cy="2048256"/>
          </a:xfrm>
          <a:prstGeom prst="roundRect">
            <a:avLst>
              <a:gd name="adj" fmla="val 4464"/>
            </a:avLst>
          </a:prstGeom>
          <a:solidFill>
            <a:srgbClr val="F3F1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83096" y="1883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标注与训练平台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10323576" y="1883664"/>
            <a:ext cx="1078992" cy="274320"/>
          </a:xfrm>
          <a:prstGeom prst="roundRect">
            <a:avLst>
              <a:gd name="adj" fmla="val 23333"/>
            </a:avLst>
          </a:prstGeom>
          <a:solidFill>
            <a:srgbClr val="846CC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323576" y="188366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数据加工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21762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label_infra / smart-label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483096" y="2468880"/>
            <a:ext cx="4901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任务分发、认领、审核、复核全流程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自研平台替代 Label Studio，历史数据完整迁移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预标注 → 审核 → 训练 → 模型热切换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3895344"/>
            <a:ext cx="5431536" cy="2048256"/>
          </a:xfrm>
          <a:prstGeom prst="roundRect">
            <a:avLst>
              <a:gd name="adj" fmla="val 4464"/>
            </a:avLst>
          </a:prstGeom>
          <a:solidFill>
            <a:srgbClr val="F3F1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" y="40782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模型训练与皮肤评估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663440" y="4078224"/>
            <a:ext cx="1078992" cy="274320"/>
          </a:xfrm>
          <a:prstGeom prst="roundRect">
            <a:avLst>
              <a:gd name="adj" fmla="val 23333"/>
            </a:avLst>
          </a:prstGeom>
          <a:solidFill>
            <a:srgbClr val="846CC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663440" y="407822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模型产出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32104" y="43708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imu_train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663440"/>
            <a:ext cx="4901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多种模型架构横向对比，评测流程标准化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事件级指标自研，可发现片段被切碎这类错误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皮肤评估三条技术路线并行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08776" y="3895344"/>
            <a:ext cx="5431536" cy="2048256"/>
          </a:xfrm>
          <a:prstGeom prst="roundRect">
            <a:avLst>
              <a:gd name="adj" fmla="val 4464"/>
            </a:avLst>
          </a:prstGeom>
          <a:solidFill>
            <a:srgbClr val="F3F1F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83096" y="40782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在线推理与评估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10323576" y="4078224"/>
            <a:ext cx="1078992" cy="274320"/>
          </a:xfrm>
          <a:prstGeom prst="roundRect">
            <a:avLst>
              <a:gd name="adj" fmla="val 23333"/>
            </a:avLst>
          </a:prstGeom>
          <a:solidFill>
            <a:srgbClr val="846CC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323576" y="407822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线上落地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6492240" y="43708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algo_service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6483096" y="4663440"/>
            <a:ext cx="4901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秒增量推理 + 每日批量评估 + 基线更新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TDengine + MySQL 分表，按用户时区切天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核心逻辑有单元测试覆盖</a:t>
            </a:r>
            <a:endParaRPr lang="en-US" sz="10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已交付后端，全链路跑通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60899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四套系统均配有设计文档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02.4  PLATFORM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核心成果四：算法平台全链路自建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3167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不只是标注工具，而是支撑算法持续迭代的基础设施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1719072"/>
            <a:ext cx="1719072" cy="512064"/>
          </a:xfrm>
          <a:prstGeom prst="roundRect">
            <a:avLst>
              <a:gd name="adj" fmla="val 16071"/>
            </a:avLst>
          </a:prstGeom>
          <a:solidFill>
            <a:srgbClr val="D5D0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71907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数据采集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719072"/>
            <a:ext cx="192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04872" y="1719072"/>
            <a:ext cx="1719072" cy="512064"/>
          </a:xfrm>
          <a:prstGeom prst="roundRect">
            <a:avLst>
              <a:gd name="adj" fmla="val 16071"/>
            </a:avLst>
          </a:prstGeom>
          <a:solidFill>
            <a:srgbClr val="6A51B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404872" y="171907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预标注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096512" y="1719072"/>
            <a:ext cx="192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61104" y="1719072"/>
            <a:ext cx="1719072" cy="512064"/>
          </a:xfrm>
          <a:prstGeom prst="roundRect">
            <a:avLst>
              <a:gd name="adj" fmla="val 16071"/>
            </a:avLst>
          </a:prstGeom>
          <a:solidFill>
            <a:srgbClr val="6A51B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261104" y="171907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分发与审核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952744" y="1719072"/>
            <a:ext cx="192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17336" y="1719072"/>
            <a:ext cx="1719072" cy="512064"/>
          </a:xfrm>
          <a:prstGeom prst="roundRect">
            <a:avLst>
              <a:gd name="adj" fmla="val 16071"/>
            </a:avLst>
          </a:prstGeom>
          <a:solidFill>
            <a:srgbClr val="D5D0F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17336" y="171907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模型训练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808976" y="1719072"/>
            <a:ext cx="192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973568" y="1719072"/>
            <a:ext cx="1719072" cy="512064"/>
          </a:xfrm>
          <a:prstGeom prst="roundRect">
            <a:avLst>
              <a:gd name="adj" fmla="val 16071"/>
            </a:avLst>
          </a:prstGeom>
          <a:solidFill>
            <a:srgbClr val="D5D0F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973568" y="171907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模型测试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9665208" y="1719072"/>
            <a:ext cx="192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829800" y="1719072"/>
            <a:ext cx="1719072" cy="512064"/>
          </a:xfrm>
          <a:prstGeom prst="roundRect">
            <a:avLst>
              <a:gd name="adj" fmla="val 16071"/>
            </a:avLst>
          </a:prstGeom>
          <a:solidFill>
            <a:srgbClr val="D5D0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829800" y="171907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多算法服务</a:t>
            </a:r>
            <a:endParaRPr lang="en-US" sz="1150" dirty="0"/>
          </a:p>
        </p:txBody>
      </p:sp>
      <p:pic>
        <p:nvPicPr>
          <p:cNvPr id="23" name="Image 1" descr="media/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50592"/>
            <a:ext cx="6035040" cy="286207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48640" y="538581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标注审核工作台：三路摄像头同步 + IMU 波形对齐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803136" y="2450592"/>
            <a:ext cx="4837176" cy="868680"/>
          </a:xfrm>
          <a:prstGeom prst="roundRect">
            <a:avLst>
              <a:gd name="adj" fmla="val 10526"/>
            </a:avLst>
          </a:prstGeom>
          <a:solidFill>
            <a:srgbClr val="F3F1FF"/>
          </a:solidFill>
          <a:ln/>
        </p:spPr>
      </p:sp>
      <p:sp>
        <p:nvSpPr>
          <p:cNvPr id="26" name="Shape 22"/>
          <p:cNvSpPr/>
          <p:nvPr/>
        </p:nvSpPr>
        <p:spPr>
          <a:xfrm>
            <a:off x="7004304" y="2688336"/>
            <a:ext cx="384048" cy="384048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004304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7498080" y="2560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预标注，人工只做确认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7498080" y="2834640"/>
            <a:ext cx="3986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模型先跑候选片段，人工从「从头标」变为「审核修正」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803136" y="3447288"/>
            <a:ext cx="4837176" cy="868680"/>
          </a:xfrm>
          <a:prstGeom prst="roundRect">
            <a:avLst>
              <a:gd name="adj" fmla="val 10526"/>
            </a:avLst>
          </a:prstGeom>
          <a:solidFill>
            <a:srgbClr val="F3F1FF"/>
          </a:solidFill>
          <a:ln/>
        </p:spPr>
      </p:sp>
      <p:sp>
        <p:nvSpPr>
          <p:cNvPr id="31" name="Shape 27"/>
          <p:cNvSpPr/>
          <p:nvPr/>
        </p:nvSpPr>
        <p:spPr>
          <a:xfrm>
            <a:off x="7004304" y="3685032"/>
            <a:ext cx="384048" cy="384048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004304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7498080" y="355701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疑似片段主动召回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7498080" y="3831336"/>
            <a:ext cx="3986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低置信与频谱异常片段自动推送复核，捕捉模型最不确定的样本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803136" y="4443984"/>
            <a:ext cx="4837176" cy="868680"/>
          </a:xfrm>
          <a:prstGeom prst="roundRect">
            <a:avLst>
              <a:gd name="adj" fmla="val 10526"/>
            </a:avLst>
          </a:prstGeom>
          <a:solidFill>
            <a:srgbClr val="F3F1FF"/>
          </a:solidFill>
          <a:ln/>
        </p:spPr>
      </p:sp>
      <p:sp>
        <p:nvSpPr>
          <p:cNvPr id="36" name="Shape 32"/>
          <p:cNvSpPr/>
          <p:nvPr/>
        </p:nvSpPr>
        <p:spPr>
          <a:xfrm>
            <a:off x="7004304" y="4681728"/>
            <a:ext cx="384048" cy="384048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7004304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7498080" y="45537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多人协同审核流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7498080" y="4828032"/>
            <a:ext cx="3986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任务认领、整份通过、分级权限与数据隔离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548640" y="5760720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452D8D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804672" y="59618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平台承载的算法</a:t>
            </a:r>
            <a:endParaRPr lang="en-US" sz="1100" dirty="0"/>
          </a:p>
        </p:txBody>
      </p:sp>
      <p:sp>
        <p:nvSpPr>
          <p:cNvPr id="42" name="Text 38"/>
          <p:cNvSpPr txBox="1"/>
          <p:nvPr/>
        </p:nvSpPr>
        <p:spPr>
          <a:xfrm>
            <a:off x="2743200" y="59436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行为识别（抓挠 / 活动 / 睡觉 / 未佩戴）　·　皮肤健康评估（规则统计版 + ML 版）　·　口腔牙结石识别</a:t>
            </a:r>
            <a:endParaRPr lang="en-US" sz="1100" dirty="0"/>
          </a:p>
        </p:txBody>
      </p:sp>
      <p:sp>
        <p:nvSpPr>
          <p:cNvPr id="43" name="Text 39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02.7  LIVE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算法效果与平台演示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3167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以下三项将在述职现场做实际演示，此处为效果留档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3575304" cy="4206240"/>
          </a:xfrm>
          <a:prstGeom prst="roundRect">
            <a:avLst>
              <a:gd name="adj" fmla="val 2558"/>
            </a:avLst>
          </a:prstGeom>
          <a:solidFill>
            <a:srgbClr val="F3F1FF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1938528"/>
            <a:ext cx="3172968" cy="2139696"/>
          </a:xfrm>
          <a:prstGeom prst="roundRect">
            <a:avLst>
              <a:gd name="adj" fmla="val 3419"/>
            </a:avLst>
          </a:prstGeom>
          <a:solidFill>
            <a:srgbClr val="452D8D"/>
          </a:solidFill>
          <a:ln/>
        </p:spPr>
      </p:sp>
      <p:pic>
        <p:nvPicPr>
          <p:cNvPr id="8" name="Image 1" descr="media/scr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174685"/>
            <a:ext cx="3172968" cy="166738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8096" y="4224528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抓挠检出与人工确认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68096" y="4608576"/>
            <a:ext cx="3145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三路画面同步回看，模型预标片段置信度 88%，疑似片段 37% 待确认（下页视频演示）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06824" y="1737360"/>
            <a:ext cx="3575304" cy="4206240"/>
          </a:xfrm>
          <a:prstGeom prst="roundRect">
            <a:avLst>
              <a:gd name="adj" fmla="val 2558"/>
            </a:avLst>
          </a:prstGeom>
          <a:solidFill>
            <a:srgbClr val="F3F1FF"/>
          </a:solidFill>
          <a:ln/>
        </p:spPr>
      </p:sp>
      <p:sp>
        <p:nvSpPr>
          <p:cNvPr id="12" name="Shape 8"/>
          <p:cNvSpPr/>
          <p:nvPr/>
        </p:nvSpPr>
        <p:spPr>
          <a:xfrm>
            <a:off x="4507992" y="1938528"/>
            <a:ext cx="3172968" cy="2139696"/>
          </a:xfrm>
          <a:prstGeom prst="roundRect">
            <a:avLst>
              <a:gd name="adj" fmla="val 3419"/>
            </a:avLst>
          </a:prstGeom>
          <a:solidFill>
            <a:srgbClr val="452D8D"/>
          </a:solidFill>
          <a:ln/>
        </p:spPr>
      </p:sp>
      <p:pic>
        <p:nvPicPr>
          <p:cNvPr id="13" name="Image 2" descr="media/platfo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2255622"/>
            <a:ext cx="3172968" cy="150550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26280" y="4224528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皮肤评估每日跟踪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526280" y="4608576"/>
            <a:ext cx="3145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每犬每日自动跑出有效佩戴、抓挠统计、C 值与 S 总分，AI 版与人工版并列对比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065008" y="1737360"/>
            <a:ext cx="3575304" cy="4206240"/>
          </a:xfrm>
          <a:prstGeom prst="roundRect">
            <a:avLst>
              <a:gd name="adj" fmla="val 2558"/>
            </a:avLst>
          </a:prstGeom>
          <a:solidFill>
            <a:srgbClr val="F3F1FF"/>
          </a:solidFill>
          <a:ln/>
        </p:spPr>
      </p:sp>
      <p:sp>
        <p:nvSpPr>
          <p:cNvPr id="17" name="Shape 12"/>
          <p:cNvSpPr/>
          <p:nvPr/>
        </p:nvSpPr>
        <p:spPr>
          <a:xfrm>
            <a:off x="8266176" y="1938528"/>
            <a:ext cx="3172968" cy="2139696"/>
          </a:xfrm>
          <a:prstGeom prst="roundRect">
            <a:avLst>
              <a:gd name="adj" fmla="val 3419"/>
            </a:avLst>
          </a:prstGeom>
          <a:solidFill>
            <a:srgbClr val="452D8D"/>
          </a:solidFill>
          <a:ln/>
        </p:spPr>
      </p:sp>
      <p:pic>
        <p:nvPicPr>
          <p:cNvPr id="18" name="Image 3" descr="media/tar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4656" y="1938528"/>
            <a:ext cx="2376008" cy="21396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284464" y="4224528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口腔牙齿检测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4608576"/>
            <a:ext cx="3145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 / 视频 / 摄像头实时三种模式，正常与异常识别置信度 0.91 / 0.92</a:t>
            </a:r>
            <a:endParaRPr lang="en-US" sz="1050" dirty="0"/>
          </a:p>
        </p:txBody>
      </p:sp>
      <p:sp>
        <p:nvSpPr>
          <p:cNvPr id="21" name="Text 15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02.7  LIVE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演示：抓挠检出与人工确认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" y="1609344"/>
            <a:ext cx="7699248" cy="3706657"/>
          </a:xfrm>
          <a:prstGeom prst="roundRect">
            <a:avLst>
              <a:gd name="adj" fmla="val 1974"/>
            </a:avLst>
          </a:prstGeom>
          <a:solidFill>
            <a:srgbClr val="452D8D"/>
          </a:solidFill>
          <a:ln/>
        </p:spPr>
      </p:sp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664208"/>
            <a:ext cx="7589520" cy="359692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407441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放映时点击画面播放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8375904" y="17007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这段演示里请看四处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357616" y="2139696"/>
            <a:ext cx="3282696" cy="859536"/>
          </a:xfrm>
          <a:prstGeom prst="roundRect">
            <a:avLst>
              <a:gd name="adj" fmla="val 10638"/>
            </a:avLst>
          </a:prstGeom>
          <a:solidFill>
            <a:srgbClr val="F3F1FF"/>
          </a:solidFill>
          <a:ln/>
        </p:spPr>
      </p:sp>
      <p:sp>
        <p:nvSpPr>
          <p:cNvPr id="10" name="Shape 6"/>
          <p:cNvSpPr/>
          <p:nvPr/>
        </p:nvSpPr>
        <p:spPr>
          <a:xfrm>
            <a:off x="8540496" y="2377440"/>
            <a:ext cx="384048" cy="384048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540496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9034272" y="22494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三路画面同步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9034272" y="252374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三机位与 IMU 共用一条时间轴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357616" y="3108960"/>
            <a:ext cx="3282696" cy="859536"/>
          </a:xfrm>
          <a:prstGeom prst="roundRect">
            <a:avLst>
              <a:gd name="adj" fmla="val 10638"/>
            </a:avLst>
          </a:prstGeom>
          <a:solidFill>
            <a:srgbClr val="F3F1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540496" y="3346704"/>
            <a:ext cx="384048" cy="384048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540496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9034272" y="32186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预标片段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9034272" y="34930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模型标出 11.7 秒抓挠，置信度 88%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8357616" y="4078224"/>
            <a:ext cx="3282696" cy="859536"/>
          </a:xfrm>
          <a:prstGeom prst="roundRect">
            <a:avLst>
              <a:gd name="adj" fmla="val 10638"/>
            </a:avLst>
          </a:prstGeom>
          <a:solidFill>
            <a:srgbClr val="D5D0F7"/>
          </a:solidFill>
          <a:ln/>
        </p:spPr>
      </p:sp>
      <p:sp>
        <p:nvSpPr>
          <p:cNvPr id="20" name="Shape 16"/>
          <p:cNvSpPr/>
          <p:nvPr/>
        </p:nvSpPr>
        <p:spPr>
          <a:xfrm>
            <a:off x="8540496" y="4315968"/>
            <a:ext cx="384048" cy="384048"/>
          </a:xfrm>
          <a:prstGeom prst="ellipse">
            <a:avLst/>
          </a:prstGeom>
          <a:solidFill>
            <a:srgbClr val="6A51B7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8540496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9034272" y="41879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疑似片段召回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9034272" y="44622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低置信片段单独挑出，等人工裁决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8357616" y="5047488"/>
            <a:ext cx="3282696" cy="859536"/>
          </a:xfrm>
          <a:prstGeom prst="roundRect">
            <a:avLst>
              <a:gd name="adj" fmla="val 10638"/>
            </a:avLst>
          </a:prstGeom>
          <a:solidFill>
            <a:srgbClr val="F3F1FF"/>
          </a:solidFill>
          <a:ln/>
        </p:spPr>
      </p:sp>
      <p:sp>
        <p:nvSpPr>
          <p:cNvPr id="25" name="Shape 21"/>
          <p:cNvSpPr/>
          <p:nvPr/>
        </p:nvSpPr>
        <p:spPr>
          <a:xfrm>
            <a:off x="8540496" y="5285232"/>
            <a:ext cx="384048" cy="384048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8540496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9034272" y="51572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审核动作</a:t>
            </a:r>
            <a:endParaRPr lang="en-US" sz="1150" dirty="0"/>
          </a:p>
        </p:txBody>
      </p:sp>
      <p:sp>
        <p:nvSpPr>
          <p:cNvPr id="28" name="Text 24"/>
          <p:cNvSpPr txBox="1"/>
          <p:nvPr/>
        </p:nvSpPr>
        <p:spPr>
          <a:xfrm>
            <a:off x="9034272" y="54315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认领修改 / 整份通过，支撑多人协同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566928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模型先标，人工只做确认；最不确定的片段被主动推到人工面前。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02.5  DATA ASSETS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核心成果五：数据资源体系从 0 到 1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3167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把「无数据可用」变成「稳定可持续的采集供给」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121408" cy="2468880"/>
          </a:xfrm>
          <a:prstGeom prst="roundRect">
            <a:avLst>
              <a:gd name="adj" fmla="val 4310"/>
            </a:avLst>
          </a:prstGeom>
          <a:solidFill>
            <a:srgbClr val="F3F1FF"/>
          </a:solidFill>
          <a:ln/>
        </p:spPr>
      </p:sp>
      <p:sp>
        <p:nvSpPr>
          <p:cNvPr id="7" name="Shape 4"/>
          <p:cNvSpPr/>
          <p:nvPr/>
        </p:nvSpPr>
        <p:spPr>
          <a:xfrm>
            <a:off x="768096" y="2029968"/>
            <a:ext cx="877824" cy="310896"/>
          </a:xfrm>
          <a:prstGeom prst="roundRect">
            <a:avLst>
              <a:gd name="adj" fmla="val 23529"/>
            </a:avLst>
          </a:prstGeom>
          <a:solidFill>
            <a:srgbClr val="846CC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68096" y="2029968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月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68096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模拟数据起步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68096" y="2962656"/>
            <a:ext cx="1719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自研 IMU 模拟生成器，跑通端到端流程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98064" y="1828800"/>
            <a:ext cx="2121408" cy="2468880"/>
          </a:xfrm>
          <a:prstGeom prst="roundRect">
            <a:avLst>
              <a:gd name="adj" fmla="val 4310"/>
            </a:avLst>
          </a:prstGeom>
          <a:solidFill>
            <a:srgbClr val="F3F1FF"/>
          </a:solidFill>
          <a:ln/>
        </p:spPr>
      </p:sp>
      <p:sp>
        <p:nvSpPr>
          <p:cNvPr id="12" name="Shape 9"/>
          <p:cNvSpPr/>
          <p:nvPr/>
        </p:nvSpPr>
        <p:spPr>
          <a:xfrm>
            <a:off x="3017520" y="2029968"/>
            <a:ext cx="877824" cy="310896"/>
          </a:xfrm>
          <a:prstGeom prst="roundRect">
            <a:avLst>
              <a:gd name="adj" fmla="val 23529"/>
            </a:avLst>
          </a:prstGeom>
          <a:solidFill>
            <a:srgbClr val="6A51B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017520" y="2029968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月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017520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首批真实数据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2962656"/>
            <a:ext cx="1719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影棚落地采集，攻克时间戳对齐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47488" y="1828800"/>
            <a:ext cx="2121408" cy="2468880"/>
          </a:xfrm>
          <a:prstGeom prst="roundRect">
            <a:avLst>
              <a:gd name="adj" fmla="val 4310"/>
            </a:avLst>
          </a:prstGeom>
          <a:solidFill>
            <a:srgbClr val="F3F1FF"/>
          </a:solidFill>
          <a:ln/>
        </p:spPr>
      </p:sp>
      <p:sp>
        <p:nvSpPr>
          <p:cNvPr id="17" name="Shape 14"/>
          <p:cNvSpPr/>
          <p:nvPr/>
        </p:nvSpPr>
        <p:spPr>
          <a:xfrm>
            <a:off x="5266944" y="2029968"/>
            <a:ext cx="877824" cy="310896"/>
          </a:xfrm>
          <a:prstGeom prst="roundRect">
            <a:avLst>
              <a:gd name="adj" fmla="val 23529"/>
            </a:avLst>
          </a:prstGeom>
          <a:solidFill>
            <a:srgbClr val="6A51B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266944" y="2029968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月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266944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采集标准化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5266944" y="2962656"/>
            <a:ext cx="1719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方案定型，犬只扩至 3 只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296912" y="1828800"/>
            <a:ext cx="2121408" cy="2468880"/>
          </a:xfrm>
          <a:prstGeom prst="roundRect">
            <a:avLst>
              <a:gd name="adj" fmla="val 4310"/>
            </a:avLst>
          </a:prstGeom>
          <a:solidFill>
            <a:srgbClr val="F3F1FF"/>
          </a:solidFill>
          <a:ln/>
        </p:spPr>
      </p:sp>
      <p:sp>
        <p:nvSpPr>
          <p:cNvPr id="22" name="Shape 19"/>
          <p:cNvSpPr/>
          <p:nvPr/>
        </p:nvSpPr>
        <p:spPr>
          <a:xfrm>
            <a:off x="7516368" y="2029968"/>
            <a:ext cx="877824" cy="310896"/>
          </a:xfrm>
          <a:prstGeom prst="roundRect">
            <a:avLst>
              <a:gd name="adj" fmla="val 23529"/>
            </a:avLst>
          </a:prstGeom>
          <a:solidFill>
            <a:srgbClr val="F7BA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516368" y="2029968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月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516368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规模化铺路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7516368" y="2962656"/>
            <a:ext cx="1719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输出采集方案供商务洽谈，转向龙岗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546336" y="1828800"/>
            <a:ext cx="2121408" cy="2468880"/>
          </a:xfrm>
          <a:prstGeom prst="roundRect">
            <a:avLst>
              <a:gd name="adj" fmla="val 4310"/>
            </a:avLst>
          </a:prstGeom>
          <a:solidFill>
            <a:srgbClr val="F3F1FF"/>
          </a:solidFill>
          <a:ln/>
        </p:spPr>
      </p:sp>
      <p:sp>
        <p:nvSpPr>
          <p:cNvPr id="27" name="Shape 24"/>
          <p:cNvSpPr/>
          <p:nvPr/>
        </p:nvSpPr>
        <p:spPr>
          <a:xfrm>
            <a:off x="9765792" y="2029968"/>
            <a:ext cx="877824" cy="310896"/>
          </a:xfrm>
          <a:prstGeom prst="roundRect">
            <a:avLst>
              <a:gd name="adj" fmla="val 23529"/>
            </a:avLst>
          </a:prstGeom>
          <a:solidFill>
            <a:srgbClr val="F7BA5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765792" y="2029968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月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765792" y="2487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狗场落地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9765792" y="2962656"/>
            <a:ext cx="1719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龙岗考察通过，6 间 6 只可采集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48640" y="4498848"/>
            <a:ext cx="5431536" cy="1481328"/>
          </a:xfrm>
          <a:prstGeom prst="roundRect">
            <a:avLst>
              <a:gd name="adj" fmla="val 6173"/>
            </a:avLst>
          </a:prstGeom>
          <a:solidFill>
            <a:srgbClr val="452D8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04672" y="4663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可采集犬只资源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9743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影棚 0 → 4 只  ·  龙岗狗场 6 只已谈妥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303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长远按 30 → 50 → 70 → 100 → 150 只分阶段扩大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08776" y="4498848"/>
            <a:ext cx="5431536" cy="1481328"/>
          </a:xfrm>
          <a:prstGeom prst="roundRect">
            <a:avLst>
              <a:gd name="adj" fmla="val 6173"/>
            </a:avLst>
          </a:prstGeom>
          <a:solidFill>
            <a:srgbClr val="D5D0F7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464808" y="4663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主动推动的关键判断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6483096" y="4974336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沙井报价 1000 元/犬/天，判断不经济果断放弃；主动输出采集方案供商务对接，转向龙岗并推动落地。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02.6  COLLABORATION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核心成果六：跨团队协作与主动推动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7223760" cy="676656"/>
          </a:xfrm>
          <a:prstGeom prst="roundRect">
            <a:avLst>
              <a:gd name="adj" fmla="val 13514"/>
            </a:avLst>
          </a:prstGeom>
          <a:solidFill>
            <a:srgbClr val="F3F1FF"/>
          </a:solidFill>
          <a:ln/>
        </p:spPr>
      </p:sp>
      <p:sp>
        <p:nvSpPr>
          <p:cNvPr id="6" name="Shape 3"/>
          <p:cNvSpPr/>
          <p:nvPr/>
        </p:nvSpPr>
        <p:spPr>
          <a:xfrm>
            <a:off x="768096" y="1737360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6A51B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8096" y="173736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084832" y="1645920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数据库架构调整；交付算法服务工程，后端完成外网部署，全链路跑通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340864"/>
            <a:ext cx="7223760" cy="676656"/>
          </a:xfrm>
          <a:prstGeom prst="roundRect">
            <a:avLst>
              <a:gd name="adj" fmla="val 13514"/>
            </a:avLst>
          </a:prstGeom>
          <a:solidFill>
            <a:srgbClr val="F3F1FF"/>
          </a:solidFill>
          <a:ln/>
        </p:spPr>
      </p:sp>
      <p:sp>
        <p:nvSpPr>
          <p:cNvPr id="10" name="Shape 7"/>
          <p:cNvSpPr/>
          <p:nvPr/>
        </p:nvSpPr>
        <p:spPr>
          <a:xfrm>
            <a:off x="768096" y="2523744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846CC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8096" y="252374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084832" y="2432304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对接、明确算法边界、皮肤评估方案共同推敲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127248"/>
            <a:ext cx="7223760" cy="676656"/>
          </a:xfrm>
          <a:prstGeom prst="roundRect">
            <a:avLst>
              <a:gd name="adj" fmla="val 13514"/>
            </a:avLst>
          </a:prstGeom>
          <a:solidFill>
            <a:srgbClr val="F3F1FF"/>
          </a:solidFill>
          <a:ln/>
        </p:spPr>
      </p:sp>
      <p:sp>
        <p:nvSpPr>
          <p:cNvPr id="14" name="Shape 11"/>
          <p:cNvSpPr/>
          <p:nvPr/>
        </p:nvSpPr>
        <p:spPr>
          <a:xfrm>
            <a:off x="768096" y="3310128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F7BA5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68096" y="331012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硬件厂商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084832" y="3218688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定位并反馈丢数据、蓝牙断传问题，推动修复与交付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913632"/>
            <a:ext cx="7223760" cy="676656"/>
          </a:xfrm>
          <a:prstGeom prst="roundRect">
            <a:avLst>
              <a:gd name="adj" fmla="val 13514"/>
            </a:avLst>
          </a:prstGeom>
          <a:solidFill>
            <a:srgbClr val="F3F1FF"/>
          </a:solidFill>
          <a:ln/>
        </p:spPr>
      </p:sp>
      <p:sp>
        <p:nvSpPr>
          <p:cNvPr id="18" name="Shape 15"/>
          <p:cNvSpPr/>
          <p:nvPr/>
        </p:nvSpPr>
        <p:spPr>
          <a:xfrm>
            <a:off x="768096" y="4096512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846CC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68096" y="409651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兽医 / 产品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2084832" y="4005072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示范标注工具，建立协同分工，推动兽医参与评估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4700016"/>
            <a:ext cx="7223760" cy="676656"/>
          </a:xfrm>
          <a:prstGeom prst="roundRect">
            <a:avLst>
              <a:gd name="adj" fmla="val 13514"/>
            </a:avLst>
          </a:prstGeom>
          <a:solidFill>
            <a:srgbClr val="F3F1FF"/>
          </a:solidFill>
          <a:ln/>
        </p:spPr>
      </p:sp>
      <p:sp>
        <p:nvSpPr>
          <p:cNvPr id="22" name="Shape 19"/>
          <p:cNvSpPr/>
          <p:nvPr/>
        </p:nvSpPr>
        <p:spPr>
          <a:xfrm>
            <a:off x="768096" y="4882896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6A51B7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8096" y="4882896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 / 项目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2084832" y="4791456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预留测试接口；推动算法在 ONES 单独立项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010144" y="1554480"/>
            <a:ext cx="3630168" cy="3931920"/>
          </a:xfrm>
          <a:prstGeom prst="roundRect">
            <a:avLst>
              <a:gd name="adj" fmla="val 2519"/>
            </a:avLst>
          </a:prstGeom>
          <a:solidFill>
            <a:srgbClr val="452D8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247888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主动响应与建议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247888" y="21214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天完成口腔识别可行性验证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266176" y="2377440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产品提出方向后当天做出识别原型，含图片、视频、实时三种模式，验证可行性与落点效果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8247888" y="29809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质疑临床抓挠阈值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8266176" y="3236976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实测一晚抓挠 10-20 次但皮肤无异常，提出需重新调研基线依据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8247888" y="38404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建议竞品对标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266176" y="4096512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建议采购竞品实测，同步佩戴对比识别效果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8247888" y="4700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推动规范立项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8266176" y="4956048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算法仅一人也应立项，明确阶段目标与验收标准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CONSISTENCY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我如何证明能够持续产出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548640" y="1572768"/>
          <a:ext cx="68122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66928" y="462686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算法整体进度：45% → 87%（16 周持续推进，无停滞周）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7607808" y="1572768"/>
            <a:ext cx="4032504" cy="932688"/>
          </a:xfrm>
          <a:prstGeom prst="roundRect">
            <a:avLst>
              <a:gd name="adj" fmla="val 9804"/>
            </a:avLst>
          </a:prstGeom>
          <a:solidFill>
            <a:srgbClr val="F3F1FF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827264" y="16824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篇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9710928" y="17282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连续周报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7845552" y="202996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完成项、进度、复盘、风险、计划，节奏无中断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607808" y="2633472"/>
            <a:ext cx="4032504" cy="932688"/>
          </a:xfrm>
          <a:prstGeom prst="roundRect">
            <a:avLst>
              <a:gd name="adj" fmla="val 9804"/>
            </a:avLst>
          </a:prstGeom>
          <a:solidFill>
            <a:srgbClr val="F3F1FF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827264" y="2743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51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每项有结论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9710928" y="27889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汇报习惯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7845552" y="309067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每项都给出明确结论，而非罗列过程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607808" y="3694176"/>
            <a:ext cx="4032504" cy="932688"/>
          </a:xfrm>
          <a:prstGeom prst="roundRect">
            <a:avLst>
              <a:gd name="adj" fmla="val 9804"/>
            </a:avLst>
          </a:prstGeom>
          <a:solidFill>
            <a:srgbClr val="F3F1FF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827264" y="38039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51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问题必闭环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9710928" y="3849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工作方式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7845552" y="415137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阻塞点定位到根因再解决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48640" y="5029200"/>
            <a:ext cx="11091672" cy="896112"/>
          </a:xfrm>
          <a:prstGeom prst="roundRect">
            <a:avLst>
              <a:gd name="adj" fmla="val 10204"/>
            </a:avLst>
          </a:prstGeom>
          <a:solidFill>
            <a:srgbClr val="452D8D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04672" y="5193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交付节奏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2194560" y="5157216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模型初版 6 周、皮肤评估 Web 系统 3 周、数据平台多人协同可用 4 周 —— 每个模块都有明确的起点与交付。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GROWTH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个人成长与方法论沉淀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17904"/>
            <a:ext cx="5431536" cy="1408176"/>
          </a:xfrm>
          <a:prstGeom prst="roundRect">
            <a:avLst>
              <a:gd name="adj" fmla="val 6494"/>
            </a:avLst>
          </a:prstGeom>
          <a:solidFill>
            <a:srgbClr val="F3F1FF"/>
          </a:solidFill>
          <a:ln/>
        </p:spPr>
      </p:sp>
      <p:sp>
        <p:nvSpPr>
          <p:cNvPr id="6" name="Shape 3"/>
          <p:cNvSpPr/>
          <p:nvPr/>
        </p:nvSpPr>
        <p:spPr>
          <a:xfrm>
            <a:off x="786384" y="1719072"/>
            <a:ext cx="420624" cy="420624"/>
          </a:xfrm>
          <a:prstGeom prst="ellipse">
            <a:avLst/>
          </a:prstGeom>
          <a:solidFill>
            <a:srgbClr val="F7BA5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6384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335024" y="1755648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数据质量 &gt; 数据量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194560"/>
            <a:ext cx="4882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训练集导出时把「存疑」时段从重叠标注中挖掉 —— 不挖的话，一段大概率是抓挠的区间会被当作负样本喂给模型，比没有这条数据更糟。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08776" y="1517904"/>
            <a:ext cx="5431536" cy="1408176"/>
          </a:xfrm>
          <a:prstGeom prst="roundRect">
            <a:avLst>
              <a:gd name="adj" fmla="val 6494"/>
            </a:avLst>
          </a:prstGeom>
          <a:solidFill>
            <a:srgbClr val="F3F1FF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1719072"/>
            <a:ext cx="420624" cy="420624"/>
          </a:xfrm>
          <a:prstGeom prst="ellipse">
            <a:avLst/>
          </a:prstGeom>
          <a:solidFill>
            <a:srgbClr val="6A51B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4652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1755648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用模型输出反推数据缺口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483096" y="2194560"/>
            <a:ext cx="4882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把模型低置信片段与频谱线索单独建表推送人工复核：确认的是漏检、否决的是误检，两者都是重训练最有价值的样本。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090672"/>
            <a:ext cx="5431536" cy="1408176"/>
          </a:xfrm>
          <a:prstGeom prst="roundRect">
            <a:avLst>
              <a:gd name="adj" fmla="val 6494"/>
            </a:avLst>
          </a:prstGeom>
          <a:solidFill>
            <a:srgbClr val="F3F1FF"/>
          </a:solidFill>
          <a:ln/>
        </p:spPr>
      </p:sp>
      <p:sp>
        <p:nvSpPr>
          <p:cNvPr id="16" name="Shape 13"/>
          <p:cNvSpPr/>
          <p:nvPr/>
        </p:nvSpPr>
        <p:spPr>
          <a:xfrm>
            <a:off x="786384" y="3291840"/>
            <a:ext cx="420624" cy="420624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86384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335024" y="3328416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先分清是算法问题还是定义问题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3767328"/>
            <a:ext cx="4882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活动与睡觉混淆的根因是业务边界模糊，不是模型能力不足。算法无法自行划定业务语义，须先对齐定义再训练。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08776" y="3090672"/>
            <a:ext cx="5431536" cy="1408176"/>
          </a:xfrm>
          <a:prstGeom prst="roundRect">
            <a:avLst>
              <a:gd name="adj" fmla="val 6494"/>
            </a:avLst>
          </a:prstGeom>
          <a:solidFill>
            <a:srgbClr val="F3F1FF"/>
          </a:solidFill>
          <a:ln/>
        </p:spPr>
      </p:sp>
      <p:sp>
        <p:nvSpPr>
          <p:cNvPr id="21" name="Shape 18"/>
          <p:cNvSpPr/>
          <p:nvPr/>
        </p:nvSpPr>
        <p:spPr>
          <a:xfrm>
            <a:off x="6446520" y="3291840"/>
            <a:ext cx="420624" cy="420624"/>
          </a:xfrm>
          <a:prstGeom prst="ellipse">
            <a:avLst/>
          </a:prstGeom>
          <a:solidFill>
            <a:srgbClr val="6A51B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46520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3328416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发现自己的错误要主动报出来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6483096" y="3767328"/>
            <a:ext cx="4882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自查发现合成数据里特征与标签共用了同一个生成表达式，虚高的宏 F1 0.957 修正后降到 0.886，写进文档公开。宁可报低，不留隐患。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4663440"/>
            <a:ext cx="11091672" cy="1408176"/>
          </a:xfrm>
          <a:prstGeom prst="roundRect">
            <a:avLst>
              <a:gd name="adj" fmla="val 6494"/>
            </a:avLst>
          </a:prstGeom>
          <a:solidFill>
            <a:srgbClr val="F3F1FF"/>
          </a:solidFill>
          <a:ln/>
        </p:spPr>
      </p:sp>
      <p:sp>
        <p:nvSpPr>
          <p:cNvPr id="26" name="Shape 23"/>
          <p:cNvSpPr/>
          <p:nvPr/>
        </p:nvSpPr>
        <p:spPr>
          <a:xfrm>
            <a:off x="786384" y="4864608"/>
            <a:ext cx="420624" cy="420624"/>
          </a:xfrm>
          <a:prstGeom prst="ellipse">
            <a:avLst/>
          </a:prstGeom>
          <a:solidFill>
            <a:srgbClr val="F7BA59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86384" y="4864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335024" y="4901184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及时验证、及时放弃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822960" y="5340096"/>
            <a:ext cx="10543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RTSP 方案验证发现网络抖动导致延迟不可预测后果断放弃，收敛至 USB 本地录制；实测两种重采样算法差异达信号标准差的 6-8%，也是靠实测而非推理定论。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GAPS &amp;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待提升点与改进计划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3167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每一项都有明确的改进路径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768096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待提升点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785616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现状与原因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08976" y="17373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改进计划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048256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3F1FF"/>
          </a:solidFill>
          <a:ln/>
        </p:spPr>
      </p:sp>
      <p:sp>
        <p:nvSpPr>
          <p:cNvPr id="10" name="Shape 7"/>
          <p:cNvSpPr/>
          <p:nvPr/>
        </p:nvSpPr>
        <p:spPr>
          <a:xfrm>
            <a:off x="768096" y="2249424"/>
            <a:ext cx="347472" cy="347472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8096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225296" y="22677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个体覆盖不足，泛化未验证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931920" y="22677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训练仅覆盖 4 只犬，新个体上准确率下降、误报增多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882128" y="22677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狗场先加 6 只，逐步扩大，每轮用新个体重新检验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2889504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5D0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8096" y="3090672"/>
            <a:ext cx="347472" cy="347472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68096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225296" y="31089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尚未经测试与线上验证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931920" y="31089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当前结果均为算法侧数据集测试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882128" y="31089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推动测试同事介入，进入线上验证流程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3730752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3F1FF"/>
          </a:solidFill>
          <a:ln/>
        </p:spPr>
      </p:sp>
      <p:sp>
        <p:nvSpPr>
          <p:cNvPr id="22" name="Shape 19"/>
          <p:cNvSpPr/>
          <p:nvPr/>
        </p:nvSpPr>
        <p:spPr>
          <a:xfrm>
            <a:off x="768096" y="3931920"/>
            <a:ext cx="347472" cy="347472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8096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225296" y="39502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皮肤评估阈值待校准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3931920" y="39502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抓挠多但皮肤无病变时仍会误触发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7882128" y="39502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推动兽医标注，用临床数据校准映射关系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4572000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5D0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8096" y="4773168"/>
            <a:ext cx="347472" cy="347472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68096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225296" y="47914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松动检测尚未启动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3931920" y="47914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优先级让位，判定边界也需与产品兽医对齐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7882128" y="47914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对齐标准后启动，补齐有效佩戴时间统计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48640" y="5413248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3F1FF"/>
          </a:solidFill>
          <a:ln/>
        </p:spPr>
      </p:sp>
      <p:sp>
        <p:nvSpPr>
          <p:cNvPr id="34" name="Shape 31"/>
          <p:cNvSpPr/>
          <p:nvPr/>
        </p:nvSpPr>
        <p:spPr>
          <a:xfrm>
            <a:off x="768096" y="5614416"/>
            <a:ext cx="347472" cy="347472"/>
          </a:xfrm>
          <a:prstGeom prst="ellipse">
            <a:avLst/>
          </a:prstGeom>
          <a:solidFill>
            <a:srgbClr val="846CCF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768096" y="5614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1225296" y="563270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业务理解仍需加深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3931920" y="56327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对兽医临床判断标准仍依赖他人输入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7882128" y="56327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系统补充宠物皮肤健康领域知识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NEXT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下一步：与团队共同达成目标</a:t>
            </a:r>
            <a:endParaRPr lang="en-US" sz="2500" dirty="0"/>
          </a:p>
        </p:txBody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84048"/>
            <a:ext cx="1024128" cy="2651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3575304" cy="3054096"/>
          </a:xfrm>
          <a:prstGeom prst="roundRect">
            <a:avLst>
              <a:gd name="adj" fmla="val 2994"/>
            </a:avLst>
          </a:prstGeom>
          <a:solidFill>
            <a:srgbClr val="452D8D"/>
          </a:solidFill>
          <a:ln/>
        </p:spPr>
      </p:sp>
      <p:sp>
        <p:nvSpPr>
          <p:cNvPr id="6" name="Shape 3"/>
          <p:cNvSpPr/>
          <p:nvPr/>
        </p:nvSpPr>
        <p:spPr>
          <a:xfrm>
            <a:off x="804672" y="1792224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6A51B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4672" y="17922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近期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847088" y="18470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个月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286000"/>
            <a:ext cx="30358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推动龙岗狗场正式采集落地，先补 6 只犬并完成一轮泛化检验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数据平台上线 AI 自动标注，加速人工审核效率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个体基线持续调优并推上线，解决 C2 误触发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与产品、兽医对齐活动/睡觉业务边界与松动判定标准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06824" y="1554480"/>
            <a:ext cx="3575304" cy="3054096"/>
          </a:xfrm>
          <a:prstGeom prst="roundRect">
            <a:avLst>
              <a:gd name="adj" fmla="val 2994"/>
            </a:avLst>
          </a:prstGeom>
          <a:solidFill>
            <a:srgbClr val="F3F1FF"/>
          </a:solidFill>
          <a:ln/>
        </p:spPr>
      </p:sp>
      <p:sp>
        <p:nvSpPr>
          <p:cNvPr id="11" name="Shape 8"/>
          <p:cNvSpPr/>
          <p:nvPr/>
        </p:nvSpPr>
        <p:spPr>
          <a:xfrm>
            <a:off x="4562856" y="1792224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846CC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62856" y="17922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605272" y="18470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 个月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81144" y="2286000"/>
            <a:ext cx="30358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个体覆盖扩大后，模型在全新犬只上表现稳定，具备推向用户的条件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皮肤健康评估完成真实数据二次训练并上线验证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补齐松动检测，形成完整的全天有效佩戴时间统计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采集规模按 30 → 50 → 70 只分阶段有序扩大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65008" y="1554480"/>
            <a:ext cx="3575304" cy="3054096"/>
          </a:xfrm>
          <a:prstGeom prst="roundRect">
            <a:avLst>
              <a:gd name="adj" fmla="val 2994"/>
            </a:avLst>
          </a:prstGeom>
          <a:solidFill>
            <a:srgbClr val="F3F1FF"/>
          </a:solidFill>
          <a:ln/>
        </p:spPr>
      </p:sp>
      <p:sp>
        <p:nvSpPr>
          <p:cNvPr id="16" name="Shape 13"/>
          <p:cNvSpPr/>
          <p:nvPr/>
        </p:nvSpPr>
        <p:spPr>
          <a:xfrm>
            <a:off x="8321040" y="1792224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F7BA5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321040" y="17922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2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363456" y="18470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持续投入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339328" y="2286000"/>
            <a:ext cx="30358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沉淀可复用的采集—标注—训练—部署标准流程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推动算法能力从「能识别」走向「能给出可信健康结论」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建立竞品对标机制，明确我方算法能力边界与优势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2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随团队规模扩大，输出规范让算法工作可协同、可交接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864608"/>
            <a:ext cx="11091672" cy="1225296"/>
          </a:xfrm>
          <a:prstGeom prst="roundRect">
            <a:avLst>
              <a:gd name="adj" fmla="val 7463"/>
            </a:avLst>
          </a:prstGeom>
          <a:solidFill>
            <a:srgbClr val="452D8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2960" y="50292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共同目标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41248" y="530352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让算法从「跑得通」走向「靠得住」—— 成为产品可以放心依赖的健康判断能力</a:t>
            </a:r>
            <a:endParaRPr lang="en-US" sz="1550" dirty="0"/>
          </a:p>
        </p:txBody>
      </p:sp>
      <p:sp>
        <p:nvSpPr>
          <p:cNvPr id="23" name="Text 20"/>
          <p:cNvSpPr txBox="1"/>
          <p:nvPr/>
        </p:nvSpPr>
        <p:spPr>
          <a:xfrm>
            <a:off x="841248" y="568756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这需要数据规模、算法能力与业务定义三者同步推进，也需要产品、兽医、后端、硬件各方持续配合，我会主动承担起推动这条链路的责任。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0" y="6327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52D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6A51B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89320" y="5806440"/>
            <a:ext cx="1920240" cy="1920240"/>
          </a:xfrm>
          <a:prstGeom prst="ellipse">
            <a:avLst/>
          </a:prstGeom>
          <a:solidFill>
            <a:srgbClr val="846CCF">
              <a:alpha val="30000"/>
            </a:srgbClr>
          </a:solidFill>
          <a:ln/>
        </p:spPr>
      </p:sp>
      <p:pic>
        <p:nvPicPr>
          <p:cNvPr id="4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58368"/>
            <a:ext cx="1874520" cy="4846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248716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 · 恳请指正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95528" y="329184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500" kern="0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95528" y="4041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Toky|朱业拓　　用户增长研发部 · 算法工程师　　2026.10.08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95528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46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Innovation for a Clean &amp; Comfortable Life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9189720" y="4828032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9921240" y="4828032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10652760" y="4864608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CC2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HICC Pet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转正述职报告</dc:title>
  <dc:subject>PptxGenJS Presentation</dc:subject>
  <dc:creator>Toky|朱业拓</dc:creator>
  <cp:lastModifiedBy>Toky|朱业拓</cp:lastModifiedBy>
  <cp:revision>1</cp:revision>
  <dcterms:created xsi:type="dcterms:W3CDTF">2026-09-10T04:58:00Z</dcterms:created>
  <dcterms:modified xsi:type="dcterms:W3CDTF">2026-09-10T04:58:00Z</dcterms:modified>
</cp:coreProperties>
</file>