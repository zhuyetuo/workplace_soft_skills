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2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抓挠识别 F1</c:v>
                </c:pt>
              </c:strCache>
            </c:strRef>
          </c:tx>
          <c:spPr>
            <a:solidFill>
              <a:srgbClr val="6A51B7"/>
            </a:solidFill>
            <a:ln w="38100" cap="flat">
              <a:solidFill>
                <a:srgbClr val="6A51B7"/>
              </a:solidFill>
              <a:prstDash val="solid"/>
              <a:round/>
            </a:ln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452D8D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6A51B7"/>
              </a:solidFill>
              <a:ln w="9525" cap="flat">
                <a:solidFill>
                  <a:srgbClr val="6A51B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7.20 初版</c:v>
                  </c:pt>
                  <c:pt idx="1">
                    <c:v>7.27 迭代</c:v>
                  </c:pt>
                  <c:pt idx="2">
                    <c:v>8.03 达标</c:v>
                  </c:pt>
                  <c:pt idx="3">
                    <c:v>8.24 全量复核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72</c:v>
                </c:pt>
                <c:pt idx="1">
                  <c:v>80</c:v>
                </c:pt>
                <c:pt idx="2">
                  <c:v>85</c:v>
                </c:pt>
                <c:pt idx="3">
                  <c:v>90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8.31 目标线 85%</c:v>
                </c:pt>
              </c:strCache>
            </c:strRef>
          </c:tx>
          <c:spPr>
            <a:solidFill>
              <a:srgbClr val="FCC279"/>
            </a:solidFill>
            <a:ln w="38100" cap="flat">
              <a:solidFill>
                <a:srgbClr val="FCC279"/>
              </a:solidFill>
              <a:prstDash val="solid"/>
              <a:round/>
            </a:ln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452D8D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FCC279"/>
              </a:solidFill>
              <a:ln w="9525" cap="flat">
                <a:solidFill>
                  <a:srgbClr val="FCC27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7.20 初版</c:v>
                  </c:pt>
                  <c:pt idx="1">
                    <c:v>7.27 迭代</c:v>
                  </c:pt>
                  <c:pt idx="2">
                    <c:v>8.03 达标</c:v>
                  </c:pt>
                  <c:pt idx="3">
                    <c:v>8.24 全量复核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85</c:v>
                </c:pt>
                <c:pt idx="1">
                  <c:v>85</c:v>
                </c:pt>
                <c:pt idx="2">
                  <c:v>85</c:v>
                </c:pt>
                <c:pt idx="3">
                  <c:v>85</c:v>
                </c:pt>
              </c:numCache>
            </c:numRef>
          </c:val>
          <c:smooth val="0"/>
        </c:ser>
        <c:dLbls>
          <c:numFmt formatCode="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452D8D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688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60"/>
        </c:scaling>
        <c:delete val="0"/>
        <c:axPos val="l"/>
        <c:majorGridlines>
          <c:spPr>
            <a:ln w="12700" cap="flat">
              <a:solidFill>
                <a:srgbClr val="EEEBF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688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6E6883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算法整体进度</c:v>
                </c:pt>
              </c:strCache>
            </c:strRef>
          </c:tx>
          <c:spPr>
            <a:solidFill>
              <a:srgbClr val="6A51B7"/>
            </a:solidFill>
            <a:ln w="38100" cap="flat">
              <a:solidFill>
                <a:srgbClr val="6A51B7"/>
              </a:solidFill>
              <a:prstDash val="solid"/>
              <a:round/>
            </a:ln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452D8D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6A51B7"/>
              </a:solidFill>
              <a:ln w="9525" cap="flat">
                <a:solidFill>
                  <a:srgbClr val="6A51B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5.18</c:v>
                  </c:pt>
                  <c:pt idx="1">
                    <c:v>5.25</c:v>
                  </c:pt>
                  <c:pt idx="2">
                    <c:v>7.27</c:v>
                  </c:pt>
                  <c:pt idx="3">
                    <c:v>8.03</c:v>
                  </c:pt>
                  <c:pt idx="4">
                    <c:v>8.10</c:v>
                  </c:pt>
                  <c:pt idx="5">
                    <c:v>8.17</c:v>
                  </c:pt>
                  <c:pt idx="6">
                    <c:v>8.24</c:v>
                  </c:pt>
                  <c:pt idx="7">
                    <c:v>8.31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45</c:v>
                </c:pt>
                <c:pt idx="1">
                  <c:v>55</c:v>
                </c:pt>
                <c:pt idx="2">
                  <c:v>70</c:v>
                </c:pt>
                <c:pt idx="3">
                  <c:v>75</c:v>
                </c:pt>
                <c:pt idx="4">
                  <c:v>76</c:v>
                </c:pt>
                <c:pt idx="5">
                  <c:v>83</c:v>
                </c:pt>
                <c:pt idx="6">
                  <c:v>85</c:v>
                </c:pt>
                <c:pt idx="7">
                  <c:v>87</c:v>
                </c:pt>
              </c:numCache>
            </c:numRef>
          </c:val>
          <c:smooth val="0"/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452D8D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688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30"/>
        </c:scaling>
        <c:delete val="0"/>
        <c:axPos val="l"/>
        <c:majorGridlines>
          <c:spPr>
            <a:ln w="12700" cap="flat">
              <a:solidFill>
                <a:srgbClr val="EEEBF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688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开场：各位领导、同事好，我是算法岗的朱业拓，英文名 Toky。今天向大家汇报我在试用期内的工作与成果。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汇报分五部分，重点是第二部分试用期关键成果。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我把算法岗理解为四件事的闭环：数据、模型、工程、协作。缺任何一环，算法都落不了地。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这一页是总览。六个数字概括试用期：进度、模型指标、能力覆盖、工程攻坚、方案产出、数据资源。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这是试用期最核心的算法成果。8月31日的目标是F1≥85%，我在8月3日提前四周达成，随后通过全量复核把训练个体上的准确率推到90%。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行为识别四分类已成型；皮肤评估采取规则版与ML版双线并行，在数据不充足时降低单线失败风险。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这四套系统是试用期最实在的产出。采集解决数据从哪来，平台解决数据怎么变成标注，训练解决模型怎么出来，服务解决模型怎么用起来。四套打通，算法才能自己转起来。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平台是我认为试用期最有复用价值的产出。它把采集、标注、训练、测试、服务串成一条链路，三套算法都跑在上面。最关键的两个机制是 AI 预标注和疑似片段主动召回 —— 前者把人从重复劳动里解放出来，后者让人力集中在模型最不确定的地方。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这一页配合现场演示：先放抓挠检测的实际效果，再演示标注平台的操作，最后展示口腔牙结石识别。演示时长控制在 2 分钟内。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数据资源不能被动等待。从模拟数据起步，到影棚落地，再到狗场合作谈成，这条线是我主动推动的。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算法虽然只有我一个人，但工作是高度依赖协作的。我也会主动提出自己的判断，而不只是执行。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持续产出不是靠某一次冲刺，而是稳定的节奏。16周周报、进度从45%到87%，每周都有实质推进。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这五条是我试用期最重要的方法论沉淀，也是我认为可以持续复用到后续工作中的东西。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这一页是我对自己短板的判断。泛化能力是当前最需要解决的问题，其他三项也都有明确路径。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下一步我最想解决的是泛化能力问题，这决定了产品能不能面向所有用户的狗。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感谢各位，欢迎提问。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1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52D8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371600"/>
            <a:ext cx="4206240" cy="4206240"/>
          </a:xfrm>
          <a:prstGeom prst="ellipse">
            <a:avLst/>
          </a:prstGeom>
          <a:solidFill>
            <a:srgbClr val="6A51B7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989320" y="5806440"/>
            <a:ext cx="1920240" cy="1920240"/>
          </a:xfrm>
          <a:prstGeom prst="ellipse">
            <a:avLst/>
          </a:prstGeom>
          <a:solidFill>
            <a:srgbClr val="846CCF">
              <a:alpha val="30000"/>
            </a:srgbClr>
          </a:solidFill>
          <a:ln/>
        </p:spPr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658368"/>
            <a:ext cx="1874520" cy="48463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77240" y="2084832"/>
            <a:ext cx="8595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转正述职报告</a:t>
            </a:r>
            <a:endParaRPr lang="en-US" sz="4200" dirty="0"/>
          </a:p>
        </p:txBody>
      </p:sp>
      <p:sp>
        <p:nvSpPr>
          <p:cNvPr id="6" name="Text 3"/>
          <p:cNvSpPr txBox="1"/>
          <p:nvPr/>
        </p:nvSpPr>
        <p:spPr>
          <a:xfrm>
            <a:off x="795528" y="3072384"/>
            <a:ext cx="8778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智能宠物项圈 · 犬只行为识别与皮肤健康评估算法研发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777240" y="3877056"/>
            <a:ext cx="5074920" cy="1115568"/>
          </a:xfrm>
          <a:prstGeom prst="roundRect">
            <a:avLst>
              <a:gd name="adj" fmla="val 8197"/>
            </a:avLst>
          </a:prstGeom>
          <a:solidFill>
            <a:srgbClr val="6A51B7">
              <a:alpha val="65000"/>
            </a:srgbClr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024128" y="405993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朱业拓  Toky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1042416" y="44805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算法工程师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4224528" y="4078224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述职日期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4206240" y="4352544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2026.10.08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795528" y="5943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 Innovation for a Clean &amp; Comfortable Life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9189720" y="482803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3400" dirty="0"/>
          </a:p>
        </p:txBody>
      </p:sp>
      <p:sp>
        <p:nvSpPr>
          <p:cNvPr id="14" name="Text 11"/>
          <p:cNvSpPr txBox="1"/>
          <p:nvPr/>
        </p:nvSpPr>
        <p:spPr>
          <a:xfrm>
            <a:off x="9921240" y="482803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↗</a:t>
            </a:r>
            <a:endParaRPr lang="en-US" sz="3400" dirty="0"/>
          </a:p>
        </p:txBody>
      </p:sp>
      <p:sp>
        <p:nvSpPr>
          <p:cNvPr id="15" name="Text 12"/>
          <p:cNvSpPr txBox="1"/>
          <p:nvPr/>
        </p:nvSpPr>
        <p:spPr>
          <a:xfrm>
            <a:off x="10652760" y="4864608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♥</a:t>
            </a:r>
            <a:endParaRPr lang="en-US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目录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72768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3F1FF"/>
          </a:solidFill>
          <a:ln/>
        </p:spPr>
      </p:sp>
      <p:sp>
        <p:nvSpPr>
          <p:cNvPr id="6" name="Shape 3"/>
          <p:cNvSpPr/>
          <p:nvPr/>
        </p:nvSpPr>
        <p:spPr>
          <a:xfrm>
            <a:off x="786384" y="1709928"/>
            <a:ext cx="512064" cy="51206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86384" y="17099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517904" y="171907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自我介绍与岗位理解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536192" y="2029968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我是谁，以及我如何理解这个岗位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48640" y="2514600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D5D0F7"/>
          </a:solidFill>
          <a:ln/>
        </p:spPr>
      </p:sp>
      <p:sp>
        <p:nvSpPr>
          <p:cNvPr id="11" name="Shape 8"/>
          <p:cNvSpPr/>
          <p:nvPr/>
        </p:nvSpPr>
        <p:spPr>
          <a:xfrm>
            <a:off x="786384" y="2651760"/>
            <a:ext cx="512064" cy="512064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86384" y="265176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1517904" y="2660904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试用期关键成果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1536192" y="2971800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算法指标 · 工程平台 · 效果演示 · 数据资源 · 跨团队协作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48640" y="3456432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3F1FF"/>
          </a:solidFill>
          <a:ln/>
        </p:spPr>
      </p:sp>
      <p:sp>
        <p:nvSpPr>
          <p:cNvPr id="16" name="Shape 13"/>
          <p:cNvSpPr/>
          <p:nvPr/>
        </p:nvSpPr>
        <p:spPr>
          <a:xfrm>
            <a:off x="786384" y="3593592"/>
            <a:ext cx="512064" cy="51206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86384" y="359359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1517904" y="3602736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持续产出的验证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536192" y="3913632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进度曲线与迭代节奏，证明可持续交付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48640" y="4398264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3F1FF"/>
          </a:solidFill>
          <a:ln/>
        </p:spPr>
      </p:sp>
      <p:sp>
        <p:nvSpPr>
          <p:cNvPr id="21" name="Shape 18"/>
          <p:cNvSpPr/>
          <p:nvPr/>
        </p:nvSpPr>
        <p:spPr>
          <a:xfrm>
            <a:off x="786384" y="4535424"/>
            <a:ext cx="512064" cy="51206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786384" y="453542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1517904" y="4544568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个人成长与沉淀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1536192" y="485546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方法论沉淀与认知提升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548640" y="5340096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3F1FF"/>
          </a:solidFill>
          <a:ln/>
        </p:spPr>
      </p:sp>
      <p:sp>
        <p:nvSpPr>
          <p:cNvPr id="26" name="Shape 23"/>
          <p:cNvSpPr/>
          <p:nvPr/>
        </p:nvSpPr>
        <p:spPr>
          <a:xfrm>
            <a:off x="786384" y="5477256"/>
            <a:ext cx="512064" cy="51206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86384" y="547725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1517904" y="548640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待提升点与下一步</a:t>
            </a:r>
            <a:endParaRPr lang="en-US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1536192" y="5797296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短板认知与后续规划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SELF INTRODUCTION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自我介绍与岗位职责理解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17904"/>
            <a:ext cx="4114800" cy="4480560"/>
          </a:xfrm>
          <a:prstGeom prst="roundRect">
            <a:avLst>
              <a:gd name="adj" fmla="val 2222"/>
            </a:avLst>
          </a:prstGeom>
          <a:solidFill>
            <a:srgbClr val="452D8D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41248" y="1810512"/>
            <a:ext cx="3566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朱业拓 / Toky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859536" y="224942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算法工程师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859536" y="279806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入职时间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859536" y="301752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年 4 月中旬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334670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试用期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356616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至 2026.10.12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859536" y="389534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所属项目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859536" y="411480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智能宠物项圈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859536" y="444398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负责方向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859536" y="4663440"/>
            <a:ext cx="35661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犬只行为识别算法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皮肤健康评估算法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算法工程与数据平台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4956048" y="1572768"/>
            <a:ext cx="6675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我如何理解这个岗位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4974336" y="1920240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算法岗不止是训模型 —— 是把「传感器信号」变成「可信的健康结论」的全链路负责人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956048" y="2395728"/>
            <a:ext cx="6684264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19" name="Shape 16"/>
          <p:cNvSpPr/>
          <p:nvPr/>
        </p:nvSpPr>
        <p:spPr>
          <a:xfrm>
            <a:off x="5175504" y="2542032"/>
            <a:ext cx="475488" cy="475488"/>
          </a:xfrm>
          <a:prstGeom prst="ellipse">
            <a:avLst/>
          </a:prstGeom>
          <a:solidFill>
            <a:srgbClr val="FCC279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175504" y="2542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5815584" y="2523744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从 0 建立采集—标注—验证闭环，数据质量是算法上限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4956048" y="3310128"/>
            <a:ext cx="6684264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23" name="Shape 20"/>
          <p:cNvSpPr/>
          <p:nvPr/>
        </p:nvSpPr>
        <p:spPr>
          <a:xfrm>
            <a:off x="5175504" y="3456432"/>
            <a:ext cx="475488" cy="475488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5175504" y="34564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5815584" y="3438144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行为识别与健康评估建模，用指标与真实场景双重验证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4956048" y="4224528"/>
            <a:ext cx="6684264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27" name="Shape 24"/>
          <p:cNvSpPr/>
          <p:nvPr/>
        </p:nvSpPr>
        <p:spPr>
          <a:xfrm>
            <a:off x="5175504" y="4370832"/>
            <a:ext cx="475488" cy="475488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5175504" y="43708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工程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5815584" y="4352544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把模型做成稳定可调用的服务，能上线才算落地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4956048" y="5138928"/>
            <a:ext cx="6684264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31" name="Shape 28"/>
          <p:cNvSpPr/>
          <p:nvPr/>
        </p:nvSpPr>
        <p:spPr>
          <a:xfrm>
            <a:off x="5175504" y="5285232"/>
            <a:ext cx="475488" cy="475488"/>
          </a:xfrm>
          <a:prstGeom prst="ellipse">
            <a:avLst/>
          </a:prstGeom>
          <a:solidFill>
            <a:srgbClr val="F7BA59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5175504" y="52852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协作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5815584" y="5266944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主动对接产品、后端、硬件、兽医，推动资源到位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KEY RESULTS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试用期关键成果总览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从「无数据、无模型、无平台」起步，到算法能力成型、服务上线、数据体系跑通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48640" y="1773936"/>
            <a:ext cx="3575304" cy="1975104"/>
          </a:xfrm>
          <a:prstGeom prst="roundRect">
            <a:avLst>
              <a:gd name="adj" fmla="val 4630"/>
            </a:avLst>
          </a:prstGeom>
          <a:solidFill>
            <a:srgbClr val="F3F1F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04672" y="2029968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A51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45% → 87%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724912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算法整体进度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307238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周持续推进，无停滞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306824" y="1773936"/>
            <a:ext cx="3575304" cy="1975104"/>
          </a:xfrm>
          <a:prstGeom prst="roundRect">
            <a:avLst>
              <a:gd name="adj" fmla="val 4630"/>
            </a:avLst>
          </a:prstGeom>
          <a:solidFill>
            <a:srgbClr val="F3F1F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562856" y="2029968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70% → 90%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4581144" y="2724912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抓挠识别准确率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4581144" y="307238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8.31 目标 ≥85%，提前 4 周达成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8065008" y="1773936"/>
            <a:ext cx="3575304" cy="1975104"/>
          </a:xfrm>
          <a:prstGeom prst="roundRect">
            <a:avLst>
              <a:gd name="adj" fmla="val 4630"/>
            </a:avLst>
          </a:prstGeom>
          <a:solidFill>
            <a:srgbClr val="F3F1F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321040" y="2029968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7.8 万行</a:t>
            </a:r>
            <a:endParaRPr lang="en-US" sz="3000" dirty="0"/>
          </a:p>
        </p:txBody>
      </p:sp>
      <p:sp>
        <p:nvSpPr>
          <p:cNvPr id="16" name="Text 13"/>
          <p:cNvSpPr txBox="1"/>
          <p:nvPr/>
        </p:nvSpPr>
        <p:spPr>
          <a:xfrm>
            <a:off x="8339328" y="2724912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自建系统代码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8339328" y="307238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采集 / 平台 / 训练 / 服务 四套系统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548640" y="3931920"/>
            <a:ext cx="3575304" cy="1975104"/>
          </a:xfrm>
          <a:prstGeom prst="roundRect">
            <a:avLst>
              <a:gd name="adj" fmla="val 4630"/>
            </a:avLst>
          </a:prstGeom>
          <a:solidFill>
            <a:srgbClr val="F3F1FF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04672" y="4187952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A51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128 个</a:t>
            </a:r>
            <a:endParaRPr lang="en-US" sz="3000" dirty="0"/>
          </a:p>
        </p:txBody>
      </p:sp>
      <p:sp>
        <p:nvSpPr>
          <p:cNvPr id="20" name="Text 17"/>
          <p:cNvSpPr txBox="1"/>
          <p:nvPr/>
        </p:nvSpPr>
        <p:spPr>
          <a:xfrm>
            <a:off x="822960" y="4882896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平台 API 接口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822960" y="523036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张数据表，自研平台替代 Label Studio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4306824" y="3931920"/>
            <a:ext cx="3575304" cy="1975104"/>
          </a:xfrm>
          <a:prstGeom prst="roundRect">
            <a:avLst>
              <a:gd name="adj" fmla="val 4630"/>
            </a:avLst>
          </a:prstGeom>
          <a:solidFill>
            <a:srgbClr val="F3F1FF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4562856" y="4187952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套</a:t>
            </a:r>
            <a:endParaRPr lang="en-US" sz="3000" dirty="0"/>
          </a:p>
        </p:txBody>
      </p:sp>
      <p:sp>
        <p:nvSpPr>
          <p:cNvPr id="24" name="Text 21"/>
          <p:cNvSpPr txBox="1"/>
          <p:nvPr/>
        </p:nvSpPr>
        <p:spPr>
          <a:xfrm>
            <a:off x="4581144" y="4882896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皮肤评估方案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4581144" y="523036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SBS 规则引擎 + 两阶段 ML 双模型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8065008" y="3931920"/>
            <a:ext cx="3575304" cy="1975104"/>
          </a:xfrm>
          <a:prstGeom prst="roundRect">
            <a:avLst>
              <a:gd name="adj" fmla="val 4630"/>
            </a:avLst>
          </a:prstGeom>
          <a:solidFill>
            <a:srgbClr val="F3F1FF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8321040" y="4187952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→ 4+6</a:t>
            </a:r>
            <a:endParaRPr lang="en-US" sz="3000" dirty="0"/>
          </a:p>
        </p:txBody>
      </p:sp>
      <p:sp>
        <p:nvSpPr>
          <p:cNvPr id="28" name="Text 25"/>
          <p:cNvSpPr txBox="1"/>
          <p:nvPr/>
        </p:nvSpPr>
        <p:spPr>
          <a:xfrm>
            <a:off x="8339328" y="4882896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可采集犬只资源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8339328" y="523036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影棚 4 只 + 龙岗狗场 6 只落地</a:t>
            </a:r>
            <a:endParaRPr lang="en-US" sz="1050" dirty="0"/>
          </a:p>
        </p:txBody>
      </p:sp>
      <p:sp>
        <p:nvSpPr>
          <p:cNvPr id="30" name="Text 27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02.1  CORE MODEL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核心成果一：抓挠识别模型，从 0 到超额达标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graphicFrame>
        <p:nvGraphicFramePr>
          <p:cNvPr id="5" name="Chart 0" descr=""/>
          <p:cNvGraphicFramePr/>
          <p:nvPr/>
        </p:nvGraphicFramePr>
        <p:xfrm>
          <a:off x="548640" y="1517904"/>
          <a:ext cx="6812280" cy="318211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Shape 2"/>
          <p:cNvSpPr/>
          <p:nvPr/>
        </p:nvSpPr>
        <p:spPr>
          <a:xfrm>
            <a:off x="7607808" y="1517904"/>
            <a:ext cx="4032504" cy="694944"/>
          </a:xfrm>
          <a:prstGeom prst="roundRect">
            <a:avLst>
              <a:gd name="adj" fmla="val 13158"/>
            </a:avLst>
          </a:prstGeom>
          <a:solidFill>
            <a:srgbClr val="F3F1FF"/>
          </a:solidFill>
          <a:ln/>
        </p:spPr>
      </p:sp>
      <p:sp>
        <p:nvSpPr>
          <p:cNvPr id="7" name="Shape 3"/>
          <p:cNvSpPr/>
          <p:nvPr/>
        </p:nvSpPr>
        <p:spPr>
          <a:xfrm>
            <a:off x="7808976" y="1609344"/>
            <a:ext cx="658368" cy="219456"/>
          </a:xfrm>
          <a:prstGeom prst="roundRect">
            <a:avLst>
              <a:gd name="adj" fmla="val 25000"/>
            </a:avLst>
          </a:prstGeom>
          <a:solidFill>
            <a:srgbClr val="846CCF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7808976" y="1609344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起点</a:t>
            </a:r>
            <a:endParaRPr lang="en-US" sz="950" dirty="0"/>
          </a:p>
        </p:txBody>
      </p:sp>
      <p:sp>
        <p:nvSpPr>
          <p:cNvPr id="9" name="Text 5"/>
          <p:cNvSpPr txBox="1"/>
          <p:nvPr/>
        </p:nvSpPr>
        <p:spPr>
          <a:xfrm>
            <a:off x="8595360" y="1600200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7.20 初版模型 F1 70-75%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7827264" y="1883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首次产出可用模型，拿到真实误检分布</a:t>
            </a:r>
            <a:endParaRPr lang="en-US" sz="950" dirty="0"/>
          </a:p>
        </p:txBody>
      </p:sp>
      <p:sp>
        <p:nvSpPr>
          <p:cNvPr id="11" name="Shape 7"/>
          <p:cNvSpPr/>
          <p:nvPr/>
        </p:nvSpPr>
        <p:spPr>
          <a:xfrm>
            <a:off x="7607808" y="2340864"/>
            <a:ext cx="4032504" cy="694944"/>
          </a:xfrm>
          <a:prstGeom prst="roundRect">
            <a:avLst>
              <a:gd name="adj" fmla="val 13158"/>
            </a:avLst>
          </a:prstGeom>
          <a:solidFill>
            <a:srgbClr val="F3F1FF"/>
          </a:solidFill>
          <a:ln/>
        </p:spPr>
      </p:sp>
      <p:sp>
        <p:nvSpPr>
          <p:cNvPr id="12" name="Shape 8"/>
          <p:cNvSpPr/>
          <p:nvPr/>
        </p:nvSpPr>
        <p:spPr>
          <a:xfrm>
            <a:off x="7808976" y="2432304"/>
            <a:ext cx="658368" cy="219456"/>
          </a:xfrm>
          <a:prstGeom prst="roundRect">
            <a:avLst>
              <a:gd name="adj" fmla="val 25000"/>
            </a:avLst>
          </a:prstGeom>
          <a:solidFill>
            <a:srgbClr val="846CCF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7808976" y="2432304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方法</a:t>
            </a:r>
            <a:endParaRPr lang="en-US" sz="950" dirty="0"/>
          </a:p>
        </p:txBody>
      </p:sp>
      <p:sp>
        <p:nvSpPr>
          <p:cNvPr id="14" name="Text 10"/>
          <p:cNvSpPr txBox="1"/>
          <p:nvPr/>
        </p:nvSpPr>
        <p:spPr>
          <a:xfrm>
            <a:off x="8595360" y="2423160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按置信度分层复核误检 / 漏检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7827264" y="27066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以模型结果反哺数据集，定向补负样本</a:t>
            </a:r>
            <a:endParaRPr lang="en-US" sz="950" dirty="0"/>
          </a:p>
        </p:txBody>
      </p:sp>
      <p:sp>
        <p:nvSpPr>
          <p:cNvPr id="16" name="Shape 12"/>
          <p:cNvSpPr/>
          <p:nvPr/>
        </p:nvSpPr>
        <p:spPr>
          <a:xfrm>
            <a:off x="7607808" y="3163824"/>
            <a:ext cx="4032504" cy="694944"/>
          </a:xfrm>
          <a:prstGeom prst="roundRect">
            <a:avLst>
              <a:gd name="adj" fmla="val 13158"/>
            </a:avLst>
          </a:prstGeom>
          <a:solidFill>
            <a:srgbClr val="D5D0F7"/>
          </a:solidFill>
          <a:ln/>
        </p:spPr>
      </p:sp>
      <p:sp>
        <p:nvSpPr>
          <p:cNvPr id="17" name="Shape 13"/>
          <p:cNvSpPr/>
          <p:nvPr/>
        </p:nvSpPr>
        <p:spPr>
          <a:xfrm>
            <a:off x="7808976" y="3255264"/>
            <a:ext cx="658368" cy="219456"/>
          </a:xfrm>
          <a:prstGeom prst="roundRect">
            <a:avLst>
              <a:gd name="adj" fmla="val 25000"/>
            </a:avLst>
          </a:prstGeom>
          <a:solidFill>
            <a:srgbClr val="F7BA59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7808976" y="3255264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达标</a:t>
            </a:r>
            <a:endParaRPr lang="en-US" sz="950" dirty="0"/>
          </a:p>
        </p:txBody>
      </p:sp>
      <p:sp>
        <p:nvSpPr>
          <p:cNvPr id="19" name="Text 15"/>
          <p:cNvSpPr txBox="1"/>
          <p:nvPr/>
        </p:nvSpPr>
        <p:spPr>
          <a:xfrm>
            <a:off x="8595360" y="3246120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8.03 F1 ≥85%，提前 4 周</a:t>
            </a:r>
            <a:endParaRPr lang="en-US" sz="1100" dirty="0"/>
          </a:p>
        </p:txBody>
      </p:sp>
      <p:sp>
        <p:nvSpPr>
          <p:cNvPr id="20" name="Text 16"/>
          <p:cNvSpPr txBox="1"/>
          <p:nvPr/>
        </p:nvSpPr>
        <p:spPr>
          <a:xfrm>
            <a:off x="7827264" y="352958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8.31 目标提前完成</a:t>
            </a:r>
            <a:endParaRPr lang="en-US" sz="950" dirty="0"/>
          </a:p>
        </p:txBody>
      </p:sp>
      <p:sp>
        <p:nvSpPr>
          <p:cNvPr id="21" name="Shape 17"/>
          <p:cNvSpPr/>
          <p:nvPr/>
        </p:nvSpPr>
        <p:spPr>
          <a:xfrm>
            <a:off x="7607808" y="3986784"/>
            <a:ext cx="4032504" cy="694944"/>
          </a:xfrm>
          <a:prstGeom prst="roundRect">
            <a:avLst>
              <a:gd name="adj" fmla="val 13158"/>
            </a:avLst>
          </a:prstGeom>
          <a:solidFill>
            <a:srgbClr val="F3F1FF"/>
          </a:solidFill>
          <a:ln/>
        </p:spPr>
      </p:sp>
      <p:sp>
        <p:nvSpPr>
          <p:cNvPr id="22" name="Shape 18"/>
          <p:cNvSpPr/>
          <p:nvPr/>
        </p:nvSpPr>
        <p:spPr>
          <a:xfrm>
            <a:off x="7808976" y="4078224"/>
            <a:ext cx="658368" cy="219456"/>
          </a:xfrm>
          <a:prstGeom prst="roundRect">
            <a:avLst>
              <a:gd name="adj" fmla="val 25000"/>
            </a:avLst>
          </a:prstGeom>
          <a:solidFill>
            <a:srgbClr val="846CCF"/>
          </a:solidFill>
          <a:ln/>
        </p:spPr>
      </p:sp>
      <p:sp>
        <p:nvSpPr>
          <p:cNvPr id="23" name="Text 19"/>
          <p:cNvSpPr txBox="1"/>
          <p:nvPr/>
        </p:nvSpPr>
        <p:spPr>
          <a:xfrm>
            <a:off x="7808976" y="4078224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深化</a:t>
            </a:r>
            <a:endParaRPr lang="en-US" sz="950" dirty="0"/>
          </a:p>
        </p:txBody>
      </p:sp>
      <p:sp>
        <p:nvSpPr>
          <p:cNvPr id="24" name="Text 20"/>
          <p:cNvSpPr txBox="1"/>
          <p:nvPr/>
        </p:nvSpPr>
        <p:spPr>
          <a:xfrm>
            <a:off x="8595360" y="4069080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8.24 全量复核后训练犬达 90%</a:t>
            </a:r>
            <a:endParaRPr lang="en-US" sz="1100" dirty="0"/>
          </a:p>
        </p:txBody>
      </p:sp>
      <p:sp>
        <p:nvSpPr>
          <p:cNvPr id="25" name="Text 21"/>
          <p:cNvSpPr txBox="1"/>
          <p:nvPr/>
        </p:nvSpPr>
        <p:spPr>
          <a:xfrm>
            <a:off x="7827264" y="435254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工程化检测人工标注错误并重标注</a:t>
            </a:r>
            <a:endParaRPr lang="en-US" sz="950" dirty="0"/>
          </a:p>
        </p:txBody>
      </p:sp>
      <p:sp>
        <p:nvSpPr>
          <p:cNvPr id="26" name="Shape 22"/>
          <p:cNvSpPr/>
          <p:nvPr/>
        </p:nvSpPr>
        <p:spPr>
          <a:xfrm>
            <a:off x="548640" y="4956048"/>
            <a:ext cx="11091672" cy="969264"/>
          </a:xfrm>
          <a:prstGeom prst="roundRect">
            <a:avLst>
              <a:gd name="adj" fmla="val 9434"/>
            </a:avLst>
          </a:prstGeom>
          <a:solidFill>
            <a:srgbClr val="452D8D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804672" y="5138928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关键做法</a:t>
            </a:r>
            <a:endParaRPr lang="en-US" sz="1100" dirty="0"/>
          </a:p>
        </p:txBody>
      </p:sp>
      <p:sp>
        <p:nvSpPr>
          <p:cNvPr id="28" name="Text 24"/>
          <p:cNvSpPr txBox="1"/>
          <p:nvPr/>
        </p:nvSpPr>
        <p:spPr>
          <a:xfrm>
            <a:off x="2194560" y="5102352"/>
            <a:ext cx="9235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不盲目堆数据 —— 用模型输出反推数据缺口：按置信度区间分析误识别（走路、跑、扒门被误判），定向补充负样本；再用工程化手段批量检出人工标注错误并重标注。数据质量的提升比数据量的增长更能带来实质效果。</a:t>
            </a:r>
            <a:endParaRPr lang="en-US" sz="1150" dirty="0"/>
          </a:p>
        </p:txBody>
      </p:sp>
      <p:sp>
        <p:nvSpPr>
          <p:cNvPr id="29" name="Text 25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02.2  CAPABILITY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核心成果二：算法能力矩阵与皮肤健康评估方案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48132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行为识别：4 分类能力已成型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1883664"/>
            <a:ext cx="5541264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04672" y="196596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抓挠识别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231136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已达标，训练个体 F1 90%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138928" y="2075688"/>
            <a:ext cx="713232" cy="256032"/>
          </a:xfrm>
          <a:prstGeom prst="roundRect">
            <a:avLst>
              <a:gd name="adj" fmla="val 25000"/>
            </a:avLst>
          </a:prstGeom>
          <a:solidFill>
            <a:srgbClr val="F7BA59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138928" y="2075688"/>
            <a:ext cx="713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达标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548640" y="2642616"/>
            <a:ext cx="5541264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04672" y="2724912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活动检测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822960" y="299008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基础可用 80%+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138928" y="2834640"/>
            <a:ext cx="713232" cy="256032"/>
          </a:xfrm>
          <a:prstGeom prst="roundRect">
            <a:avLst>
              <a:gd name="adj" fmla="val 25000"/>
            </a:avLst>
          </a:prstGeom>
          <a:solidFill>
            <a:srgbClr val="846CC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138928" y="2834640"/>
            <a:ext cx="713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可用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548640" y="3401568"/>
            <a:ext cx="5541264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04672" y="3483864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睡觉 / 休息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822960" y="3749040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基础可用 80%+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5138928" y="3593592"/>
            <a:ext cx="713232" cy="256032"/>
          </a:xfrm>
          <a:prstGeom prst="roundRect">
            <a:avLst>
              <a:gd name="adj" fmla="val 25000"/>
            </a:avLst>
          </a:prstGeom>
          <a:solidFill>
            <a:srgbClr val="846CCF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138928" y="3593592"/>
            <a:ext cx="713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可用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548640" y="4160520"/>
            <a:ext cx="5541264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804672" y="4242816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未佩戴检测</a:t>
            </a:r>
            <a:endParaRPr lang="en-US" sz="1250" dirty="0"/>
          </a:p>
        </p:txBody>
      </p:sp>
      <p:sp>
        <p:nvSpPr>
          <p:cNvPr id="23" name="Text 20"/>
          <p:cNvSpPr txBox="1"/>
          <p:nvPr/>
        </p:nvSpPr>
        <p:spPr>
          <a:xfrm>
            <a:off x="822960" y="4507992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已训练为独立类别，线上服务待接入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5138928" y="4352544"/>
            <a:ext cx="713232" cy="256032"/>
          </a:xfrm>
          <a:prstGeom prst="roundRect">
            <a:avLst>
              <a:gd name="adj" fmla="val 25000"/>
            </a:avLst>
          </a:prstGeom>
          <a:solidFill>
            <a:srgbClr val="846CCF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5138928" y="4352544"/>
            <a:ext cx="713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已训练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6345936" y="148132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皮肤健康评估：双方案并行推进</a:t>
            </a:r>
            <a:endParaRPr lang="en-US" sz="1500" dirty="0"/>
          </a:p>
        </p:txBody>
      </p:sp>
      <p:sp>
        <p:nvSpPr>
          <p:cNvPr id="27" name="Shape 24"/>
          <p:cNvSpPr/>
          <p:nvPr/>
        </p:nvSpPr>
        <p:spPr>
          <a:xfrm>
            <a:off x="6327648" y="1883664"/>
            <a:ext cx="5312664" cy="1481328"/>
          </a:xfrm>
          <a:prstGeom prst="roundRect">
            <a:avLst>
              <a:gd name="adj" fmla="val 6173"/>
            </a:avLst>
          </a:prstGeom>
          <a:solidFill>
            <a:srgbClr val="F3F1FF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6565392" y="2029968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规则统计版（SBS）</a:t>
            </a:r>
            <a:endParaRPr lang="en-US" sz="1250" dirty="0"/>
          </a:p>
        </p:txBody>
      </p:sp>
      <p:sp>
        <p:nvSpPr>
          <p:cNvPr id="29" name="Text 26"/>
          <p:cNvSpPr txBox="1"/>
          <p:nvPr/>
        </p:nvSpPr>
        <p:spPr>
          <a:xfrm>
            <a:off x="6583680" y="2340864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前后端 Web 系统完成，兽医问答交互可用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联通每日抓挠数据，驱动规则引擎计算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可解释性强，供产品与兽医直接验证反馈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6327648" y="3511296"/>
            <a:ext cx="5312664" cy="1700784"/>
          </a:xfrm>
          <a:prstGeom prst="roundRect">
            <a:avLst>
              <a:gd name="adj" fmla="val 5376"/>
            </a:avLst>
          </a:prstGeom>
          <a:solidFill>
            <a:srgbClr val="452D8D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6565392" y="365760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机器学习版（双模型架构）</a:t>
            </a:r>
            <a:endParaRPr lang="en-US" sz="1250" dirty="0"/>
          </a:p>
        </p:txBody>
      </p:sp>
      <p:sp>
        <p:nvSpPr>
          <p:cNvPr id="32" name="Text 29"/>
          <p:cNvSpPr txBox="1"/>
          <p:nvPr/>
        </p:nvSpPr>
        <p:spPr>
          <a:xfrm>
            <a:off x="6583680" y="3968496"/>
            <a:ext cx="484632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 A：44 特征 → C0 / C1 / C2，每日自动运行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 B：54 特征（含问答）→ S0 / S1 / S2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 场景合成数据，交叉验证宏 F1 0.93 / 0.90（真实数据待验证）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个体基线三套实现并行，内部每日运行、边跑边调优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548640" y="5358384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D5D0F7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804672" y="548640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真实验证发现的关键问题</a:t>
            </a:r>
            <a:endParaRPr lang="en-US" sz="1100" dirty="0"/>
          </a:p>
        </p:txBody>
      </p:sp>
      <p:sp>
        <p:nvSpPr>
          <p:cNvPr id="35" name="Text 32"/>
          <p:cNvSpPr txBox="1"/>
          <p:nvPr/>
        </p:nvSpPr>
        <p:spPr>
          <a:xfrm>
            <a:off x="3200400" y="54681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只犬 5 天测试中，两只犬日均抓挠 20+ 次触发 C2，但皮肤无实际病变 —— 说明个体「正常抓挠水平」本就存在差异。据此引入个体基线机制并已落地运行，比单纯调权重更根本；目前内部每日跟踪、边跑边调优，暂未上线。</a:t>
            </a:r>
            <a:endParaRPr lang="en-US" sz="1050" dirty="0"/>
          </a:p>
        </p:txBody>
      </p:sp>
      <p:sp>
        <p:nvSpPr>
          <p:cNvPr id="36" name="Text 33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02.3  SYSTEMS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核心成果三：四个自建系统，约 7.8 万行代码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试用期内从零搭起采集、平台、训练、服务四套系统，彼此打通，构成算法可持续迭代的完整基础设施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548640" y="1700784"/>
            <a:ext cx="5431536" cy="2048256"/>
          </a:xfrm>
          <a:prstGeom prst="roundRect">
            <a:avLst>
              <a:gd name="adj" fmla="val 4464"/>
            </a:avLst>
          </a:prstGeom>
          <a:solidFill>
            <a:srgbClr val="452D8D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22960" y="188366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采集与同步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4773168" y="1883664"/>
            <a:ext cx="969264" cy="274320"/>
          </a:xfrm>
          <a:prstGeom prst="roundRect">
            <a:avLst>
              <a:gd name="adj" fmla="val 23333"/>
            </a:avLst>
          </a:prstGeom>
          <a:solidFill>
            <a:srgbClr val="FCC279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773168" y="1883664"/>
            <a:ext cx="969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1.3 万行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832104" y="217627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witmotion_imu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2468880"/>
            <a:ext cx="49011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 路摄像头 × M 个 IMU 帧级同步，现场 6 机位 / 12 设备无人值守运行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单一时钟 + IMU 事件驱动取帧 + 墙钟时间戳变帧率写入，同步由构造保证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自研 HICC 项圈 0x55AA 协议解析（含校验与授时），兼容 WitMotion 双帧格式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208776" y="1700784"/>
            <a:ext cx="5431536" cy="2048256"/>
          </a:xfrm>
          <a:prstGeom prst="roundRect">
            <a:avLst>
              <a:gd name="adj" fmla="val 4464"/>
            </a:avLst>
          </a:prstGeom>
          <a:solidFill>
            <a:srgbClr val="F3F1F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483096" y="188366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标注与训练平台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10433304" y="1883664"/>
            <a:ext cx="969264" cy="274320"/>
          </a:xfrm>
          <a:prstGeom prst="roundRect">
            <a:avLst>
              <a:gd name="adj" fmla="val 23333"/>
            </a:avLst>
          </a:prstGeom>
          <a:solidFill>
            <a:srgbClr val="846CC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10433304" y="1883664"/>
            <a:ext cx="969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3.0 万行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6492240" y="217627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label_infra / smart-label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6483096" y="2468880"/>
            <a:ext cx="49011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自研平台替代 Label Studio，迁移 58 个项目 / 2,088 任务 / 2,609 条标注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128 个 API、23 张表、31 次数据库迁移；React + FastAPI + MySQL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预标注 → 疑似片段召回 → 多人协同审核 → 导出训练 → 模型热切换闭环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48640" y="3895344"/>
            <a:ext cx="5431536" cy="2048256"/>
          </a:xfrm>
          <a:prstGeom prst="roundRect">
            <a:avLst>
              <a:gd name="adj" fmla="val 4464"/>
            </a:avLst>
          </a:prstGeom>
          <a:solidFill>
            <a:srgbClr val="F3F1FF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22960" y="407822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模型训练与皮肤评估</a:t>
            </a:r>
            <a:endParaRPr lang="en-US" sz="1350" dirty="0"/>
          </a:p>
        </p:txBody>
      </p:sp>
      <p:sp>
        <p:nvSpPr>
          <p:cNvPr id="20" name="Shape 17"/>
          <p:cNvSpPr/>
          <p:nvPr/>
        </p:nvSpPr>
        <p:spPr>
          <a:xfrm>
            <a:off x="4773168" y="4078224"/>
            <a:ext cx="969264" cy="274320"/>
          </a:xfrm>
          <a:prstGeom prst="roundRect">
            <a:avLst>
              <a:gd name="adj" fmla="val 23333"/>
            </a:avLst>
          </a:prstGeom>
          <a:solidFill>
            <a:srgbClr val="846CCF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4773168" y="4078224"/>
            <a:ext cx="969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2.7 万行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832104" y="437083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imu_train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822960" y="4663440"/>
            <a:ext cx="49011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193 维手工特征；13 种模型实现（6 种深度 + 7 种经典）可横向对比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事件级 F1e 指标自研实现，网格搜索置信阈值与合并间隔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皮肤评估三条技术路线：SBS 规则引擎 / 两阶段 ML / 分层贝叶斯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6208776" y="3895344"/>
            <a:ext cx="5431536" cy="2048256"/>
          </a:xfrm>
          <a:prstGeom prst="roundRect">
            <a:avLst>
              <a:gd name="adj" fmla="val 4464"/>
            </a:avLst>
          </a:prstGeom>
          <a:solidFill>
            <a:srgbClr val="F3F1FF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6483096" y="407822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在线推理与评估</a:t>
            </a:r>
            <a:endParaRPr lang="en-US" sz="1350" dirty="0"/>
          </a:p>
        </p:txBody>
      </p:sp>
      <p:sp>
        <p:nvSpPr>
          <p:cNvPr id="26" name="Shape 23"/>
          <p:cNvSpPr/>
          <p:nvPr/>
        </p:nvSpPr>
        <p:spPr>
          <a:xfrm>
            <a:off x="10433304" y="4078224"/>
            <a:ext cx="969264" cy="274320"/>
          </a:xfrm>
          <a:prstGeom prst="roundRect">
            <a:avLst>
              <a:gd name="adj" fmla="val 23333"/>
            </a:avLst>
          </a:prstGeom>
          <a:solidFill>
            <a:srgbClr val="846CCF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10433304" y="4078224"/>
            <a:ext cx="969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 万行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6492240" y="437083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algo_service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6483096" y="4663440"/>
            <a:ext cx="49011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秒增量推理 + 每日批量评估 + 每日基线更新，三条调度链路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TDengine 时序库 + MySQL 按设备分表，按用户本地时区切天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133 个单元测试 / 约 162 条用例，不依赖外部服务即可运行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已交付后端并完成外网部署，App → 后端 → 算法全链路跑通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566928" y="6089904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另有约 2 万行设计文档：系统设计、临床量表设计、数据异常处理预案、标注规范、ML 迁移方案等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02.4  PLATFORM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核心成果四：算法平台全链路自建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从原始数据到多套算法上线，全链路自建并打通 —— 不只是标注工具，而是支撑算法持续迭代的基础设施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548640" y="1719072"/>
            <a:ext cx="1719072" cy="512064"/>
          </a:xfrm>
          <a:prstGeom prst="roundRect">
            <a:avLst>
              <a:gd name="adj" fmla="val 16071"/>
            </a:avLst>
          </a:prstGeom>
          <a:solidFill>
            <a:srgbClr val="D5D0F7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48640" y="1719072"/>
            <a:ext cx="1719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数据采集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2240280" y="1719072"/>
            <a:ext cx="1920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2404872" y="1719072"/>
            <a:ext cx="1719072" cy="512064"/>
          </a:xfrm>
          <a:prstGeom prst="roundRect">
            <a:avLst>
              <a:gd name="adj" fmla="val 16071"/>
            </a:avLst>
          </a:prstGeom>
          <a:solidFill>
            <a:srgbClr val="6A51B7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2404872" y="1719072"/>
            <a:ext cx="1719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预标注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4096512" y="1719072"/>
            <a:ext cx="1920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261104" y="1719072"/>
            <a:ext cx="1719072" cy="512064"/>
          </a:xfrm>
          <a:prstGeom prst="roundRect">
            <a:avLst>
              <a:gd name="adj" fmla="val 16071"/>
            </a:avLst>
          </a:prstGeom>
          <a:solidFill>
            <a:srgbClr val="6A51B7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261104" y="1719072"/>
            <a:ext cx="1719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分发与审核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5952744" y="1719072"/>
            <a:ext cx="1920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117336" y="1719072"/>
            <a:ext cx="1719072" cy="512064"/>
          </a:xfrm>
          <a:prstGeom prst="roundRect">
            <a:avLst>
              <a:gd name="adj" fmla="val 16071"/>
            </a:avLst>
          </a:prstGeom>
          <a:solidFill>
            <a:srgbClr val="D5D0F7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117336" y="1719072"/>
            <a:ext cx="1719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模型训练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7808976" y="1719072"/>
            <a:ext cx="1920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7973568" y="1719072"/>
            <a:ext cx="1719072" cy="512064"/>
          </a:xfrm>
          <a:prstGeom prst="roundRect">
            <a:avLst>
              <a:gd name="adj" fmla="val 16071"/>
            </a:avLst>
          </a:prstGeom>
          <a:solidFill>
            <a:srgbClr val="D5D0F7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973568" y="1719072"/>
            <a:ext cx="1719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模型测试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9665208" y="1719072"/>
            <a:ext cx="1920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9829800" y="1719072"/>
            <a:ext cx="1719072" cy="512064"/>
          </a:xfrm>
          <a:prstGeom prst="roundRect">
            <a:avLst>
              <a:gd name="adj" fmla="val 16071"/>
            </a:avLst>
          </a:prstGeom>
          <a:solidFill>
            <a:srgbClr val="D5D0F7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9829800" y="1719072"/>
            <a:ext cx="1719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多算法服务</a:t>
            </a:r>
            <a:endParaRPr lang="en-US" sz="1150" dirty="0"/>
          </a:p>
        </p:txBody>
      </p:sp>
      <p:pic>
        <p:nvPicPr>
          <p:cNvPr id="23" name="Image 1" descr="media/revie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450592"/>
            <a:ext cx="6035040" cy="2862072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548640" y="5385816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标注审核工作台：三路摄像头同步 + IMU 波形对齐，AI 预标片段与疑似片段并列待人工确认</a:t>
            </a:r>
            <a:endParaRPr lang="en-US" sz="950" dirty="0"/>
          </a:p>
        </p:txBody>
      </p:sp>
      <p:sp>
        <p:nvSpPr>
          <p:cNvPr id="25" name="Shape 21"/>
          <p:cNvSpPr/>
          <p:nvPr/>
        </p:nvSpPr>
        <p:spPr>
          <a:xfrm>
            <a:off x="6803136" y="2450592"/>
            <a:ext cx="4837176" cy="868680"/>
          </a:xfrm>
          <a:prstGeom prst="roundRect">
            <a:avLst>
              <a:gd name="adj" fmla="val 10526"/>
            </a:avLst>
          </a:prstGeom>
          <a:solidFill>
            <a:srgbClr val="F3F1FF"/>
          </a:solidFill>
          <a:ln/>
        </p:spPr>
      </p:sp>
      <p:sp>
        <p:nvSpPr>
          <p:cNvPr id="26" name="Shape 22"/>
          <p:cNvSpPr/>
          <p:nvPr/>
        </p:nvSpPr>
        <p:spPr>
          <a:xfrm>
            <a:off x="7004304" y="2688336"/>
            <a:ext cx="384048" cy="384048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7004304" y="26883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28" name="Text 24"/>
          <p:cNvSpPr txBox="1"/>
          <p:nvPr/>
        </p:nvSpPr>
        <p:spPr>
          <a:xfrm>
            <a:off x="7498080" y="2560320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预标注，人工只做确认</a:t>
            </a:r>
            <a:endParaRPr lang="en-US" sz="1200" dirty="0"/>
          </a:p>
        </p:txBody>
      </p:sp>
      <p:sp>
        <p:nvSpPr>
          <p:cNvPr id="29" name="Text 25"/>
          <p:cNvSpPr txBox="1"/>
          <p:nvPr/>
        </p:nvSpPr>
        <p:spPr>
          <a:xfrm>
            <a:off x="7498080" y="2834640"/>
            <a:ext cx="39867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模型先跑出候选片段并标注来源与置信度，人工从「从头标」变为「审核与修正」</a:t>
            </a:r>
            <a:endParaRPr lang="en-US" sz="950" dirty="0"/>
          </a:p>
        </p:txBody>
      </p:sp>
      <p:sp>
        <p:nvSpPr>
          <p:cNvPr id="30" name="Shape 26"/>
          <p:cNvSpPr/>
          <p:nvPr/>
        </p:nvSpPr>
        <p:spPr>
          <a:xfrm>
            <a:off x="6803136" y="3447288"/>
            <a:ext cx="4837176" cy="868680"/>
          </a:xfrm>
          <a:prstGeom prst="roundRect">
            <a:avLst>
              <a:gd name="adj" fmla="val 10526"/>
            </a:avLst>
          </a:prstGeom>
          <a:solidFill>
            <a:srgbClr val="F3F1FF"/>
          </a:solidFill>
          <a:ln/>
        </p:spPr>
      </p:sp>
      <p:sp>
        <p:nvSpPr>
          <p:cNvPr id="31" name="Shape 27"/>
          <p:cNvSpPr/>
          <p:nvPr/>
        </p:nvSpPr>
        <p:spPr>
          <a:xfrm>
            <a:off x="7004304" y="3685032"/>
            <a:ext cx="384048" cy="384048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32" name="Text 28"/>
          <p:cNvSpPr txBox="1"/>
          <p:nvPr/>
        </p:nvSpPr>
        <p:spPr>
          <a:xfrm>
            <a:off x="7004304" y="36850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33" name="Text 29"/>
          <p:cNvSpPr txBox="1"/>
          <p:nvPr/>
        </p:nvSpPr>
        <p:spPr>
          <a:xfrm>
            <a:off x="7498080" y="3557016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疑似片段主动召回</a:t>
            </a:r>
            <a:endParaRPr lang="en-US" sz="1200" dirty="0"/>
          </a:p>
        </p:txBody>
      </p:sp>
      <p:sp>
        <p:nvSpPr>
          <p:cNvPr id="34" name="Text 30"/>
          <p:cNvSpPr txBox="1"/>
          <p:nvPr/>
        </p:nvSpPr>
        <p:spPr>
          <a:xfrm>
            <a:off x="7498080" y="3831336"/>
            <a:ext cx="39867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模型低置信片段（如 37%）结合频谱线索自动推送复核，专门捕捉模型最不确定的样本</a:t>
            </a:r>
            <a:endParaRPr lang="en-US" sz="950" dirty="0"/>
          </a:p>
        </p:txBody>
      </p:sp>
      <p:sp>
        <p:nvSpPr>
          <p:cNvPr id="35" name="Shape 31"/>
          <p:cNvSpPr/>
          <p:nvPr/>
        </p:nvSpPr>
        <p:spPr>
          <a:xfrm>
            <a:off x="6803136" y="4443984"/>
            <a:ext cx="4837176" cy="868680"/>
          </a:xfrm>
          <a:prstGeom prst="roundRect">
            <a:avLst>
              <a:gd name="adj" fmla="val 10526"/>
            </a:avLst>
          </a:prstGeom>
          <a:solidFill>
            <a:srgbClr val="F3F1FF"/>
          </a:solidFill>
          <a:ln/>
        </p:spPr>
      </p:sp>
      <p:sp>
        <p:nvSpPr>
          <p:cNvPr id="36" name="Shape 32"/>
          <p:cNvSpPr/>
          <p:nvPr/>
        </p:nvSpPr>
        <p:spPr>
          <a:xfrm>
            <a:off x="7004304" y="4681728"/>
            <a:ext cx="384048" cy="384048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37" name="Text 33"/>
          <p:cNvSpPr txBox="1"/>
          <p:nvPr/>
        </p:nvSpPr>
        <p:spPr>
          <a:xfrm>
            <a:off x="7004304" y="4681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38" name="Text 34"/>
          <p:cNvSpPr txBox="1"/>
          <p:nvPr/>
        </p:nvSpPr>
        <p:spPr>
          <a:xfrm>
            <a:off x="7498080" y="4553712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多人协同审核流</a:t>
            </a:r>
            <a:endParaRPr lang="en-US" sz="1200" dirty="0"/>
          </a:p>
        </p:txBody>
      </p:sp>
      <p:sp>
        <p:nvSpPr>
          <p:cNvPr id="39" name="Text 35"/>
          <p:cNvSpPr txBox="1"/>
          <p:nvPr/>
        </p:nvSpPr>
        <p:spPr>
          <a:xfrm>
            <a:off x="7498080" y="4828032"/>
            <a:ext cx="39867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任务认领、整份通过、分级权限与数据隔离，支撑标注规模化扩大</a:t>
            </a:r>
            <a:endParaRPr lang="en-US" sz="950" dirty="0"/>
          </a:p>
        </p:txBody>
      </p:sp>
      <p:sp>
        <p:nvSpPr>
          <p:cNvPr id="40" name="Shape 36"/>
          <p:cNvSpPr/>
          <p:nvPr/>
        </p:nvSpPr>
        <p:spPr>
          <a:xfrm>
            <a:off x="548640" y="5760720"/>
            <a:ext cx="11091672" cy="658368"/>
          </a:xfrm>
          <a:prstGeom prst="roundRect">
            <a:avLst>
              <a:gd name="adj" fmla="val 13889"/>
            </a:avLst>
          </a:prstGeom>
          <a:solidFill>
            <a:srgbClr val="452D8D"/>
          </a:solidFill>
          <a:ln/>
        </p:spPr>
      </p:sp>
      <p:sp>
        <p:nvSpPr>
          <p:cNvPr id="41" name="Text 37"/>
          <p:cNvSpPr txBox="1"/>
          <p:nvPr/>
        </p:nvSpPr>
        <p:spPr>
          <a:xfrm>
            <a:off x="804672" y="596188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平台承载的算法</a:t>
            </a:r>
            <a:endParaRPr lang="en-US" sz="1100" dirty="0"/>
          </a:p>
        </p:txBody>
      </p:sp>
      <p:sp>
        <p:nvSpPr>
          <p:cNvPr id="42" name="Text 38"/>
          <p:cNvSpPr txBox="1"/>
          <p:nvPr/>
        </p:nvSpPr>
        <p:spPr>
          <a:xfrm>
            <a:off x="2743200" y="594360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行为识别（抓挠 / 活动 / 睡觉 / 未佩戴）　·　皮肤健康评估（规则统计版 + ML 版）　·　口腔牙结石识别</a:t>
            </a:r>
            <a:endParaRPr lang="en-US" sz="1100" dirty="0"/>
          </a:p>
        </p:txBody>
      </p:sp>
      <p:sp>
        <p:nvSpPr>
          <p:cNvPr id="43" name="Text 39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02.7  LIVE DEMO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算法效果与平台演示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以下三项将在述职现场做实际演示，此处为效果留档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548640" y="173736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F3F1FF"/>
          </a:solidFill>
          <a:ln/>
        </p:spPr>
      </p:sp>
      <p:sp>
        <p:nvSpPr>
          <p:cNvPr id="7" name="Shape 4"/>
          <p:cNvSpPr/>
          <p:nvPr/>
        </p:nvSpPr>
        <p:spPr>
          <a:xfrm>
            <a:off x="749808" y="1938528"/>
            <a:ext cx="3172968" cy="2139696"/>
          </a:xfrm>
          <a:prstGeom prst="roundRect">
            <a:avLst>
              <a:gd name="adj" fmla="val 3419"/>
            </a:avLst>
          </a:prstGeom>
          <a:solidFill>
            <a:srgbClr val="452D8D"/>
          </a:solidFill>
          <a:ln/>
        </p:spPr>
      </p:sp>
      <p:pic>
        <p:nvPicPr>
          <p:cNvPr id="8" name="Image 1" descr="media/scrat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2174685"/>
            <a:ext cx="3172968" cy="1667381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68096" y="4224528"/>
            <a:ext cx="31455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抓挠检出与人工确认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768096" y="4608576"/>
            <a:ext cx="314553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三路画面同步回看，模型预标片段标注置信度 88%，疑似片段 37% 单独列出待确认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4306824" y="173736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F3F1FF"/>
          </a:solidFill>
          <a:ln/>
        </p:spPr>
      </p:sp>
      <p:sp>
        <p:nvSpPr>
          <p:cNvPr id="12" name="Shape 8"/>
          <p:cNvSpPr/>
          <p:nvPr/>
        </p:nvSpPr>
        <p:spPr>
          <a:xfrm>
            <a:off x="4507992" y="1938528"/>
            <a:ext cx="3172968" cy="2139696"/>
          </a:xfrm>
          <a:prstGeom prst="roundRect">
            <a:avLst>
              <a:gd name="adj" fmla="val 3419"/>
            </a:avLst>
          </a:prstGeom>
          <a:solidFill>
            <a:srgbClr val="452D8D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4507992" y="2596896"/>
            <a:ext cx="31729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2800" dirty="0"/>
          </a:p>
        </p:txBody>
      </p:sp>
      <p:sp>
        <p:nvSpPr>
          <p:cNvPr id="14" name="Text 10"/>
          <p:cNvSpPr txBox="1"/>
          <p:nvPr/>
        </p:nvSpPr>
        <p:spPr>
          <a:xfrm>
            <a:off x="4507992" y="3163824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现场演示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4526280" y="4224528"/>
            <a:ext cx="31455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皮肤评估每日跟踪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4526280" y="4608576"/>
            <a:ext cx="314553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每犬每日自动跑出有效佩戴、抓挠统计、C 值与 S 总分，AI 版与人工版并列对比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8065008" y="173736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F3F1FF"/>
          </a:solidFill>
          <a:ln/>
        </p:spPr>
      </p:sp>
      <p:sp>
        <p:nvSpPr>
          <p:cNvPr id="18" name="Shape 14"/>
          <p:cNvSpPr/>
          <p:nvPr/>
        </p:nvSpPr>
        <p:spPr>
          <a:xfrm>
            <a:off x="8266176" y="1938528"/>
            <a:ext cx="3172968" cy="2139696"/>
          </a:xfrm>
          <a:prstGeom prst="roundRect">
            <a:avLst>
              <a:gd name="adj" fmla="val 3419"/>
            </a:avLst>
          </a:prstGeom>
          <a:solidFill>
            <a:srgbClr val="452D8D"/>
          </a:solidFill>
          <a:ln/>
        </p:spPr>
      </p:sp>
      <p:pic>
        <p:nvPicPr>
          <p:cNvPr id="19" name="Image 2" descr="media/tarta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64656" y="1938528"/>
            <a:ext cx="2376008" cy="2139696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8284464" y="4224528"/>
            <a:ext cx="31455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口腔牙齿检测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8284464" y="4608576"/>
            <a:ext cx="314553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图片 / 视频 / 摄像头实时三种模式，正常与异常识别置信度 0.91 / 0.92</a:t>
            </a:r>
            <a:endParaRPr lang="en-US" sz="1050" dirty="0"/>
          </a:p>
        </p:txBody>
      </p:sp>
      <p:sp>
        <p:nvSpPr>
          <p:cNvPr id="22" name="Text 17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02.5  DATA ASSETS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核心成果五：数据资源体系从 0 到 1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数据是算法的上限。试用期内主动推动，把「无数据可用」变成「稳定可持续的采集供给」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2121408" cy="2468880"/>
          </a:xfrm>
          <a:prstGeom prst="roundRect">
            <a:avLst>
              <a:gd name="adj" fmla="val 4310"/>
            </a:avLst>
          </a:prstGeom>
          <a:solidFill>
            <a:srgbClr val="F3F1FF"/>
          </a:solidFill>
          <a:ln/>
        </p:spPr>
      </p:sp>
      <p:sp>
        <p:nvSpPr>
          <p:cNvPr id="7" name="Shape 4"/>
          <p:cNvSpPr/>
          <p:nvPr/>
        </p:nvSpPr>
        <p:spPr>
          <a:xfrm>
            <a:off x="768096" y="2029968"/>
            <a:ext cx="877824" cy="310896"/>
          </a:xfrm>
          <a:prstGeom prst="roundRect">
            <a:avLst>
              <a:gd name="adj" fmla="val 23529"/>
            </a:avLst>
          </a:prstGeom>
          <a:solidFill>
            <a:srgbClr val="846CCF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68096" y="2029968"/>
            <a:ext cx="877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月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768096" y="248716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模拟数据起步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768096" y="2962656"/>
            <a:ext cx="17190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自研 IMU 数据模拟生成器，跑通端到端流程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2798064" y="1828800"/>
            <a:ext cx="2121408" cy="2468880"/>
          </a:xfrm>
          <a:prstGeom prst="roundRect">
            <a:avLst>
              <a:gd name="adj" fmla="val 4310"/>
            </a:avLst>
          </a:prstGeom>
          <a:solidFill>
            <a:srgbClr val="F3F1FF"/>
          </a:solidFill>
          <a:ln/>
        </p:spPr>
      </p:sp>
      <p:sp>
        <p:nvSpPr>
          <p:cNvPr id="12" name="Shape 9"/>
          <p:cNvSpPr/>
          <p:nvPr/>
        </p:nvSpPr>
        <p:spPr>
          <a:xfrm>
            <a:off x="3017520" y="2029968"/>
            <a:ext cx="877824" cy="310896"/>
          </a:xfrm>
          <a:prstGeom prst="roundRect">
            <a:avLst>
              <a:gd name="adj" fmla="val 23529"/>
            </a:avLst>
          </a:prstGeom>
          <a:solidFill>
            <a:srgbClr val="6A51B7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017520" y="2029968"/>
            <a:ext cx="877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月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3017520" y="248716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首批真实数据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3017520" y="2962656"/>
            <a:ext cx="17190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影棚落地采集，攻克时间戳对齐，标注工具就绪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5047488" y="1828800"/>
            <a:ext cx="2121408" cy="2468880"/>
          </a:xfrm>
          <a:prstGeom prst="roundRect">
            <a:avLst>
              <a:gd name="adj" fmla="val 4310"/>
            </a:avLst>
          </a:prstGeom>
          <a:solidFill>
            <a:srgbClr val="F3F1FF"/>
          </a:solidFill>
          <a:ln/>
        </p:spPr>
      </p:sp>
      <p:sp>
        <p:nvSpPr>
          <p:cNvPr id="17" name="Shape 14"/>
          <p:cNvSpPr/>
          <p:nvPr/>
        </p:nvSpPr>
        <p:spPr>
          <a:xfrm>
            <a:off x="5266944" y="2029968"/>
            <a:ext cx="877824" cy="310896"/>
          </a:xfrm>
          <a:prstGeom prst="roundRect">
            <a:avLst>
              <a:gd name="adj" fmla="val 23529"/>
            </a:avLst>
          </a:prstGeom>
          <a:solidFill>
            <a:srgbClr val="6A51B7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266944" y="2029968"/>
            <a:ext cx="877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月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266944" y="248716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采集标准化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5266944" y="2962656"/>
            <a:ext cx="17190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方案定型：IMU + 双视角 USB 摄像头；犬只扩至 3 只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296912" y="1828800"/>
            <a:ext cx="2121408" cy="2468880"/>
          </a:xfrm>
          <a:prstGeom prst="roundRect">
            <a:avLst>
              <a:gd name="adj" fmla="val 4310"/>
            </a:avLst>
          </a:prstGeom>
          <a:solidFill>
            <a:srgbClr val="F3F1FF"/>
          </a:solidFill>
          <a:ln/>
        </p:spPr>
      </p:sp>
      <p:sp>
        <p:nvSpPr>
          <p:cNvPr id="22" name="Shape 19"/>
          <p:cNvSpPr/>
          <p:nvPr/>
        </p:nvSpPr>
        <p:spPr>
          <a:xfrm>
            <a:off x="7516368" y="2029968"/>
            <a:ext cx="877824" cy="310896"/>
          </a:xfrm>
          <a:prstGeom prst="roundRect">
            <a:avLst>
              <a:gd name="adj" fmla="val 23529"/>
            </a:avLst>
          </a:prstGeom>
          <a:solidFill>
            <a:srgbClr val="F7BA59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516368" y="2029968"/>
            <a:ext cx="877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月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7516368" y="248716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规模化铺路</a:t>
            </a:r>
            <a:endParaRPr lang="en-US" sz="1250" dirty="0"/>
          </a:p>
        </p:txBody>
      </p:sp>
      <p:sp>
        <p:nvSpPr>
          <p:cNvPr id="25" name="Text 22"/>
          <p:cNvSpPr txBox="1"/>
          <p:nvPr/>
        </p:nvSpPr>
        <p:spPr>
          <a:xfrm>
            <a:off x="7516368" y="2962656"/>
            <a:ext cx="17190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输出 2 份采集方案供商务洽谈；沙井成本过高转向龙岗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9546336" y="1828800"/>
            <a:ext cx="2121408" cy="2468880"/>
          </a:xfrm>
          <a:prstGeom prst="roundRect">
            <a:avLst>
              <a:gd name="adj" fmla="val 4310"/>
            </a:avLst>
          </a:prstGeom>
          <a:solidFill>
            <a:srgbClr val="F3F1FF"/>
          </a:solidFill>
          <a:ln/>
        </p:spPr>
      </p:sp>
      <p:sp>
        <p:nvSpPr>
          <p:cNvPr id="27" name="Shape 24"/>
          <p:cNvSpPr/>
          <p:nvPr/>
        </p:nvSpPr>
        <p:spPr>
          <a:xfrm>
            <a:off x="9765792" y="2029968"/>
            <a:ext cx="877824" cy="310896"/>
          </a:xfrm>
          <a:prstGeom prst="roundRect">
            <a:avLst>
              <a:gd name="adj" fmla="val 23529"/>
            </a:avLst>
          </a:prstGeom>
          <a:solidFill>
            <a:srgbClr val="F7BA59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9765792" y="2029968"/>
            <a:ext cx="877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月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9765792" y="248716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狗场落地</a:t>
            </a:r>
            <a:endParaRPr lang="en-US" sz="1250" dirty="0"/>
          </a:p>
        </p:txBody>
      </p:sp>
      <p:sp>
        <p:nvSpPr>
          <p:cNvPr id="30" name="Text 27"/>
          <p:cNvSpPr txBox="1"/>
          <p:nvPr/>
        </p:nvSpPr>
        <p:spPr>
          <a:xfrm>
            <a:off x="9765792" y="2962656"/>
            <a:ext cx="17190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龙岗实地考察通过，6 间 6 只具备正式采集条件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548640" y="4498848"/>
            <a:ext cx="5431536" cy="1481328"/>
          </a:xfrm>
          <a:prstGeom prst="roundRect">
            <a:avLst>
              <a:gd name="adj" fmla="val 6173"/>
            </a:avLst>
          </a:prstGeom>
          <a:solidFill>
            <a:srgbClr val="452D8D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804672" y="466344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可采集犬只资源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822960" y="4974336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影棚 0 → 4 只（大 / 中 / 小体型覆盖）  ·  龙岗狗场 6 间 6 只已谈妥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822960" y="530352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长远按 30 → 50 → 70 → 100 → 150 只分阶段扩大，先跑通小规模流程再有序放量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6208776" y="4498848"/>
            <a:ext cx="5431536" cy="1481328"/>
          </a:xfrm>
          <a:prstGeom prst="roundRect">
            <a:avLst>
              <a:gd name="adj" fmla="val 6173"/>
            </a:avLst>
          </a:prstGeom>
          <a:solidFill>
            <a:srgbClr val="D5D0F7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6464808" y="466344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主动推动的关键判断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6483096" y="4974336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沙井狗场报价 1000 元/犬/天，判断成本不经济果断放弃；主动输出采集需求方案供商务对接，转向龙岗并推动落地，避免了资源与时间的无效投入。</a:t>
            </a:r>
            <a:endParaRPr lang="en-US" sz="1050" dirty="0"/>
          </a:p>
        </p:txBody>
      </p:sp>
      <p:sp>
        <p:nvSpPr>
          <p:cNvPr id="38" name="Text 35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02.6  COLLABORATION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核心成果六：跨团队协作与主动推动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54480"/>
            <a:ext cx="7223760" cy="676656"/>
          </a:xfrm>
          <a:prstGeom prst="roundRect">
            <a:avLst>
              <a:gd name="adj" fmla="val 13514"/>
            </a:avLst>
          </a:prstGeom>
          <a:solidFill>
            <a:srgbClr val="F3F1FF"/>
          </a:solidFill>
          <a:ln/>
        </p:spPr>
      </p:sp>
      <p:sp>
        <p:nvSpPr>
          <p:cNvPr id="6" name="Shape 3"/>
          <p:cNvSpPr/>
          <p:nvPr/>
        </p:nvSpPr>
        <p:spPr>
          <a:xfrm>
            <a:off x="768096" y="1737360"/>
            <a:ext cx="1170432" cy="310896"/>
          </a:xfrm>
          <a:prstGeom prst="roundRect">
            <a:avLst>
              <a:gd name="adj" fmla="val 23529"/>
            </a:avLst>
          </a:prstGeom>
          <a:solidFill>
            <a:srgbClr val="6A51B7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68096" y="1737360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后端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2084832" y="1645920"/>
            <a:ext cx="5486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数据库架构调整（IMU 六轴迁移 TDengine）；交付算法服务打包工程，后端完成外网部署，App → 后端 → 算法全链路跑通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48640" y="2340864"/>
            <a:ext cx="7223760" cy="676656"/>
          </a:xfrm>
          <a:prstGeom prst="roundRect">
            <a:avLst>
              <a:gd name="adj" fmla="val 13514"/>
            </a:avLst>
          </a:prstGeom>
          <a:solidFill>
            <a:srgbClr val="F3F1FF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2523744"/>
            <a:ext cx="1170432" cy="310896"/>
          </a:xfrm>
          <a:prstGeom prst="roundRect">
            <a:avLst>
              <a:gd name="adj" fmla="val 23529"/>
            </a:avLst>
          </a:prstGeom>
          <a:solidFill>
            <a:srgbClr val="846CC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2523744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产品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2084832" y="2432304"/>
            <a:ext cx="5486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PRD 对接、明确算法实现边界、皮肤评估方案共同推敲与验证反馈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48640" y="3127248"/>
            <a:ext cx="7223760" cy="676656"/>
          </a:xfrm>
          <a:prstGeom prst="roundRect">
            <a:avLst>
              <a:gd name="adj" fmla="val 13514"/>
            </a:avLst>
          </a:prstGeom>
          <a:solidFill>
            <a:srgbClr val="F3F1FF"/>
          </a:solidFill>
          <a:ln/>
        </p:spPr>
      </p:sp>
      <p:sp>
        <p:nvSpPr>
          <p:cNvPr id="14" name="Shape 11"/>
          <p:cNvSpPr/>
          <p:nvPr/>
        </p:nvSpPr>
        <p:spPr>
          <a:xfrm>
            <a:off x="768096" y="3310128"/>
            <a:ext cx="1170432" cy="310896"/>
          </a:xfrm>
          <a:prstGeom prst="roundRect">
            <a:avLst>
              <a:gd name="adj" fmla="val 23529"/>
            </a:avLst>
          </a:prstGeom>
          <a:solidFill>
            <a:srgbClr val="F7BA5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68096" y="3310128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硬件厂商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2084832" y="3218688"/>
            <a:ext cx="5486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定位并反馈 TF 卡周期性丢数据、蓝牙遮挡断传等问题，推动修复与设备交付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48640" y="3913632"/>
            <a:ext cx="7223760" cy="676656"/>
          </a:xfrm>
          <a:prstGeom prst="roundRect">
            <a:avLst>
              <a:gd name="adj" fmla="val 13514"/>
            </a:avLst>
          </a:prstGeom>
          <a:solidFill>
            <a:srgbClr val="F3F1FF"/>
          </a:solidFill>
          <a:ln/>
        </p:spPr>
      </p:sp>
      <p:sp>
        <p:nvSpPr>
          <p:cNvPr id="18" name="Shape 15"/>
          <p:cNvSpPr/>
          <p:nvPr/>
        </p:nvSpPr>
        <p:spPr>
          <a:xfrm>
            <a:off x="768096" y="4096512"/>
            <a:ext cx="1170432" cy="310896"/>
          </a:xfrm>
          <a:prstGeom prst="roundRect">
            <a:avLst>
              <a:gd name="adj" fmla="val 23529"/>
            </a:avLst>
          </a:prstGeom>
          <a:solidFill>
            <a:srgbClr val="846CCF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68096" y="4096512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兽医 / 产品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2084832" y="4005072"/>
            <a:ext cx="5486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示范标注工具用法，建立多人协同标注分工，推动兽医参与皮肤评估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48640" y="4700016"/>
            <a:ext cx="7223760" cy="676656"/>
          </a:xfrm>
          <a:prstGeom prst="roundRect">
            <a:avLst>
              <a:gd name="adj" fmla="val 13514"/>
            </a:avLst>
          </a:prstGeom>
          <a:solidFill>
            <a:srgbClr val="F3F1FF"/>
          </a:solidFill>
          <a:ln/>
        </p:spPr>
      </p:sp>
      <p:sp>
        <p:nvSpPr>
          <p:cNvPr id="22" name="Shape 19"/>
          <p:cNvSpPr/>
          <p:nvPr/>
        </p:nvSpPr>
        <p:spPr>
          <a:xfrm>
            <a:off x="768096" y="4882896"/>
            <a:ext cx="1170432" cy="310896"/>
          </a:xfrm>
          <a:prstGeom prst="roundRect">
            <a:avLst>
              <a:gd name="adj" fmla="val 23529"/>
            </a:avLst>
          </a:prstGeom>
          <a:solidFill>
            <a:srgbClr val="6A51B7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68096" y="4882896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测试 / 项目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2084832" y="4791456"/>
            <a:ext cx="5486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预留测试接口；推动算法研发在 ONES 单独立项，建立规范化管理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8010144" y="1554480"/>
            <a:ext cx="3630168" cy="3931920"/>
          </a:xfrm>
          <a:prstGeom prst="roundRect">
            <a:avLst>
              <a:gd name="adj" fmla="val 2519"/>
            </a:avLst>
          </a:prstGeom>
          <a:solidFill>
            <a:srgbClr val="452D8D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8247888" y="17373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主动响应与建议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8247888" y="2121408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天完成口腔识别可行性验证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8266176" y="2377440"/>
            <a:ext cx="3163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产品负责人提出口腔健康方向后，当天做出犬只牙结石（正常/异常）识别原型，含图片、视频、摄像头实时三种模式，用于验证算法可行性与实际落点效果</a:t>
            </a:r>
            <a:endParaRPr lang="en-US" sz="900" dirty="0"/>
          </a:p>
        </p:txBody>
      </p:sp>
      <p:sp>
        <p:nvSpPr>
          <p:cNvPr id="29" name="Text 26"/>
          <p:cNvSpPr txBox="1"/>
          <p:nvPr/>
        </p:nvSpPr>
        <p:spPr>
          <a:xfrm>
            <a:off x="8247888" y="2980944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质疑临床抓挠阈值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8266176" y="3236976"/>
            <a:ext cx="3163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实测博美一晚抓挠 10-20 次，推算全天极可能超 30 次但皮肤无异常，提出需重新调研基线依据</a:t>
            </a:r>
            <a:endParaRPr lang="en-US" sz="900" dirty="0"/>
          </a:p>
        </p:txBody>
      </p:sp>
      <p:sp>
        <p:nvSpPr>
          <p:cNvPr id="31" name="Text 28"/>
          <p:cNvSpPr txBox="1"/>
          <p:nvPr/>
        </p:nvSpPr>
        <p:spPr>
          <a:xfrm>
            <a:off x="8247888" y="3840480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建议竞品对标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8266176" y="4096512"/>
            <a:ext cx="3163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建议采购 FitBark / Tractive 等竞品实测，同步佩戴对比数据与识别效果</a:t>
            </a:r>
            <a:endParaRPr lang="en-US" sz="900" dirty="0"/>
          </a:p>
        </p:txBody>
      </p:sp>
      <p:sp>
        <p:nvSpPr>
          <p:cNvPr id="33" name="Text 30"/>
          <p:cNvSpPr txBox="1"/>
          <p:nvPr/>
        </p:nvSpPr>
        <p:spPr>
          <a:xfrm>
            <a:off x="8247888" y="470001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推动规范立项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8266176" y="4956048"/>
            <a:ext cx="3163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即便算法仅一人，也应在 ONES 立项，明确阶段目标与验收标准</a:t>
            </a:r>
            <a:endParaRPr lang="en-US" sz="900" dirty="0"/>
          </a:p>
        </p:txBody>
      </p:sp>
      <p:sp>
        <p:nvSpPr>
          <p:cNvPr id="35" name="Text 32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CONSISTENCY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我如何证明能够持续产出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graphicFrame>
        <p:nvGraphicFramePr>
          <p:cNvPr id="5" name="Chart 0" descr=""/>
          <p:cNvGraphicFramePr/>
          <p:nvPr/>
        </p:nvGraphicFramePr>
        <p:xfrm>
          <a:off x="548640" y="1572768"/>
          <a:ext cx="681228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66928" y="4626864"/>
            <a:ext cx="6766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算法整体进度：45% → 87%（16 周持续推进，无停滞周）</a:t>
            </a:r>
            <a:endParaRPr lang="en-US" sz="1100" dirty="0"/>
          </a:p>
        </p:txBody>
      </p:sp>
      <p:sp>
        <p:nvSpPr>
          <p:cNvPr id="7" name="Shape 3"/>
          <p:cNvSpPr/>
          <p:nvPr/>
        </p:nvSpPr>
        <p:spPr>
          <a:xfrm>
            <a:off x="7607808" y="1572768"/>
            <a:ext cx="4032504" cy="932688"/>
          </a:xfrm>
          <a:prstGeom prst="roundRect">
            <a:avLst>
              <a:gd name="adj" fmla="val 9804"/>
            </a:avLst>
          </a:prstGeom>
          <a:solidFill>
            <a:srgbClr val="F3F1FF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7827264" y="168249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篇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9710928" y="172821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连续周报</a:t>
            </a:r>
            <a:endParaRPr lang="en-US" sz="1050" dirty="0"/>
          </a:p>
        </p:txBody>
      </p:sp>
      <p:sp>
        <p:nvSpPr>
          <p:cNvPr id="10" name="Text 6"/>
          <p:cNvSpPr txBox="1"/>
          <p:nvPr/>
        </p:nvSpPr>
        <p:spPr>
          <a:xfrm>
            <a:off x="7845552" y="2029968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每周输出完成项、进度、复盘、风险与计划，节奏无中断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7607808" y="2633472"/>
            <a:ext cx="4032504" cy="932688"/>
          </a:xfrm>
          <a:prstGeom prst="roundRect">
            <a:avLst>
              <a:gd name="adj" fmla="val 9804"/>
            </a:avLst>
          </a:prstGeom>
          <a:solidFill>
            <a:srgbClr val="F3F1FF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7827264" y="274320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A51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每项有结论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9710928" y="2788920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汇报习惯</a:t>
            </a:r>
            <a:endParaRPr lang="en-US" sz="1050" dirty="0"/>
          </a:p>
        </p:txBody>
      </p:sp>
      <p:sp>
        <p:nvSpPr>
          <p:cNvPr id="14" name="Text 10"/>
          <p:cNvSpPr txBox="1"/>
          <p:nvPr/>
        </p:nvSpPr>
        <p:spPr>
          <a:xfrm>
            <a:off x="7845552" y="3090672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每个工作项都给出明确结论，而非只罗列过程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7607808" y="3694176"/>
            <a:ext cx="4032504" cy="932688"/>
          </a:xfrm>
          <a:prstGeom prst="roundRect">
            <a:avLst>
              <a:gd name="adj" fmla="val 9804"/>
            </a:avLst>
          </a:prstGeom>
          <a:solidFill>
            <a:srgbClr val="F3F1FF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7827264" y="3803904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A51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问题必闭环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9710928" y="3849624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工作方式</a:t>
            </a:r>
            <a:endParaRPr lang="en-US" sz="1050" dirty="0"/>
          </a:p>
        </p:txBody>
      </p:sp>
      <p:sp>
        <p:nvSpPr>
          <p:cNvPr id="18" name="Text 14"/>
          <p:cNvSpPr txBox="1"/>
          <p:nvPr/>
        </p:nvSpPr>
        <p:spPr>
          <a:xfrm>
            <a:off x="7845552" y="4151376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阻塞点定位到根因再解决：时间戳对齐、推理不一致、标注错误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548640" y="5029200"/>
            <a:ext cx="11091672" cy="896112"/>
          </a:xfrm>
          <a:prstGeom prst="roundRect">
            <a:avLst>
              <a:gd name="adj" fmla="val 10204"/>
            </a:avLst>
          </a:prstGeom>
          <a:solidFill>
            <a:srgbClr val="452D8D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804672" y="519379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交付节奏</a:t>
            </a:r>
            <a:endParaRPr lang="en-US" sz="1100" dirty="0"/>
          </a:p>
        </p:txBody>
      </p:sp>
      <p:sp>
        <p:nvSpPr>
          <p:cNvPr id="21" name="Text 17"/>
          <p:cNvSpPr txBox="1"/>
          <p:nvPr/>
        </p:nvSpPr>
        <p:spPr>
          <a:xfrm>
            <a:off x="2194560" y="5157216"/>
            <a:ext cx="9235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模型从初版到达标用了 6 周、皮肤评估从方案到 Web 系统上线用了 3 周、数据平台从 0 到多人协同可用用了 4 周 —— 每个模块都有明确的起点、节奏与交付结果。</a:t>
            </a:r>
            <a:endParaRPr lang="en-US" sz="1150" dirty="0"/>
          </a:p>
        </p:txBody>
      </p:sp>
      <p:sp>
        <p:nvSpPr>
          <p:cNvPr id="22" name="Text 18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GROWTH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个人成长与方法论沉淀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17904"/>
            <a:ext cx="5431536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6" name="Shape 3"/>
          <p:cNvSpPr/>
          <p:nvPr/>
        </p:nvSpPr>
        <p:spPr>
          <a:xfrm>
            <a:off x="786384" y="1719072"/>
            <a:ext cx="420624" cy="420624"/>
          </a:xfrm>
          <a:prstGeom prst="ellipse">
            <a:avLst/>
          </a:prstGeom>
          <a:solidFill>
            <a:srgbClr val="F7BA59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86384" y="17190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335024" y="1755648"/>
            <a:ext cx="4334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数据质量 &gt; 数据量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2194560"/>
            <a:ext cx="4882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训练集导出时把「存疑」时段从重叠标注中挖掉 —— 不挖的话，一段大概率是抓挠的区间会被当作负样本喂给模型，比没有这条数据更糟。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208776" y="1517904"/>
            <a:ext cx="5431536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11" name="Shape 8"/>
          <p:cNvSpPr/>
          <p:nvPr/>
        </p:nvSpPr>
        <p:spPr>
          <a:xfrm>
            <a:off x="6446520" y="1719072"/>
            <a:ext cx="420624" cy="420624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446520" y="17190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995160" y="1755648"/>
            <a:ext cx="4334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用模型输出反推数据缺口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6483096" y="2194560"/>
            <a:ext cx="4882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把模型低置信片段与频谱线索单独建表推送人工复核：确认的是漏检、否决的是误检，两者都是重训练最有价值的样本。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548640" y="3090672"/>
            <a:ext cx="5431536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16" name="Shape 13"/>
          <p:cNvSpPr/>
          <p:nvPr/>
        </p:nvSpPr>
        <p:spPr>
          <a:xfrm>
            <a:off x="786384" y="3291840"/>
            <a:ext cx="420624" cy="42062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86384" y="3291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1335024" y="3328416"/>
            <a:ext cx="4334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先分清是算法问题还是定义问题</a:t>
            </a:r>
            <a:endParaRPr lang="en-US" sz="1350" dirty="0"/>
          </a:p>
        </p:txBody>
      </p:sp>
      <p:sp>
        <p:nvSpPr>
          <p:cNvPr id="19" name="Text 16"/>
          <p:cNvSpPr txBox="1"/>
          <p:nvPr/>
        </p:nvSpPr>
        <p:spPr>
          <a:xfrm>
            <a:off x="822960" y="3767328"/>
            <a:ext cx="4882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活动与睡觉混淆的根因是业务边界模糊，不是模型能力不足。算法无法自行划定业务语义，须先对齐定义再训练。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6208776" y="3090672"/>
            <a:ext cx="5431536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21" name="Shape 18"/>
          <p:cNvSpPr/>
          <p:nvPr/>
        </p:nvSpPr>
        <p:spPr>
          <a:xfrm>
            <a:off x="6446520" y="3291840"/>
            <a:ext cx="420624" cy="420624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6446520" y="3291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6995160" y="3328416"/>
            <a:ext cx="4334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发现自己的错误要主动报出来</a:t>
            </a:r>
            <a:endParaRPr lang="en-US" sz="1350" dirty="0"/>
          </a:p>
        </p:txBody>
      </p:sp>
      <p:sp>
        <p:nvSpPr>
          <p:cNvPr id="24" name="Text 21"/>
          <p:cNvSpPr txBox="1"/>
          <p:nvPr/>
        </p:nvSpPr>
        <p:spPr>
          <a:xfrm>
            <a:off x="6483096" y="3767328"/>
            <a:ext cx="4882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自查发现合成数据里特征与标签共用了同一个生成表达式，虚高的宏 F1 0.957 修正后降到 0.886，写进文档公开。宁可报低，不留隐患。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548640" y="4663440"/>
            <a:ext cx="11091672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26" name="Shape 23"/>
          <p:cNvSpPr/>
          <p:nvPr/>
        </p:nvSpPr>
        <p:spPr>
          <a:xfrm>
            <a:off x="786384" y="4864608"/>
            <a:ext cx="420624" cy="420624"/>
          </a:xfrm>
          <a:prstGeom prst="ellipse">
            <a:avLst/>
          </a:prstGeom>
          <a:solidFill>
            <a:srgbClr val="F7BA59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86384" y="48646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1335024" y="4901184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及时验证、及时放弃</a:t>
            </a:r>
            <a:endParaRPr lang="en-US" sz="1350" dirty="0"/>
          </a:p>
        </p:txBody>
      </p:sp>
      <p:sp>
        <p:nvSpPr>
          <p:cNvPr id="29" name="Text 26"/>
          <p:cNvSpPr txBox="1"/>
          <p:nvPr/>
        </p:nvSpPr>
        <p:spPr>
          <a:xfrm>
            <a:off x="822960" y="5340096"/>
            <a:ext cx="105430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RTSP 方案验证发现网络抖动导致延迟不可预测后果断放弃，收敛至 USB 本地录制；实测两种重采样算法差异达信号标准差的 6-8%，也是靠实测而非推理定论。</a:t>
            </a:r>
            <a:endParaRPr lang="en-US" sz="1050" dirty="0"/>
          </a:p>
        </p:txBody>
      </p:sp>
      <p:sp>
        <p:nvSpPr>
          <p:cNvPr id="30" name="Text 27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GAPS &amp; PLAN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待提升点与改进计划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客观看待当前短板，每一项都有明确的改进路径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768096" y="17373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待提升点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3785616" y="17373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现状与原因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7808976" y="1737360"/>
            <a:ext cx="3685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改进计划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48640" y="2084832"/>
            <a:ext cx="11091672" cy="932688"/>
          </a:xfrm>
          <a:prstGeom prst="roundRect">
            <a:avLst>
              <a:gd name="adj" fmla="val 9804"/>
            </a:avLst>
          </a:prstGeom>
          <a:solidFill>
            <a:srgbClr val="F3F1FF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2377440"/>
            <a:ext cx="365760" cy="365760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2377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1243584" y="2395728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跨个体泛化能力不足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3785616" y="21945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新个体马尔济斯 F1 仅 70%，训练个体达 90%。根因是训练覆盖的犬只个体数太少，品种、体型、运动习惯差异大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7808976" y="21945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推动狗场采集落地，将训练个体扩至 10 只以上，再以全新个体验证泛化，目标 85%+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48640" y="3127248"/>
            <a:ext cx="11091672" cy="932688"/>
          </a:xfrm>
          <a:prstGeom prst="roundRect">
            <a:avLst>
              <a:gd name="adj" fmla="val 9804"/>
            </a:avLst>
          </a:prstGeom>
          <a:solidFill>
            <a:srgbClr val="FFFFFF"/>
          </a:solidFill>
          <a:ln w="12700">
            <a:solidFill>
              <a:srgbClr val="D5D0F7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68096" y="3419856"/>
            <a:ext cx="365760" cy="365760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68096" y="34198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243584" y="3438144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松动检测尚未启动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3785616" y="3236976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优先级让位于抓挠识别与皮肤评估；且松动判定边界本身需与产品、兽医对齐才能定义清楚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7808976" y="3236976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与产品、兽医对齐判定标准后启动开发，与未佩戴检测共同构成全天有效佩戴时间统计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548640" y="4169664"/>
            <a:ext cx="11091672" cy="932688"/>
          </a:xfrm>
          <a:prstGeom prst="roundRect">
            <a:avLst>
              <a:gd name="adj" fmla="val 9804"/>
            </a:avLst>
          </a:prstGeom>
          <a:solidFill>
            <a:srgbClr val="F3F1FF"/>
          </a:solidFill>
          <a:ln/>
        </p:spPr>
      </p:sp>
      <p:sp>
        <p:nvSpPr>
          <p:cNvPr id="22" name="Shape 19"/>
          <p:cNvSpPr/>
          <p:nvPr/>
        </p:nvSpPr>
        <p:spPr>
          <a:xfrm>
            <a:off x="768096" y="4462272"/>
            <a:ext cx="365760" cy="365760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68096" y="44622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1243584" y="4480560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皮肤评估依赖合成数据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3785616" y="4279392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 版仍基于合成数据训练，真实病例样本积累不足；个体基线已落地但仅内部运行，尚未推上线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7808976" y="4279392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持续推动兽医参与评估标注，积累真实数据做二次训练；个体基线跟踪调优后推上线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548640" y="5212080"/>
            <a:ext cx="11091672" cy="932688"/>
          </a:xfrm>
          <a:prstGeom prst="roundRect">
            <a:avLst>
              <a:gd name="adj" fmla="val 9804"/>
            </a:avLst>
          </a:prstGeom>
          <a:solidFill>
            <a:srgbClr val="FFFFFF"/>
          </a:solidFill>
          <a:ln w="12700">
            <a:solidFill>
              <a:srgbClr val="D5D0F7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68096" y="5504688"/>
            <a:ext cx="365760" cy="365760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768096" y="55046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243584" y="5522976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业务理解仍需加深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3785616" y="5321808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对犬只行为的业务语义、兽医临床判断标准的理解，仍主要依赖他人输入，独立判断力有待加强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7808976" y="5321808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主动向兽医与产品请教，系统补充宠物皮肤健康领域知识，减少反复对齐成本</a:t>
            </a:r>
            <a:endParaRPr lang="en-US" sz="1000" dirty="0"/>
          </a:p>
        </p:txBody>
      </p:sp>
      <p:sp>
        <p:nvSpPr>
          <p:cNvPr id="33" name="Text 30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NEXT STEPS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下一步：与团队共同达成目标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54480"/>
            <a:ext cx="3575304" cy="3054096"/>
          </a:xfrm>
          <a:prstGeom prst="roundRect">
            <a:avLst>
              <a:gd name="adj" fmla="val 2994"/>
            </a:avLst>
          </a:prstGeom>
          <a:solidFill>
            <a:srgbClr val="452D8D"/>
          </a:solidFill>
          <a:ln/>
        </p:spPr>
      </p:sp>
      <p:sp>
        <p:nvSpPr>
          <p:cNvPr id="6" name="Shape 3"/>
          <p:cNvSpPr/>
          <p:nvPr/>
        </p:nvSpPr>
        <p:spPr>
          <a:xfrm>
            <a:off x="804672" y="1792224"/>
            <a:ext cx="914400" cy="329184"/>
          </a:xfrm>
          <a:prstGeom prst="roundRect">
            <a:avLst>
              <a:gd name="adj" fmla="val 22222"/>
            </a:avLst>
          </a:prstGeom>
          <a:solidFill>
            <a:srgbClr val="6A51B7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04672" y="179222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近期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847088" y="18470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1-2 个月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2286000"/>
            <a:ext cx="30358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推动龙岗狗场正式采集落地，训练个体扩至 10 只以上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数据平台上线 AI 自动标注，加速人工审核效率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个体基线持续调优并推上线，解决 C2 误触发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与产品、兽医对齐活动/睡觉业务边界与松动判定标准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306824" y="1554480"/>
            <a:ext cx="3575304" cy="3054096"/>
          </a:xfrm>
          <a:prstGeom prst="roundRect">
            <a:avLst>
              <a:gd name="adj" fmla="val 2994"/>
            </a:avLst>
          </a:prstGeom>
          <a:solidFill>
            <a:srgbClr val="F3F1FF"/>
          </a:solidFill>
          <a:ln/>
        </p:spPr>
      </p:sp>
      <p:sp>
        <p:nvSpPr>
          <p:cNvPr id="11" name="Shape 8"/>
          <p:cNvSpPr/>
          <p:nvPr/>
        </p:nvSpPr>
        <p:spPr>
          <a:xfrm>
            <a:off x="4562856" y="1792224"/>
            <a:ext cx="914400" cy="329184"/>
          </a:xfrm>
          <a:prstGeom prst="roundRect">
            <a:avLst>
              <a:gd name="adj" fmla="val 22222"/>
            </a:avLst>
          </a:prstGeom>
          <a:solidFill>
            <a:srgbClr val="846CC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62856" y="179222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中期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605272" y="18470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3-6 个月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4581144" y="2286000"/>
            <a:ext cx="30358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抓挠识别跨个体泛化达到 85%+，模型具备真正通用性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皮肤健康评估完成真实数据二次训练并上线验证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补齐松动检测，形成完整的全天有效佩戴时间统计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采集规模按 30 → 50 → 70 只分阶段有序扩大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8065008" y="1554480"/>
            <a:ext cx="3575304" cy="3054096"/>
          </a:xfrm>
          <a:prstGeom prst="roundRect">
            <a:avLst>
              <a:gd name="adj" fmla="val 2994"/>
            </a:avLst>
          </a:prstGeom>
          <a:solidFill>
            <a:srgbClr val="F3F1FF"/>
          </a:solidFill>
          <a:ln/>
        </p:spPr>
      </p:sp>
      <p:sp>
        <p:nvSpPr>
          <p:cNvPr id="16" name="Shape 13"/>
          <p:cNvSpPr/>
          <p:nvPr/>
        </p:nvSpPr>
        <p:spPr>
          <a:xfrm>
            <a:off x="8321040" y="1792224"/>
            <a:ext cx="914400" cy="329184"/>
          </a:xfrm>
          <a:prstGeom prst="roundRect">
            <a:avLst>
              <a:gd name="adj" fmla="val 22222"/>
            </a:avLst>
          </a:prstGeom>
          <a:solidFill>
            <a:srgbClr val="F7BA5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321040" y="179222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长期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9363456" y="18470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持续投入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8339328" y="2286000"/>
            <a:ext cx="30358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沉淀可复用的采集—标注—训练—部署标准流程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推动算法能力从「能识别」走向「能给出可信健康结论」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建立竞品对标机制，明确我方算法能力边界与优势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随团队规模扩大，输出规范让算法工作可协同、可交接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548640" y="4864608"/>
            <a:ext cx="11091672" cy="1225296"/>
          </a:xfrm>
          <a:prstGeom prst="roundRect">
            <a:avLst>
              <a:gd name="adj" fmla="val 7463"/>
            </a:avLst>
          </a:prstGeom>
          <a:solidFill>
            <a:srgbClr val="452D8D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822960" y="502920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共同目标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841248" y="5303520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让算法从「跑得通」走向「靠得住」—— 成为产品可以放心依赖的健康判断能力</a:t>
            </a:r>
            <a:endParaRPr lang="en-US" sz="1550" dirty="0"/>
          </a:p>
        </p:txBody>
      </p:sp>
      <p:sp>
        <p:nvSpPr>
          <p:cNvPr id="23" name="Text 20"/>
          <p:cNvSpPr txBox="1"/>
          <p:nvPr/>
        </p:nvSpPr>
        <p:spPr>
          <a:xfrm>
            <a:off x="841248" y="5687568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这需要数据规模、算法能力与业务定义三者同步推进，也需要产品、兽医、后端、硬件各方持续配合，我会主动承担起推动这条链路的责任。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452D8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371600"/>
            <a:ext cx="4206240" cy="4206240"/>
          </a:xfrm>
          <a:prstGeom prst="ellipse">
            <a:avLst/>
          </a:prstGeom>
          <a:solidFill>
            <a:srgbClr val="6A51B7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989320" y="5806440"/>
            <a:ext cx="1920240" cy="1920240"/>
          </a:xfrm>
          <a:prstGeom prst="ellipse">
            <a:avLst/>
          </a:prstGeom>
          <a:solidFill>
            <a:srgbClr val="846CCF">
              <a:alpha val="30000"/>
            </a:srgbClr>
          </a:solidFill>
          <a:ln/>
        </p:spPr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658368"/>
            <a:ext cx="1874520" cy="48463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77240" y="2487168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感谢聆听 · 恳请指正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795528" y="3291840"/>
            <a:ext cx="6400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spc="500" kern="0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795528" y="40416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朱业拓  Toky   |   AI 算法工程师   |   2026.10.08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795528" y="5943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 Innovation for a Clean &amp; Comfortable Life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9189720" y="482803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3400" dirty="0"/>
          </a:p>
        </p:txBody>
      </p:sp>
      <p:sp>
        <p:nvSpPr>
          <p:cNvPr id="10" name="Text 7"/>
          <p:cNvSpPr txBox="1"/>
          <p:nvPr/>
        </p:nvSpPr>
        <p:spPr>
          <a:xfrm>
            <a:off x="9921240" y="482803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↗</a:t>
            </a:r>
            <a:endParaRPr lang="en-US" sz="3400" dirty="0"/>
          </a:p>
        </p:txBody>
      </p:sp>
      <p:sp>
        <p:nvSpPr>
          <p:cNvPr id="11" name="Text 8"/>
          <p:cNvSpPr txBox="1"/>
          <p:nvPr/>
        </p:nvSpPr>
        <p:spPr>
          <a:xfrm>
            <a:off x="10652760" y="4864608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♥</a:t>
            </a:r>
            <a:endParaRPr lang="en-US" sz="3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HICC Pet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转正述职报告</dc:title>
  <dc:subject>PptxGenJS Presentation</dc:subject>
  <dc:creator>朱业拓 Toky</dc:creator>
  <cp:lastModifiedBy>朱业拓 Toky</cp:lastModifiedBy>
  <cp:revision>1</cp:revision>
  <dcterms:created xsi:type="dcterms:W3CDTF">2026-09-10T03:56:40Z</dcterms:created>
  <dcterms:modified xsi:type="dcterms:W3CDTF">2026-09-10T03:56:40Z</dcterms:modified>
</cp:coreProperties>
</file>